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tmp" ContentType="image/p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"/>
  </p:sldMasterIdLst>
  <p:notesMasterIdLst>
    <p:notesMasterId r:id="rId37"/>
  </p:notesMasterIdLst>
  <p:sldIdLst>
    <p:sldId id="423" r:id="rId2"/>
    <p:sldId id="497" r:id="rId3"/>
    <p:sldId id="513" r:id="rId4"/>
    <p:sldId id="514" r:id="rId5"/>
    <p:sldId id="515" r:id="rId6"/>
    <p:sldId id="516" r:id="rId7"/>
    <p:sldId id="498" r:id="rId8"/>
    <p:sldId id="517" r:id="rId9"/>
    <p:sldId id="518" r:id="rId10"/>
    <p:sldId id="519" r:id="rId11"/>
    <p:sldId id="499" r:id="rId12"/>
    <p:sldId id="520" r:id="rId13"/>
    <p:sldId id="476" r:id="rId14"/>
    <p:sldId id="502" r:id="rId15"/>
    <p:sldId id="522" r:id="rId16"/>
    <p:sldId id="523" r:id="rId17"/>
    <p:sldId id="524" r:id="rId18"/>
    <p:sldId id="525" r:id="rId19"/>
    <p:sldId id="521" r:id="rId20"/>
    <p:sldId id="527" r:id="rId21"/>
    <p:sldId id="526" r:id="rId22"/>
    <p:sldId id="528" r:id="rId23"/>
    <p:sldId id="529" r:id="rId24"/>
    <p:sldId id="530" r:id="rId25"/>
    <p:sldId id="531" r:id="rId26"/>
    <p:sldId id="532" r:id="rId27"/>
    <p:sldId id="533" r:id="rId28"/>
    <p:sldId id="534" r:id="rId29"/>
    <p:sldId id="535" r:id="rId30"/>
    <p:sldId id="536" r:id="rId31"/>
    <p:sldId id="537" r:id="rId32"/>
    <p:sldId id="538" r:id="rId33"/>
    <p:sldId id="539" r:id="rId34"/>
    <p:sldId id="540" r:id="rId35"/>
    <p:sldId id="542" r:id="rId36"/>
  </p:sldIdLst>
  <p:sldSz cx="12192000" cy="6858000"/>
  <p:notesSz cx="6858000" cy="9144000"/>
  <p:embeddedFontLst>
    <p:embeddedFont>
      <p:font typeface="Atkinson Hyperlegible" pitchFamily="50" charset="0"/>
      <p:regular r:id="rId38"/>
      <p:bold r:id="rId39"/>
      <p:italic r:id="rId40"/>
      <p:boldItalic r:id="rId41"/>
    </p:embeddedFont>
    <p:embeddedFont>
      <p:font typeface="Cambria Math" panose="02040503050406030204" pitchFamily="18" charset="0"/>
      <p:regular r:id="rId42"/>
    </p:embeddedFont>
    <p:embeddedFont>
      <p:font typeface="Verdana" panose="020B0604030504040204" pitchFamily="34" charset="0"/>
      <p:regular r:id="rId43"/>
      <p:bold r:id="rId44"/>
      <p:italic r:id="rId45"/>
      <p:boldItalic r:id="rId4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FF"/>
    <a:srgbClr val="FF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85" d="100"/>
          <a:sy n="85" d="100"/>
        </p:scale>
        <p:origin x="126" y="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6.fntdata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CE0940-25C8-4CED-96E2-8FA2BF93B3E9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F7B58D-1DE9-43B8-93DE-2A59C20AB6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836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D0969-3BC9-E425-9F31-771A40B022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7C23E1-8863-BAA6-77AC-3CEB3EB406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760C6-2EB9-4B12-2C47-77551686D58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A3BA6-4B22-4D69-91C4-B87C21B5C3D7}" type="datetime1">
              <a:rPr lang="en-US" smtClean="0"/>
              <a:t>3/23/2025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D6CBDD-36A5-FD93-6C9F-EFC2F0627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A8F109-725A-2997-4814-1CB5B5F97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09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3A10C-6E04-1B5B-960E-AFB5C34E0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48497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6700D-E6AB-A0FA-E79A-9AAFA1B8D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00695"/>
            <a:ext cx="10515600" cy="50364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1C63C-8994-B5A6-A3B7-55184800E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3448B-38C0-346C-AC32-5E6074D48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583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4E203-9058-4ABB-2CB4-3E1D886A9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6CB391-7275-D8A5-E81A-F6C8D1C91A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AB5329-1884-4502-4559-356634FF9E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346E657-D090-47BC-894B-7F7404E1AFDB}" type="datetime1">
              <a:rPr lang="en-US" smtClean="0"/>
              <a:t>3/23/2025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0E7228-75D0-E9BC-3185-547F55D1F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56EA80-117A-20A9-6DEE-C952767EC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191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4317E-1C92-A3D1-4CBF-AE02FAC83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4D8E5-774C-BCD5-597A-A433ADE002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49B0AF-191A-A268-1C2E-17460C0EDC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740D6A-251D-CFE4-5C0D-453FA6A043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3F462FA-5168-4DFC-A8AA-E1636F6F1807}" type="datetime1">
              <a:rPr lang="en-US" smtClean="0"/>
              <a:t>3/23/2025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69169D-B6DA-BC5D-67D9-32B4F9975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1FF9F5-4506-9B3B-7D39-394220E40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739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23672-099B-E107-E303-AEE190334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71D34A-A411-BD73-29E5-C784FE76D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A39816-E6EE-F433-3FD9-418E89C13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28D1CA-97EC-153B-4FA4-13F2D5818A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3CB723-F873-013E-6341-58F1B78FA4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7C9254-92D2-FC28-DE7C-4934D7DE7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28D0C9-320A-4AE1-85D8-ED11977E8C12}" type="datetime1">
              <a:rPr lang="en-US" smtClean="0"/>
              <a:t>3/23/2025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01079D-EB10-38B4-81F9-C6BD6CC76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A7C44A-3715-B891-AF3B-A12B68BF5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288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BCF8E-FA11-6A49-A295-D979745CF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9BD36B-ED63-AAD9-76DE-AFDF95D22A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2456FE-1047-4D97-88F7-9D840A87DE2B}" type="datetime1">
              <a:rPr lang="en-US" smtClean="0"/>
              <a:t>3/23/2025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047E32-AC55-387F-CF0D-2FC28C243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BC97A0-BFFA-065D-FC46-31A49D79F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525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11CDEA-353B-2409-B4B6-B34F219337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2B26AF-43C9-4A52-AF06-A2AC06E43B1C}" type="datetime1">
              <a:rPr lang="en-US" smtClean="0"/>
              <a:t>3/23/2025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CC3328-69EC-AD32-5D42-78AFBAE69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8FB655-C58F-EF96-7FFE-957B2D978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126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F282B-6CF9-A4D0-C084-62B090688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6AE6F-77E3-8C1B-513C-DE9ADA0C95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EC2555-EF3E-E875-FB86-A9BBE40240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49D25C-22A8-5D58-D044-D38241281A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8582E4D-5E9F-4458-938C-864B706F95FF}" type="datetime1">
              <a:rPr lang="en-US" smtClean="0"/>
              <a:t>3/23/2025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F0EBB5-21AA-2559-8D0D-53B747534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F6D85-76DB-D878-670B-E125F0931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340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150CA-6AD7-5B60-33F5-B85FC4091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F1B91A-8F74-3B7F-64D3-3384727693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33DECB-4ABE-95E6-B0DF-B031E49C38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E79A3C-2B68-6ADD-6B2F-847A52AA93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725A1BD-EBEB-4A8E-B449-2911DE41084B}" type="datetime1">
              <a:rPr lang="en-US" smtClean="0"/>
              <a:t>3/23/2025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E61F65-BB53-DB77-A17D-78486C75A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AE5C53-CD45-0CA1-D0BD-0B89897F1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715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BBB12-6CE0-5896-197F-A351D692C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03BFC0-A205-3164-72D7-5BD81882EA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6C45B9-DA11-4A1C-058B-5079E09BB4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B2FFE65-DFA4-43A3-A834-4788946F3021}" type="datetime1">
              <a:rPr lang="en-US" smtClean="0"/>
              <a:t>3/23/2025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B12D7D-48D9-22AF-8770-6A5289E43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7910A-A603-CBBA-AAEC-B4BD95E9C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272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70D1E2-74DE-C6EB-A8EC-308657878B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7F9B26-4A69-4D57-C633-72C8B76AAA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535456-C44F-2D28-4BF6-50D0F62C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AFC2D8-0CF3-496F-8CED-E9AD4C92185B}" type="datetime1">
              <a:rPr lang="en-US" smtClean="0"/>
              <a:t>3/23/2025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F83730-2DDE-C2C7-00A4-43C39B020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FB452-44EB-602B-86CC-0B63500F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993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9656A-1DCD-3A7C-A104-2014B262C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B152E0-EA6C-780F-BCFB-35F80CF460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D2FEC-049F-9FA9-C7AA-F217219777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tkinson Hyperlegible" pitchFamily="50" charset="0"/>
              </a:defRPr>
            </a:lvl1pPr>
          </a:lstStyle>
          <a:p>
            <a:r>
              <a:rPr lang="en-US" dirty="0"/>
              <a:t>Waves in ducts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FB8509-368A-F515-ABCA-31C2CA82EF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tkinson Hyperlegible" pitchFamily="50" charset="0"/>
              </a:defRPr>
            </a:lvl1pPr>
          </a:lstStyle>
          <a:p>
            <a:fld id="{B62F1270-CA5A-4BF1-AAF5-16F08E48CB7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5136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tkinson Hyperlegible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tkinson Hyperlegible" pitchFamily="50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tkinson Hyperlegible" pitchFamily="50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tkinson Hyperlegible" pitchFamily="50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tkinson Hyperlegible" pitchFamily="50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tkinson Hyperlegible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microsoft.com/office/2007/relationships/hdphoto" Target="../media/hdphoto1.wdp"/><Relationship Id="rId7" Type="http://schemas.openxmlformats.org/officeDocument/2006/relationships/image" Target="../media/image2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microsoft.com/office/2007/relationships/hdphoto" Target="../media/hdphoto2.wdp"/><Relationship Id="rId4" Type="http://schemas.openxmlformats.org/officeDocument/2006/relationships/image" Target="../media/image23.png"/><Relationship Id="rId9" Type="http://schemas.microsoft.com/office/2007/relationships/hdphoto" Target="../media/hdphoto3.wdp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emf"/><Relationship Id="rId5" Type="http://schemas.openxmlformats.org/officeDocument/2006/relationships/image" Target="../media/image29.emf"/><Relationship Id="rId4" Type="http://schemas.openxmlformats.org/officeDocument/2006/relationships/image" Target="../media/image28.e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4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tmp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59130-290B-706A-1A53-27FD9FF59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5750ACE-E715-96BC-8081-7B355891EA3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 l="1300" r="1300"/>
          <a:stretch/>
        </p:blipFill>
        <p:spPr>
          <a:xfrm>
            <a:off x="-26328" y="0"/>
            <a:ext cx="12244656" cy="68876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6F82076-C88F-F6B7-D48B-5225F663B0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7963"/>
            <a:ext cx="9144000" cy="2387600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Atkinson Hyperlegible" pitchFamily="50" charset="0"/>
              </a:rPr>
              <a:t>Vibration isolation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16B5AA-1FF4-EF36-B7F4-9529A49D9C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96735"/>
            <a:ext cx="9144000" cy="463378"/>
          </a:xfrm>
        </p:spPr>
        <p:txBody>
          <a:bodyPr/>
          <a:lstStyle/>
          <a:p>
            <a:r>
              <a:rPr lang="en-US" dirty="0"/>
              <a:t>Tyler Dare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096D121-1106-7D39-E3C2-74EEE421F5E6}"/>
              </a:ext>
            </a:extLst>
          </p:cNvPr>
          <p:cNvSpPr txBox="1">
            <a:spLocks/>
          </p:cNvSpPr>
          <p:nvPr/>
        </p:nvSpPr>
        <p:spPr>
          <a:xfrm>
            <a:off x="1524000" y="2818692"/>
            <a:ext cx="9144000" cy="46337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tkinson Hyperlegible" pitchFamily="50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Atkinson Hyperlegible" pitchFamily="50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tkinson Hyperlegible" pitchFamily="50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tkinson Hyperlegible" pitchFamily="50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tkinson Hyperlegible" pitchFamily="50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Practical considerations and measurements</a:t>
            </a:r>
          </a:p>
        </p:txBody>
      </p:sp>
    </p:spTree>
    <p:extLst>
      <p:ext uri="{BB962C8B-B14F-4D97-AF65-F5344CB8AC3E}">
        <p14:creationId xmlns:p14="http://schemas.microsoft.com/office/powerpoint/2010/main" val="33492045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CD667-D6FB-D149-C4F1-FDCE6D7D1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Specifying isolators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1BF50-A687-2A00-77F8-7B3DFB413D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Spring elements often specified with maximum load and deflection.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2E1E5D-CA7A-CE51-A857-83CFCD28E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Practical considerations and measurements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C81A52-6FF1-9B3E-AC8C-2B368C29C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4DD586-098E-1565-3065-6B8378B382C5}"/>
              </a:ext>
            </a:extLst>
          </p:cNvPr>
          <p:cNvSpPr txBox="1"/>
          <p:nvPr/>
        </p:nvSpPr>
        <p:spPr>
          <a:xfrm>
            <a:off x="8610600" y="5618805"/>
            <a:ext cx="2421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tkinson Hyperlegible" pitchFamily="50" charset="0"/>
              </a:rPr>
              <a:t>From Kinetics Noise Control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D686F71-DCE3-7B3E-94B9-42A014D72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19332"/>
            <a:ext cx="5628877" cy="314693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3327D1F-E287-011A-8272-E6233990C3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381" y="1872396"/>
            <a:ext cx="4890976" cy="3553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595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2D594-C850-B0DC-9B53-60EC6A00C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D6D24-4F4F-ABB3-264F-EB54158BC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Specifying isolators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911F7-24C3-778F-F2C7-54E21E6A1F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Spring elements often specified with maximum load and deflection.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EC08DA-DF6A-C1DF-C0F0-CF260A1C2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Practical considerations and measurements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161BC9-D35E-6B85-6B60-B84998041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2BD235-7F6F-4A78-175B-458E919C96F8}"/>
              </a:ext>
            </a:extLst>
          </p:cNvPr>
          <p:cNvSpPr txBox="1"/>
          <p:nvPr/>
        </p:nvSpPr>
        <p:spPr>
          <a:xfrm>
            <a:off x="1006946" y="6356350"/>
            <a:ext cx="2421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tkinson Hyperlegible" pitchFamily="50" charset="0"/>
              </a:rPr>
              <a:t>From Kinetics Noise Control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27D5A4-1569-9CBA-AD9C-1251282CB9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207" y="1990256"/>
            <a:ext cx="4114800" cy="3951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473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4F87E-C37E-FA03-9515-9DD81C853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2C667-706D-439B-46A0-7255FAAFE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isolators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714BC-1337-36BB-DE31-FD156883BC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Actual response of a given material depends on geometry, configuration, machine’s mass, etc.</a:t>
            </a:r>
          </a:p>
          <a:p>
            <a:r>
              <a:rPr lang="en-US" dirty="0"/>
              <a:t>But different types of isolators tend to be used more often in different frequency ranges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1FF171-EA89-FCDB-8594-7EBDF9078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Practical considerations and measurements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864ABB-08AC-F268-238B-4D02F44DA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4</a:t>
            </a:fld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8C6935B-31A4-ECDD-4486-3EE155CC1FA0}"/>
              </a:ext>
            </a:extLst>
          </p:cNvPr>
          <p:cNvCxnSpPr>
            <a:cxnSpLocks/>
          </p:cNvCxnSpPr>
          <p:nvPr/>
        </p:nvCxnSpPr>
        <p:spPr>
          <a:xfrm>
            <a:off x="3546390" y="4579296"/>
            <a:ext cx="6969211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28831C2-B1D3-0DEA-56E2-0AD48B9990D4}"/>
              </a:ext>
            </a:extLst>
          </p:cNvPr>
          <p:cNvSpPr txBox="1"/>
          <p:nvPr/>
        </p:nvSpPr>
        <p:spPr>
          <a:xfrm>
            <a:off x="3604056" y="4752292"/>
            <a:ext cx="708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 Hz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259F62-93CD-32DE-5285-1AE5900D7E93}"/>
              </a:ext>
            </a:extLst>
          </p:cNvPr>
          <p:cNvSpPr txBox="1"/>
          <p:nvPr/>
        </p:nvSpPr>
        <p:spPr>
          <a:xfrm>
            <a:off x="6544964" y="4745442"/>
            <a:ext cx="708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 Hz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1920F2-209C-17D1-9FD9-7818CB925ACD}"/>
              </a:ext>
            </a:extLst>
          </p:cNvPr>
          <p:cNvSpPr txBox="1"/>
          <p:nvPr/>
        </p:nvSpPr>
        <p:spPr>
          <a:xfrm>
            <a:off x="9209904" y="4749552"/>
            <a:ext cx="8896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100 Hz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C284E7-7D96-FC50-3D71-0C4ABA2A8FCC}"/>
              </a:ext>
            </a:extLst>
          </p:cNvPr>
          <p:cNvSpPr txBox="1"/>
          <p:nvPr/>
        </p:nvSpPr>
        <p:spPr>
          <a:xfrm>
            <a:off x="3414585" y="5387973"/>
            <a:ext cx="1087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250 mm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F9D5B1-5A05-79B4-52E2-382D194EDF05}"/>
              </a:ext>
            </a:extLst>
          </p:cNvPr>
          <p:cNvSpPr txBox="1"/>
          <p:nvPr/>
        </p:nvSpPr>
        <p:spPr>
          <a:xfrm>
            <a:off x="6487297" y="5387973"/>
            <a:ext cx="1087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2.5 mm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168DE8-C61D-601C-00A5-C6172F609582}"/>
              </a:ext>
            </a:extLst>
          </p:cNvPr>
          <p:cNvSpPr txBox="1"/>
          <p:nvPr/>
        </p:nvSpPr>
        <p:spPr>
          <a:xfrm>
            <a:off x="9209903" y="5371082"/>
            <a:ext cx="1305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0.025 mm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82FB30-5715-51D4-92DB-37CC5BE511AC}"/>
              </a:ext>
            </a:extLst>
          </p:cNvPr>
          <p:cNvSpPr txBox="1"/>
          <p:nvPr/>
        </p:nvSpPr>
        <p:spPr>
          <a:xfrm>
            <a:off x="784650" y="5387973"/>
            <a:ext cx="2129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Maximum deflection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ECFD714-113E-844F-4179-83EF64491F55}"/>
              </a:ext>
            </a:extLst>
          </p:cNvPr>
          <p:cNvSpPr txBox="1"/>
          <p:nvPr/>
        </p:nvSpPr>
        <p:spPr>
          <a:xfrm>
            <a:off x="784650" y="4745442"/>
            <a:ext cx="2207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Operating frequency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6C89609-92E3-76C5-C019-52221B88C351}"/>
              </a:ext>
            </a:extLst>
          </p:cNvPr>
          <p:cNvCxnSpPr>
            <a:cxnSpLocks/>
          </p:cNvCxnSpPr>
          <p:nvPr/>
        </p:nvCxnSpPr>
        <p:spPr>
          <a:xfrm>
            <a:off x="2914136" y="4234021"/>
            <a:ext cx="2018269" cy="0"/>
          </a:xfrm>
          <a:prstGeom prst="straightConnector1">
            <a:avLst/>
          </a:prstGeom>
          <a:ln w="381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D2DAB7A-63D7-E5E0-AD2A-9D1220D7B9B5}"/>
              </a:ext>
            </a:extLst>
          </p:cNvPr>
          <p:cNvCxnSpPr>
            <a:cxnSpLocks/>
          </p:cNvCxnSpPr>
          <p:nvPr/>
        </p:nvCxnSpPr>
        <p:spPr>
          <a:xfrm>
            <a:off x="3894438" y="4028076"/>
            <a:ext cx="2975919" cy="0"/>
          </a:xfrm>
          <a:prstGeom prst="straightConnector1">
            <a:avLst/>
          </a:prstGeom>
          <a:ln w="3810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3FEFE79-6119-AADB-26AD-3D1B8E5D9E67}"/>
              </a:ext>
            </a:extLst>
          </p:cNvPr>
          <p:cNvCxnSpPr>
            <a:cxnSpLocks/>
          </p:cNvCxnSpPr>
          <p:nvPr/>
        </p:nvCxnSpPr>
        <p:spPr>
          <a:xfrm>
            <a:off x="5286633" y="4234021"/>
            <a:ext cx="3140675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58A97B7-7CE2-4AF8-7DB1-41E6AF15B50E}"/>
              </a:ext>
            </a:extLst>
          </p:cNvPr>
          <p:cNvCxnSpPr>
            <a:cxnSpLocks/>
          </p:cNvCxnSpPr>
          <p:nvPr/>
        </p:nvCxnSpPr>
        <p:spPr>
          <a:xfrm>
            <a:off x="7716795" y="4028076"/>
            <a:ext cx="1608437" cy="0"/>
          </a:xfrm>
          <a:prstGeom prst="straightConnector1">
            <a:avLst/>
          </a:prstGeom>
          <a:ln w="38100">
            <a:solidFill>
              <a:srgbClr val="7030A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4ADD1EE0-8FF8-DDBC-DFB5-A7682A8577B2}"/>
              </a:ext>
            </a:extLst>
          </p:cNvPr>
          <p:cNvSpPr txBox="1"/>
          <p:nvPr/>
        </p:nvSpPr>
        <p:spPr>
          <a:xfrm>
            <a:off x="2444578" y="3669471"/>
            <a:ext cx="1159478" cy="36933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Air springs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889A3BF-00AF-D060-2DBB-CEA579BEBA01}"/>
              </a:ext>
            </a:extLst>
          </p:cNvPr>
          <p:cNvSpPr txBox="1"/>
          <p:nvPr/>
        </p:nvSpPr>
        <p:spPr>
          <a:xfrm>
            <a:off x="4484473" y="3546849"/>
            <a:ext cx="1546654" cy="369332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Metal springs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DC7661F-9B4E-B661-2608-A0F16CD8618C}"/>
              </a:ext>
            </a:extLst>
          </p:cNvPr>
          <p:cNvSpPr txBox="1"/>
          <p:nvPr/>
        </p:nvSpPr>
        <p:spPr>
          <a:xfrm>
            <a:off x="6544964" y="3147992"/>
            <a:ext cx="1416909" cy="646331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Rubber and elastomers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7C8FE3C-AF0C-E3A5-6B4A-3DE2B40FBAB3}"/>
              </a:ext>
            </a:extLst>
          </p:cNvPr>
          <p:cNvSpPr txBox="1"/>
          <p:nvPr/>
        </p:nvSpPr>
        <p:spPr>
          <a:xfrm>
            <a:off x="8268215" y="3390113"/>
            <a:ext cx="1941042" cy="369332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Cork and felt pads</a:t>
            </a:r>
          </a:p>
        </p:txBody>
      </p:sp>
    </p:spTree>
    <p:extLst>
      <p:ext uri="{BB962C8B-B14F-4D97-AF65-F5344CB8AC3E}">
        <p14:creationId xmlns:p14="http://schemas.microsoft.com/office/powerpoint/2010/main" val="3848553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1812A-8A06-DE25-61C5-90C44AC90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F6AC6-0632-9D35-8024-F880188D7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Air springs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A08CB-8FE6-C5CE-EBB5-CDE121876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00695"/>
            <a:ext cx="5123774" cy="5036494"/>
          </a:xfrm>
        </p:spPr>
        <p:txBody>
          <a:bodyPr/>
          <a:lstStyle/>
          <a:p>
            <a:r>
              <a:rPr lang="en-US" dirty="0"/>
              <a:t>Air springs can be used at very low frequencies, down to 1 Hz or less.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AE5B6F-50F1-BCF8-B467-E47D6A80D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Practical considerations and measurements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72C808-021E-E052-1D9F-6C13B5D75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103811-014A-330B-3B05-9804CB731D0B}"/>
              </a:ext>
            </a:extLst>
          </p:cNvPr>
          <p:cNvSpPr txBox="1"/>
          <p:nvPr/>
        </p:nvSpPr>
        <p:spPr>
          <a:xfrm>
            <a:off x="878165" y="6037411"/>
            <a:ext cx="2421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tkinson Hyperlegible" pitchFamily="50" charset="0"/>
              </a:rPr>
              <a:t>From Firestone </a:t>
            </a:r>
            <a:r>
              <a:rPr lang="en-US" sz="1200" dirty="0" err="1">
                <a:latin typeface="Atkinson Hyperlegible" pitchFamily="50" charset="0"/>
              </a:rPr>
              <a:t>Airride</a:t>
            </a:r>
            <a:endParaRPr lang="en-US" sz="1200" dirty="0">
              <a:latin typeface="Atkinson Hyperlegible" pitchFamily="50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457D911-8856-7BAF-F5B5-0BFDBE97B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981" y="2306595"/>
            <a:ext cx="4552890" cy="283986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E01B82F-6BE5-C19E-E9F6-53C1255339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3774" y="314918"/>
            <a:ext cx="5923167" cy="5822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043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47A8A-1878-1453-42D2-CF4BC4501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0C0CD-BED4-AC1B-2007-62E17C754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Metal springs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C92FD-4A04-F38E-8D0E-00191947B1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Metal springs have very low internal damping, so either avoid resonance or include a damping element in parallel.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951FD8-63D2-7B16-1ABD-27034C647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Practical considerations and measurements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D9D1C6-3243-AFB0-A885-3D4558C97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6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2F2E8A-CDD8-FC7F-4F3B-52E5F2612AA9}"/>
              </a:ext>
            </a:extLst>
          </p:cNvPr>
          <p:cNvSpPr txBox="1"/>
          <p:nvPr/>
        </p:nvSpPr>
        <p:spPr>
          <a:xfrm>
            <a:off x="878165" y="6037411"/>
            <a:ext cx="2421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tkinson Hyperlegible" pitchFamily="50" charset="0"/>
              </a:rPr>
              <a:t>From Kinetics Noise Control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3C4D9B-8FAF-2870-6644-43670B2E4B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086" y="2861061"/>
            <a:ext cx="3618082" cy="319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726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7886A-FDF3-67CB-B113-17658CBB2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66836-3377-37C5-3810-3F50D8347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Surging in springs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014DC5-CD4A-4938-428A-761162ED97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“Surging” occurs where longitudinal resonances form in the spring coil. Isolation is much less effective above these frequencies.</a:t>
                </a:r>
              </a:p>
              <a:p>
                <a:r>
                  <a:rPr lang="en-US" dirty="0"/>
                  <a:t>Surging frequencies occur at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</m:den>
                        </m:f>
                      </m:e>
                    </m:rad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014DC5-CD4A-4938-428A-761162ED97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166057-14D4-E3C4-342D-B4E985489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Practical considerations and measurements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8E74AA-53CB-9BBB-0ABB-A44E10FF8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CE8B8E7-85E9-6A5C-D4DF-4A18A3CE6E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5644"/>
            <a:ext cx="3395589" cy="300198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E540A19-FD7A-E8EC-DB78-C8C3F4F0FCE4}"/>
              </a:ext>
            </a:extLst>
          </p:cNvPr>
          <p:cNvSpPr txBox="1"/>
          <p:nvPr/>
        </p:nvSpPr>
        <p:spPr>
          <a:xfrm>
            <a:off x="466273" y="6538912"/>
            <a:ext cx="2421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tkinson Hyperlegible" pitchFamily="50" charset="0"/>
              </a:rPr>
              <a:t>From Kinetics Noise Control</a:t>
            </a:r>
          </a:p>
        </p:txBody>
      </p:sp>
    </p:spTree>
    <p:extLst>
      <p:ext uri="{BB962C8B-B14F-4D97-AF65-F5344CB8AC3E}">
        <p14:creationId xmlns:p14="http://schemas.microsoft.com/office/powerpoint/2010/main" val="2838481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D677E-68A1-8722-4E48-0BAC86ED7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1E4BB-FE2C-8201-6127-8FC54569E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Wire rope isolators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75B66-FE71-3822-B355-08C4246995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Coiled wire ropes act as springs and also provide damping due to friction between strands.</a:t>
            </a:r>
          </a:p>
          <a:p>
            <a:r>
              <a:rPr lang="en-US" dirty="0"/>
              <a:t>Nonlinear effects can occur, so make sure to test after installation.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5F8CC8-0373-FF87-A475-C72CED1DD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Practical considerations and measurements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751092-2100-E420-8001-B2EA27C24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8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6E5E36-DDF5-CC80-18EF-C2816CDA6270}"/>
              </a:ext>
            </a:extLst>
          </p:cNvPr>
          <p:cNvSpPr txBox="1"/>
          <p:nvPr/>
        </p:nvSpPr>
        <p:spPr>
          <a:xfrm>
            <a:off x="466273" y="6538912"/>
            <a:ext cx="2421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tkinson Hyperlegible" pitchFamily="50" charset="0"/>
              </a:rPr>
              <a:t>From Isolation Dynamics Corp.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91DFF0-8295-2A23-0A47-C1B712419C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93" t="30599" r="18112" b="29369"/>
          <a:stretch/>
        </p:blipFill>
        <p:spPr>
          <a:xfrm>
            <a:off x="271849" y="3155972"/>
            <a:ext cx="5881816" cy="2745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9479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AF919-9692-7288-7A3A-FB9FCBE6C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3223B-9A28-EB24-D610-25CA85C3A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Rubber isolators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C7479-06A4-B649-B593-D82BAD59B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00695"/>
            <a:ext cx="8905103" cy="5036494"/>
          </a:xfrm>
        </p:spPr>
        <p:txBody>
          <a:bodyPr/>
          <a:lstStyle/>
          <a:p>
            <a:r>
              <a:rPr lang="en-US" dirty="0"/>
              <a:t>Dynamic stiffness can be 1.3–1.8 times static stiffness, so dynamic data is needed for isolation predictions.</a:t>
            </a:r>
          </a:p>
          <a:p>
            <a:r>
              <a:rPr lang="en-US" dirty="0"/>
              <a:t>Damping depends on specific type of rubber and chemistry.</a:t>
            </a:r>
          </a:p>
          <a:p>
            <a:r>
              <a:rPr lang="en-US" dirty="0"/>
              <a:t>Different stiffness in shear vs. compression</a:t>
            </a:r>
          </a:p>
          <a:p>
            <a:r>
              <a:rPr lang="en-US" dirty="0"/>
              <a:t>Generally not used in tension due to fatigue damage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47DAB7-FCD5-6CCD-93D9-A7386B719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Practical considerations and measurements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30E353-3E61-27D7-D7E8-A15E6BC22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9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8DF351-FD10-44B5-F1D8-9E82CEB6B2DE}"/>
              </a:ext>
            </a:extLst>
          </p:cNvPr>
          <p:cNvSpPr txBox="1"/>
          <p:nvPr/>
        </p:nvSpPr>
        <p:spPr>
          <a:xfrm>
            <a:off x="688694" y="6444476"/>
            <a:ext cx="2421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tkinson Hyperlegible" pitchFamily="50" charset="0"/>
              </a:rPr>
              <a:t>From Kinetics Noise Control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91ED224-E7CB-8D50-2443-A08AFC9C0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185" y="4201297"/>
            <a:ext cx="2465453" cy="2188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0638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53D04-E032-D828-E987-4B13663A9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8E14D-D6F5-BC9C-4B15-88BDEE6BA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9D150-E53F-6CFC-E861-0A835EF02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00695"/>
            <a:ext cx="8905103" cy="5036494"/>
          </a:xfrm>
        </p:spPr>
        <p:txBody>
          <a:bodyPr/>
          <a:lstStyle/>
          <a:p>
            <a:r>
              <a:rPr lang="en-US" dirty="0"/>
              <a:t>Isolation pads are easy to install.</a:t>
            </a:r>
          </a:p>
          <a:p>
            <a:r>
              <a:rPr lang="en-US" dirty="0"/>
              <a:t>Stiffness depends on material, thickness, and geometry.</a:t>
            </a:r>
          </a:p>
          <a:p>
            <a:r>
              <a:rPr lang="en-US" dirty="0"/>
              <a:t>Cork and felt can have stiffness dependent on frequency and preload.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FB0557-584F-5B30-E4FA-FCA3D53A0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Practical considerations and measurements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455F68-3DFF-1D5A-4E7A-32F464680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10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CB3D28-5614-07D1-733C-369FBC66A957}"/>
              </a:ext>
            </a:extLst>
          </p:cNvPr>
          <p:cNvSpPr txBox="1"/>
          <p:nvPr/>
        </p:nvSpPr>
        <p:spPr>
          <a:xfrm>
            <a:off x="688694" y="6444476"/>
            <a:ext cx="2421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tkinson Hyperlegible" pitchFamily="50" charset="0"/>
              </a:rPr>
              <a:t>From Kinetics Noise Control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3E7D48D-1316-63F3-7D4A-1930E25B94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404" y="3908044"/>
            <a:ext cx="3345602" cy="243316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5AE8A0B-8354-5AA0-0402-17CB67F6B0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600" y="4068608"/>
            <a:ext cx="4137933" cy="217816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4421C32-53A6-CEC4-A3D0-35BEE997105D}"/>
              </a:ext>
            </a:extLst>
          </p:cNvPr>
          <p:cNvSpPr txBox="1"/>
          <p:nvPr/>
        </p:nvSpPr>
        <p:spPr>
          <a:xfrm>
            <a:off x="4791137" y="6011608"/>
            <a:ext cx="2421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tkinson Hyperlegible" pitchFamily="50" charset="0"/>
              </a:rPr>
              <a:t>From Kinetics Noise Control</a:t>
            </a:r>
          </a:p>
        </p:txBody>
      </p:sp>
    </p:spTree>
    <p:extLst>
      <p:ext uri="{BB962C8B-B14F-4D97-AF65-F5344CB8AC3E}">
        <p14:creationId xmlns:p14="http://schemas.microsoft.com/office/powerpoint/2010/main" val="42223975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27878-37FE-3A66-8CCA-908E8555D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57A11-3215-3292-89B1-420A8052A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Four-isolator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B976E-374D-46DF-57E2-9FBBEF34D2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00695"/>
            <a:ext cx="7751805" cy="5036494"/>
          </a:xfrm>
        </p:spPr>
        <p:txBody>
          <a:bodyPr/>
          <a:lstStyle/>
          <a:p>
            <a:r>
              <a:rPr lang="en-US" dirty="0"/>
              <a:t>6 DOF motion is possible for rigid body</a:t>
            </a:r>
          </a:p>
          <a:p>
            <a:r>
              <a:rPr lang="en-US" dirty="0"/>
              <a:t>Imbalanced mass load will force horizontal and vertical directions equally.</a:t>
            </a:r>
          </a:p>
          <a:p>
            <a:r>
              <a:rPr lang="en-US" dirty="0"/>
              <a:t>Need to consider lateral stiffness of isolators.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C33D62-E07B-E234-EB23-AEB5077BD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Practical considerations and measurements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CC1851-0CCC-0586-CE02-31BA311E2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11</a:t>
            </a:fld>
            <a:endParaRPr lang="en-US"/>
          </a:p>
        </p:txBody>
      </p:sp>
      <p:sp>
        <p:nvSpPr>
          <p:cNvPr id="7" name="Cube 6">
            <a:extLst>
              <a:ext uri="{FF2B5EF4-FFF2-40B4-BE49-F238E27FC236}">
                <a16:creationId xmlns:a16="http://schemas.microsoft.com/office/drawing/2014/main" id="{BD2917E3-7D36-4EC8-AB28-0B87CD4B04AD}"/>
              </a:ext>
            </a:extLst>
          </p:cNvPr>
          <p:cNvSpPr/>
          <p:nvPr/>
        </p:nvSpPr>
        <p:spPr>
          <a:xfrm>
            <a:off x="823784" y="3429000"/>
            <a:ext cx="3912974" cy="2235869"/>
          </a:xfrm>
          <a:prstGeom prst="cube">
            <a:avLst>
              <a:gd name="adj" fmla="val 3734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3151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6A7EE-EA05-F515-1BFD-773E3C405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7FE99-FCA9-EC6F-31D5-BC03481B8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High-frequency response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46EA4-A8CA-50E6-30E5-AB8997E9E0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00695"/>
            <a:ext cx="7751805" cy="5036494"/>
          </a:xfrm>
        </p:spPr>
        <p:txBody>
          <a:bodyPr/>
          <a:lstStyle/>
          <a:p>
            <a:r>
              <a:rPr lang="en-US" dirty="0"/>
              <a:t>At high frequencies, the resonances of the structure being isolated will start to matter.</a:t>
            </a:r>
          </a:p>
          <a:p>
            <a:r>
              <a:rPr lang="en-US" dirty="0"/>
              <a:t>The vibrating structure will generate sound, even though force is not being transmitted to the foundation.</a:t>
            </a:r>
          </a:p>
          <a:p>
            <a:r>
              <a:rPr lang="en-US" dirty="0"/>
              <a:t>Isolation is generally ineffective at reducing audible frequencies.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D238EE-8852-6725-6EAD-72885068F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Practical considerations and measurements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E6985C-51E8-4596-3AE6-5E8B80BCF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1777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28E56-7443-40A5-B21B-363221DB3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Designing a mounting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369F3-CE09-4E59-9E5A-2EFE66122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410" y="1075981"/>
            <a:ext cx="7498493" cy="5497814"/>
          </a:xfrm>
        </p:spPr>
        <p:txBody>
          <a:bodyPr/>
          <a:lstStyle/>
          <a:p>
            <a:r>
              <a:rPr lang="en-US" dirty="0"/>
              <a:t>A machine in a factory is shaking the floor and disrupting other work. Design an isolation mount to reduce the vibration of the floor.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50C012F-6243-48D8-952C-FBE09FC50957}"/>
              </a:ext>
            </a:extLst>
          </p:cNvPr>
          <p:cNvCxnSpPr/>
          <p:nvPr/>
        </p:nvCxnSpPr>
        <p:spPr>
          <a:xfrm>
            <a:off x="3795685" y="3964160"/>
            <a:ext cx="3175000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56E4EEA-9D61-42CA-8178-D8C2012A03C8}"/>
              </a:ext>
            </a:extLst>
          </p:cNvPr>
          <p:cNvSpPr txBox="1"/>
          <p:nvPr/>
        </p:nvSpPr>
        <p:spPr>
          <a:xfrm>
            <a:off x="4325138" y="2336083"/>
            <a:ext cx="2116095" cy="100584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3200" dirty="0"/>
              <a:t>Machine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477D22B-1780-49EF-883B-C43BD1705959}"/>
              </a:ext>
            </a:extLst>
          </p:cNvPr>
          <p:cNvCxnSpPr/>
          <p:nvPr/>
        </p:nvCxnSpPr>
        <p:spPr>
          <a:xfrm>
            <a:off x="459531" y="3964160"/>
            <a:ext cx="3175000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6A224EE-B8D5-47F4-853F-E88793999EAF}"/>
              </a:ext>
            </a:extLst>
          </p:cNvPr>
          <p:cNvSpPr txBox="1"/>
          <p:nvPr/>
        </p:nvSpPr>
        <p:spPr>
          <a:xfrm>
            <a:off x="988983" y="2920858"/>
            <a:ext cx="2116095" cy="100584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3200" dirty="0"/>
              <a:t>Machine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BC0172-19BE-4C37-87F3-5C8B1C6B5DA3}"/>
              </a:ext>
            </a:extLst>
          </p:cNvPr>
          <p:cNvSpPr txBox="1"/>
          <p:nvPr/>
        </p:nvSpPr>
        <p:spPr>
          <a:xfrm>
            <a:off x="4653106" y="3341923"/>
            <a:ext cx="1460157" cy="58477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3200" dirty="0"/>
              <a:t>Mount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01B39A-265B-C0DE-3123-1EB690F63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Practical considerations and measurements</a:t>
            </a:r>
          </a:p>
        </p:txBody>
      </p:sp>
    </p:spTree>
    <p:extLst>
      <p:ext uri="{BB962C8B-B14F-4D97-AF65-F5344CB8AC3E}">
        <p14:creationId xmlns:p14="http://schemas.microsoft.com/office/powerpoint/2010/main" val="17209867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2B966-A017-46EB-DA41-124BF1DA3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D2019-47AE-10AF-8466-8FF96B16B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Measuring isolation performance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DEC8AC-A7B8-E53A-D8CA-9FF6DF4D29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100695"/>
                <a:ext cx="8501449" cy="5036494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dirty="0"/>
                  <a:t>Insertion loss: change in level with and without mounts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IL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=20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Transmission loss: change in level above and below mounts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L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=20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Modified transmission loss: change in level compared to free vibration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TL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20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sup>
                                  </m:sSubSup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DEC8AC-A7B8-E53A-D8CA-9FF6DF4D29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100695"/>
                <a:ext cx="8501449" cy="5036494"/>
              </a:xfrm>
              <a:blipFill>
                <a:blip r:embed="rId2"/>
                <a:stretch>
                  <a:fillRect l="-1075" t="-1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AC371D-65DF-02A9-16A5-4EC3D5119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Practical considerations and measurements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C7B9F2-544F-9179-B36E-5B0A1CA01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14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D0CD9D9-E662-BC30-27F6-5CA5533DBD59}"/>
              </a:ext>
            </a:extLst>
          </p:cNvPr>
          <p:cNvCxnSpPr/>
          <p:nvPr/>
        </p:nvCxnSpPr>
        <p:spPr>
          <a:xfrm>
            <a:off x="8501449" y="4435193"/>
            <a:ext cx="3175000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1726214-2614-8A93-64F0-98DD5EC38F4F}"/>
              </a:ext>
            </a:extLst>
          </p:cNvPr>
          <p:cNvSpPr txBox="1"/>
          <p:nvPr/>
        </p:nvSpPr>
        <p:spPr>
          <a:xfrm>
            <a:off x="9030902" y="2807116"/>
            <a:ext cx="2116095" cy="100584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3200" dirty="0"/>
              <a:t>Machine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0F8AD4-1052-75F3-FCA1-65274E3CAE3B}"/>
              </a:ext>
            </a:extLst>
          </p:cNvPr>
          <p:cNvSpPr txBox="1"/>
          <p:nvPr/>
        </p:nvSpPr>
        <p:spPr>
          <a:xfrm>
            <a:off x="9358870" y="3812956"/>
            <a:ext cx="1460157" cy="58477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3200" dirty="0"/>
              <a:t>Mount</a:t>
            </a:r>
          </a:p>
        </p:txBody>
      </p:sp>
    </p:spTree>
    <p:extLst>
      <p:ext uri="{BB962C8B-B14F-4D97-AF65-F5344CB8AC3E}">
        <p14:creationId xmlns:p14="http://schemas.microsoft.com/office/powerpoint/2010/main" val="36944011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052BC-213C-768E-84B5-0C3C33EF2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Measuring vibration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56C40-2FA1-474C-B0E2-DF9A77EC3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Accelerometers output voltage proportional to acceleration.</a:t>
            </a:r>
          </a:p>
          <a:p>
            <a:r>
              <a:rPr lang="en-US" dirty="0"/>
              <a:t>Piezoelectric accelerometers are the most common for industrial and scientific applications.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09E7EB-E0FE-72F5-25E8-AF3C9D7B2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Practical considerations and measurements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55F623-16BE-7699-669F-C392E2016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E2F0C0-E117-ECC5-AD22-B0AD7E75F22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33" t="-3352" r="25084" b="1"/>
          <a:stretch/>
        </p:blipFill>
        <p:spPr>
          <a:xfrm>
            <a:off x="1128718" y="2933700"/>
            <a:ext cx="6293437" cy="274796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FEAEB86-5436-4BDD-7954-A4C8C389DB5B}"/>
              </a:ext>
            </a:extLst>
          </p:cNvPr>
          <p:cNvSpPr txBox="1"/>
          <p:nvPr/>
        </p:nvSpPr>
        <p:spPr>
          <a:xfrm>
            <a:off x="2301856" y="5686426"/>
            <a:ext cx="3947160" cy="3838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Accelerometers from PCB Piezotronics</a:t>
            </a:r>
          </a:p>
        </p:txBody>
      </p:sp>
    </p:spTree>
    <p:extLst>
      <p:ext uri="{BB962C8B-B14F-4D97-AF65-F5344CB8AC3E}">
        <p14:creationId xmlns:p14="http://schemas.microsoft.com/office/powerpoint/2010/main" val="23908194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462B6-C208-56B1-0B54-D3A0D37BA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B536F-4F1E-7DA8-680A-EA70D9B60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Measuring vibration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FE1C7-001F-6AD5-14D3-AA805998D6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00695"/>
            <a:ext cx="7768281" cy="4748585"/>
          </a:xfrm>
        </p:spPr>
        <p:txBody>
          <a:bodyPr/>
          <a:lstStyle/>
          <a:p>
            <a:r>
              <a:rPr lang="en-US" dirty="0"/>
              <a:t>Piezoelectric crystals produce a small electrical charge proportional to pressure.</a:t>
            </a:r>
          </a:p>
          <a:p>
            <a:r>
              <a:rPr lang="en-US" dirty="0"/>
              <a:t>Integrated circuitry amplifies the signal and converts it to a voltage usable by the data acquisition system.</a:t>
            </a:r>
          </a:p>
          <a:p>
            <a:r>
              <a:rPr lang="en-US" dirty="0"/>
              <a:t>The DC component (constant acceleration) is usually (but not always) filtered out.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E91132-FF26-2739-EFCE-941075353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Practical considerations and measurements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CFEB74-DD1F-6619-0868-C61657137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C847726-D99D-1579-2570-3E18639251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6427" y="97636"/>
            <a:ext cx="4428649" cy="313724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01A6025-029A-6667-BF68-820AD1AEAA1A}"/>
              </a:ext>
            </a:extLst>
          </p:cNvPr>
          <p:cNvSpPr/>
          <p:nvPr/>
        </p:nvSpPr>
        <p:spPr>
          <a:xfrm>
            <a:off x="8841182" y="3969970"/>
            <a:ext cx="2072640" cy="2646274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A7D396-65A4-BF65-A5F8-62B4907B9FF1}"/>
              </a:ext>
            </a:extLst>
          </p:cNvPr>
          <p:cNvSpPr/>
          <p:nvPr/>
        </p:nvSpPr>
        <p:spPr>
          <a:xfrm>
            <a:off x="8104861" y="6167275"/>
            <a:ext cx="736321" cy="401002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68AF8DF-9902-68EC-8525-8CF53C36CDEF}"/>
              </a:ext>
            </a:extLst>
          </p:cNvPr>
          <p:cNvCxnSpPr/>
          <p:nvPr/>
        </p:nvCxnSpPr>
        <p:spPr>
          <a:xfrm flipV="1">
            <a:off x="8104861" y="6167275"/>
            <a:ext cx="111481" cy="4010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7DEBD52-1585-95C1-0DBB-802A5AD6DCFD}"/>
              </a:ext>
            </a:extLst>
          </p:cNvPr>
          <p:cNvCxnSpPr/>
          <p:nvPr/>
        </p:nvCxnSpPr>
        <p:spPr>
          <a:xfrm flipV="1">
            <a:off x="8272998" y="6187641"/>
            <a:ext cx="111481" cy="4010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B10A08A-7D27-00CC-4432-2E07A1C47378}"/>
              </a:ext>
            </a:extLst>
          </p:cNvPr>
          <p:cNvCxnSpPr/>
          <p:nvPr/>
        </p:nvCxnSpPr>
        <p:spPr>
          <a:xfrm flipV="1">
            <a:off x="8470423" y="6172401"/>
            <a:ext cx="111481" cy="4010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3DA1C1E-DD53-AC34-DB0D-D34B9AD06748}"/>
              </a:ext>
            </a:extLst>
          </p:cNvPr>
          <p:cNvCxnSpPr/>
          <p:nvPr/>
        </p:nvCxnSpPr>
        <p:spPr>
          <a:xfrm flipV="1">
            <a:off x="8642151" y="6167275"/>
            <a:ext cx="111481" cy="4010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412E11F2-D507-B391-445D-D32A8C853D65}"/>
              </a:ext>
            </a:extLst>
          </p:cNvPr>
          <p:cNvSpPr/>
          <p:nvPr/>
        </p:nvSpPr>
        <p:spPr>
          <a:xfrm>
            <a:off x="9489953" y="4358590"/>
            <a:ext cx="1318260" cy="1296467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Mass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59D9AF-16AD-8A17-D6D8-CCDFE37241F5}"/>
              </a:ext>
            </a:extLst>
          </p:cNvPr>
          <p:cNvSpPr/>
          <p:nvPr/>
        </p:nvSpPr>
        <p:spPr>
          <a:xfrm>
            <a:off x="9577503" y="5655057"/>
            <a:ext cx="1139270" cy="91322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Crystal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E7DA51FE-2A96-9997-D174-4940FBD8AC48}"/>
              </a:ext>
            </a:extLst>
          </p:cNvPr>
          <p:cNvSpPr/>
          <p:nvPr/>
        </p:nvSpPr>
        <p:spPr>
          <a:xfrm>
            <a:off x="9199322" y="5620658"/>
            <a:ext cx="762000" cy="538232"/>
          </a:xfrm>
          <a:custGeom>
            <a:avLst/>
            <a:gdLst>
              <a:gd name="connsiteX0" fmla="*/ 762000 w 762000"/>
              <a:gd name="connsiteY0" fmla="*/ 33332 h 538232"/>
              <a:gd name="connsiteX1" fmla="*/ 472440 w 762000"/>
              <a:gd name="connsiteY1" fmla="*/ 48572 h 538232"/>
              <a:gd name="connsiteX2" fmla="*/ 152400 w 762000"/>
              <a:gd name="connsiteY2" fmla="*/ 25712 h 538232"/>
              <a:gd name="connsiteX3" fmla="*/ 198120 w 762000"/>
              <a:gd name="connsiteY3" fmla="*/ 460052 h 538232"/>
              <a:gd name="connsiteX4" fmla="*/ 0 w 762000"/>
              <a:gd name="connsiteY4" fmla="*/ 536252 h 538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2000" h="538232">
                <a:moveTo>
                  <a:pt x="762000" y="33332"/>
                </a:moveTo>
                <a:cubicBezTo>
                  <a:pt x="668020" y="41587"/>
                  <a:pt x="574040" y="49842"/>
                  <a:pt x="472440" y="48572"/>
                </a:cubicBezTo>
                <a:cubicBezTo>
                  <a:pt x="370840" y="47302"/>
                  <a:pt x="198120" y="-42868"/>
                  <a:pt x="152400" y="25712"/>
                </a:cubicBezTo>
                <a:cubicBezTo>
                  <a:pt x="106680" y="94292"/>
                  <a:pt x="223520" y="374962"/>
                  <a:pt x="198120" y="460052"/>
                </a:cubicBezTo>
                <a:cubicBezTo>
                  <a:pt x="172720" y="545142"/>
                  <a:pt x="86360" y="540697"/>
                  <a:pt x="0" y="536252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C42A89C-B3B6-A67C-66AB-40AA5AF53B03}"/>
              </a:ext>
            </a:extLst>
          </p:cNvPr>
          <p:cNvSpPr/>
          <p:nvPr/>
        </p:nvSpPr>
        <p:spPr>
          <a:xfrm>
            <a:off x="9185651" y="6390250"/>
            <a:ext cx="684231" cy="163103"/>
          </a:xfrm>
          <a:custGeom>
            <a:avLst/>
            <a:gdLst>
              <a:gd name="connsiteX0" fmla="*/ 684231 w 684231"/>
              <a:gd name="connsiteY0" fmla="*/ 162900 h 163103"/>
              <a:gd name="connsiteX1" fmla="*/ 326091 w 684231"/>
              <a:gd name="connsiteY1" fmla="*/ 140040 h 163103"/>
              <a:gd name="connsiteX2" fmla="*/ 36531 w 684231"/>
              <a:gd name="connsiteY2" fmla="*/ 18120 h 163103"/>
              <a:gd name="connsiteX3" fmla="*/ 13671 w 684231"/>
              <a:gd name="connsiteY3" fmla="*/ 2880 h 163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4231" h="163103">
                <a:moveTo>
                  <a:pt x="684231" y="162900"/>
                </a:moveTo>
                <a:cubicBezTo>
                  <a:pt x="559136" y="163535"/>
                  <a:pt x="434041" y="164170"/>
                  <a:pt x="326091" y="140040"/>
                </a:cubicBezTo>
                <a:cubicBezTo>
                  <a:pt x="218141" y="115910"/>
                  <a:pt x="36531" y="18120"/>
                  <a:pt x="36531" y="18120"/>
                </a:cubicBezTo>
                <a:cubicBezTo>
                  <a:pt x="-15539" y="-4740"/>
                  <a:pt x="-934" y="-930"/>
                  <a:pt x="13671" y="288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66D3243-5794-2571-6C7F-DC9F17B61C86}"/>
              </a:ext>
            </a:extLst>
          </p:cNvPr>
          <p:cNvSpPr/>
          <p:nvPr/>
        </p:nvSpPr>
        <p:spPr>
          <a:xfrm flipV="1">
            <a:off x="7506427" y="6270896"/>
            <a:ext cx="1480788" cy="80238"/>
          </a:xfrm>
          <a:custGeom>
            <a:avLst/>
            <a:gdLst>
              <a:gd name="connsiteX0" fmla="*/ 684231 w 684231"/>
              <a:gd name="connsiteY0" fmla="*/ 162900 h 163103"/>
              <a:gd name="connsiteX1" fmla="*/ 326091 w 684231"/>
              <a:gd name="connsiteY1" fmla="*/ 140040 h 163103"/>
              <a:gd name="connsiteX2" fmla="*/ 36531 w 684231"/>
              <a:gd name="connsiteY2" fmla="*/ 18120 h 163103"/>
              <a:gd name="connsiteX3" fmla="*/ 13671 w 684231"/>
              <a:gd name="connsiteY3" fmla="*/ 2880 h 163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4231" h="163103">
                <a:moveTo>
                  <a:pt x="684231" y="162900"/>
                </a:moveTo>
                <a:cubicBezTo>
                  <a:pt x="559136" y="163535"/>
                  <a:pt x="434041" y="164170"/>
                  <a:pt x="326091" y="140040"/>
                </a:cubicBezTo>
                <a:cubicBezTo>
                  <a:pt x="218141" y="115910"/>
                  <a:pt x="36531" y="18120"/>
                  <a:pt x="36531" y="18120"/>
                </a:cubicBezTo>
                <a:cubicBezTo>
                  <a:pt x="-15539" y="-4740"/>
                  <a:pt x="-934" y="-930"/>
                  <a:pt x="13671" y="288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lowchart: Merge 19">
            <a:extLst>
              <a:ext uri="{FF2B5EF4-FFF2-40B4-BE49-F238E27FC236}">
                <a16:creationId xmlns:a16="http://schemas.microsoft.com/office/drawing/2014/main" id="{B4D697E1-6EE9-7E09-E873-3E6CAA1128AF}"/>
              </a:ext>
            </a:extLst>
          </p:cNvPr>
          <p:cNvSpPr/>
          <p:nvPr/>
        </p:nvSpPr>
        <p:spPr>
          <a:xfrm rot="5400000">
            <a:off x="8856419" y="6057400"/>
            <a:ext cx="541024" cy="434341"/>
          </a:xfrm>
          <a:prstGeom prst="flowChartMerg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en-US" sz="1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090BDAE-5BE6-3D6D-BAC2-6DDB3FEBBD20}"/>
              </a:ext>
            </a:extLst>
          </p:cNvPr>
          <p:cNvSpPr txBox="1"/>
          <p:nvPr/>
        </p:nvSpPr>
        <p:spPr>
          <a:xfrm>
            <a:off x="8970839" y="6086230"/>
            <a:ext cx="879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Amp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357B65F-28B2-E88F-2768-151DE0269B0E}"/>
              </a:ext>
            </a:extLst>
          </p:cNvPr>
          <p:cNvSpPr txBox="1"/>
          <p:nvPr/>
        </p:nvSpPr>
        <p:spPr>
          <a:xfrm>
            <a:off x="8104861" y="3237863"/>
            <a:ext cx="3947160" cy="3838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Diagram from PCB Piezotronics</a:t>
            </a:r>
          </a:p>
        </p:txBody>
      </p:sp>
    </p:spTree>
    <p:extLst>
      <p:ext uri="{BB962C8B-B14F-4D97-AF65-F5344CB8AC3E}">
        <p14:creationId xmlns:p14="http://schemas.microsoft.com/office/powerpoint/2010/main" val="17964666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64AC2-72B9-F535-025B-BC38E2A03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A9CA3-17CC-42AA-D743-C0BED2A8F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Accelerometer response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0DEE84-E382-6B0E-BEB6-8E48D80818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100695"/>
            <a:ext cx="7430068" cy="4748585"/>
          </a:xfrm>
        </p:spPr>
        <p:txBody>
          <a:bodyPr/>
          <a:lstStyle/>
          <a:p>
            <a:r>
              <a:rPr lang="en-US" dirty="0"/>
              <a:t>The accelerometer system acts as a multi-DOF oscillator. The output is related to the compression of the crystal.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0F50E3-6683-F15C-A122-E6D871DA1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Practical considerations and measurements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93F256-73E3-0856-23B0-79D29C704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17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A6061B-838F-0898-E6A9-6E3D9C33230F}"/>
              </a:ext>
            </a:extLst>
          </p:cNvPr>
          <p:cNvSpPr/>
          <p:nvPr/>
        </p:nvSpPr>
        <p:spPr>
          <a:xfrm>
            <a:off x="8764824" y="2528348"/>
            <a:ext cx="2072640" cy="2646274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EB1F47-E85F-C3E3-AC40-6801A1DC4BDF}"/>
              </a:ext>
            </a:extLst>
          </p:cNvPr>
          <p:cNvSpPr/>
          <p:nvPr/>
        </p:nvSpPr>
        <p:spPr>
          <a:xfrm>
            <a:off x="8028503" y="4725653"/>
            <a:ext cx="736321" cy="401002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43850EF-F3A4-ED40-8429-F39EBCBB26A7}"/>
              </a:ext>
            </a:extLst>
          </p:cNvPr>
          <p:cNvCxnSpPr/>
          <p:nvPr/>
        </p:nvCxnSpPr>
        <p:spPr>
          <a:xfrm flipV="1">
            <a:off x="8028503" y="4725653"/>
            <a:ext cx="111481" cy="4010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90BAA5B-C463-991D-4F3B-BB0CFEB9A289}"/>
              </a:ext>
            </a:extLst>
          </p:cNvPr>
          <p:cNvCxnSpPr/>
          <p:nvPr/>
        </p:nvCxnSpPr>
        <p:spPr>
          <a:xfrm flipV="1">
            <a:off x="8196640" y="4746019"/>
            <a:ext cx="111481" cy="4010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B3A5AA2-8F26-1114-1F8D-7253D674E266}"/>
              </a:ext>
            </a:extLst>
          </p:cNvPr>
          <p:cNvCxnSpPr/>
          <p:nvPr/>
        </p:nvCxnSpPr>
        <p:spPr>
          <a:xfrm flipV="1">
            <a:off x="8394065" y="4730779"/>
            <a:ext cx="111481" cy="4010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0AAC378-8C6F-C2AC-E2F8-32244C9F314C}"/>
              </a:ext>
            </a:extLst>
          </p:cNvPr>
          <p:cNvCxnSpPr/>
          <p:nvPr/>
        </p:nvCxnSpPr>
        <p:spPr>
          <a:xfrm flipV="1">
            <a:off x="8565793" y="4725653"/>
            <a:ext cx="111481" cy="4010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16C29A15-9E7B-DB61-89A8-F4EFD20B95F8}"/>
              </a:ext>
            </a:extLst>
          </p:cNvPr>
          <p:cNvSpPr/>
          <p:nvPr/>
        </p:nvSpPr>
        <p:spPr>
          <a:xfrm>
            <a:off x="9413595" y="2916968"/>
            <a:ext cx="1318260" cy="1296467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Mass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658C6C2-CD5A-DFE2-620B-330977FB3001}"/>
              </a:ext>
            </a:extLst>
          </p:cNvPr>
          <p:cNvSpPr/>
          <p:nvPr/>
        </p:nvSpPr>
        <p:spPr>
          <a:xfrm>
            <a:off x="9501145" y="4213435"/>
            <a:ext cx="1139270" cy="91322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Crystal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C11B66C-8C09-0CA9-7894-433AD2D535D9}"/>
              </a:ext>
            </a:extLst>
          </p:cNvPr>
          <p:cNvSpPr/>
          <p:nvPr/>
        </p:nvSpPr>
        <p:spPr>
          <a:xfrm>
            <a:off x="9122964" y="4179036"/>
            <a:ext cx="762000" cy="538232"/>
          </a:xfrm>
          <a:custGeom>
            <a:avLst/>
            <a:gdLst>
              <a:gd name="connsiteX0" fmla="*/ 762000 w 762000"/>
              <a:gd name="connsiteY0" fmla="*/ 33332 h 538232"/>
              <a:gd name="connsiteX1" fmla="*/ 472440 w 762000"/>
              <a:gd name="connsiteY1" fmla="*/ 48572 h 538232"/>
              <a:gd name="connsiteX2" fmla="*/ 152400 w 762000"/>
              <a:gd name="connsiteY2" fmla="*/ 25712 h 538232"/>
              <a:gd name="connsiteX3" fmla="*/ 198120 w 762000"/>
              <a:gd name="connsiteY3" fmla="*/ 460052 h 538232"/>
              <a:gd name="connsiteX4" fmla="*/ 0 w 762000"/>
              <a:gd name="connsiteY4" fmla="*/ 536252 h 538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2000" h="538232">
                <a:moveTo>
                  <a:pt x="762000" y="33332"/>
                </a:moveTo>
                <a:cubicBezTo>
                  <a:pt x="668020" y="41587"/>
                  <a:pt x="574040" y="49842"/>
                  <a:pt x="472440" y="48572"/>
                </a:cubicBezTo>
                <a:cubicBezTo>
                  <a:pt x="370840" y="47302"/>
                  <a:pt x="198120" y="-42868"/>
                  <a:pt x="152400" y="25712"/>
                </a:cubicBezTo>
                <a:cubicBezTo>
                  <a:pt x="106680" y="94292"/>
                  <a:pt x="223520" y="374962"/>
                  <a:pt x="198120" y="460052"/>
                </a:cubicBezTo>
                <a:cubicBezTo>
                  <a:pt x="172720" y="545142"/>
                  <a:pt x="86360" y="540697"/>
                  <a:pt x="0" y="536252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3B3FA08-9EE8-1373-6A5A-A598AAB6333B}"/>
              </a:ext>
            </a:extLst>
          </p:cNvPr>
          <p:cNvSpPr/>
          <p:nvPr/>
        </p:nvSpPr>
        <p:spPr>
          <a:xfrm>
            <a:off x="9109293" y="4948628"/>
            <a:ext cx="684231" cy="163103"/>
          </a:xfrm>
          <a:custGeom>
            <a:avLst/>
            <a:gdLst>
              <a:gd name="connsiteX0" fmla="*/ 684231 w 684231"/>
              <a:gd name="connsiteY0" fmla="*/ 162900 h 163103"/>
              <a:gd name="connsiteX1" fmla="*/ 326091 w 684231"/>
              <a:gd name="connsiteY1" fmla="*/ 140040 h 163103"/>
              <a:gd name="connsiteX2" fmla="*/ 36531 w 684231"/>
              <a:gd name="connsiteY2" fmla="*/ 18120 h 163103"/>
              <a:gd name="connsiteX3" fmla="*/ 13671 w 684231"/>
              <a:gd name="connsiteY3" fmla="*/ 2880 h 163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4231" h="163103">
                <a:moveTo>
                  <a:pt x="684231" y="162900"/>
                </a:moveTo>
                <a:cubicBezTo>
                  <a:pt x="559136" y="163535"/>
                  <a:pt x="434041" y="164170"/>
                  <a:pt x="326091" y="140040"/>
                </a:cubicBezTo>
                <a:cubicBezTo>
                  <a:pt x="218141" y="115910"/>
                  <a:pt x="36531" y="18120"/>
                  <a:pt x="36531" y="18120"/>
                </a:cubicBezTo>
                <a:cubicBezTo>
                  <a:pt x="-15539" y="-4740"/>
                  <a:pt x="-934" y="-930"/>
                  <a:pt x="13671" y="288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5B2862A1-CF54-BE64-9768-1970C65F8728}"/>
              </a:ext>
            </a:extLst>
          </p:cNvPr>
          <p:cNvSpPr/>
          <p:nvPr/>
        </p:nvSpPr>
        <p:spPr>
          <a:xfrm flipV="1">
            <a:off x="7430069" y="4829274"/>
            <a:ext cx="1480788" cy="80238"/>
          </a:xfrm>
          <a:custGeom>
            <a:avLst/>
            <a:gdLst>
              <a:gd name="connsiteX0" fmla="*/ 684231 w 684231"/>
              <a:gd name="connsiteY0" fmla="*/ 162900 h 163103"/>
              <a:gd name="connsiteX1" fmla="*/ 326091 w 684231"/>
              <a:gd name="connsiteY1" fmla="*/ 140040 h 163103"/>
              <a:gd name="connsiteX2" fmla="*/ 36531 w 684231"/>
              <a:gd name="connsiteY2" fmla="*/ 18120 h 163103"/>
              <a:gd name="connsiteX3" fmla="*/ 13671 w 684231"/>
              <a:gd name="connsiteY3" fmla="*/ 2880 h 163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4231" h="163103">
                <a:moveTo>
                  <a:pt x="684231" y="162900"/>
                </a:moveTo>
                <a:cubicBezTo>
                  <a:pt x="559136" y="163535"/>
                  <a:pt x="434041" y="164170"/>
                  <a:pt x="326091" y="140040"/>
                </a:cubicBezTo>
                <a:cubicBezTo>
                  <a:pt x="218141" y="115910"/>
                  <a:pt x="36531" y="18120"/>
                  <a:pt x="36531" y="18120"/>
                </a:cubicBezTo>
                <a:cubicBezTo>
                  <a:pt x="-15539" y="-4740"/>
                  <a:pt x="-934" y="-930"/>
                  <a:pt x="13671" y="288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lowchart: Merge 19">
            <a:extLst>
              <a:ext uri="{FF2B5EF4-FFF2-40B4-BE49-F238E27FC236}">
                <a16:creationId xmlns:a16="http://schemas.microsoft.com/office/drawing/2014/main" id="{9072E844-DDEF-407C-C649-BC1C056E7485}"/>
              </a:ext>
            </a:extLst>
          </p:cNvPr>
          <p:cNvSpPr/>
          <p:nvPr/>
        </p:nvSpPr>
        <p:spPr>
          <a:xfrm rot="5400000">
            <a:off x="8780061" y="4615778"/>
            <a:ext cx="541024" cy="434341"/>
          </a:xfrm>
          <a:prstGeom prst="flowChartMerg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en-US" sz="1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B78A20A-0C16-2427-0DBE-071CDE23F136}"/>
              </a:ext>
            </a:extLst>
          </p:cNvPr>
          <p:cNvSpPr txBox="1"/>
          <p:nvPr/>
        </p:nvSpPr>
        <p:spPr>
          <a:xfrm>
            <a:off x="8894481" y="4644608"/>
            <a:ext cx="879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Amp</a:t>
            </a:r>
          </a:p>
        </p:txBody>
      </p:sp>
    </p:spTree>
    <p:extLst>
      <p:ext uri="{BB962C8B-B14F-4D97-AF65-F5344CB8AC3E}">
        <p14:creationId xmlns:p14="http://schemas.microsoft.com/office/powerpoint/2010/main" val="38272697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E0DD4-80CA-5DA2-3885-127ED9D3C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CD71D-A441-6D4A-9B02-9CD88E157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Accelerometer response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8A7733-DE8A-915B-6EEB-930DC6554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Practical considerations and measurements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BD1EBB-670E-6495-ED9B-21AC12C1C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18</a:t>
            </a:fld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52D4E0B-99AA-7FA1-7631-69466F25C8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8636" y="228747"/>
            <a:ext cx="4843927" cy="455899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EFF358A3-95C7-3003-7CB7-1B22AB92E613}"/>
              </a:ext>
            </a:extLst>
          </p:cNvPr>
          <p:cNvSpPr txBox="1"/>
          <p:nvPr/>
        </p:nvSpPr>
        <p:spPr>
          <a:xfrm>
            <a:off x="7506112" y="4787737"/>
            <a:ext cx="3947160" cy="3838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Diagram from PCB Piezotronics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00866639-3B26-8A1C-E939-A4590E8EC9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283" y="764135"/>
            <a:ext cx="5931353" cy="2134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3578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C29E4-39A1-301A-C91E-C1EDF070B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467B1-8B62-D7D5-974D-0CD39F851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Predicting</a:t>
            </a:r>
            <a:r>
              <a:rPr lang="en-US" dirty="0"/>
              <a:t> isolation performance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FB19E2-71F1-13B5-E7B8-5D0FED3934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Isolation performance depends on properties of the source, isolation system, and foundation.</a:t>
                </a:r>
              </a:p>
              <a:p>
                <a:r>
                  <a:rPr lang="en-US" dirty="0"/>
                  <a:t>We can measure these components independently:</a:t>
                </a:r>
              </a:p>
              <a:p>
                <a:r>
                  <a:rPr lang="en-US" dirty="0"/>
                  <a:t>Source impedance: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acc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p>
                        </m:sSup>
                      </m:num>
                      <m:den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p>
                        </m:sSubSup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sz="2400" dirty="0"/>
                  <a:t>“Force source”: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sz="2400" dirty="0"/>
                  <a:t>  is low, force from machine does not change with foundation</a:t>
                </a:r>
              </a:p>
              <a:p>
                <a:pPr lvl="1"/>
                <a:r>
                  <a:rPr lang="en-US" sz="2400" dirty="0"/>
                  <a:t>“Velocity source”: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sz="2400" dirty="0"/>
                  <a:t>  is high, velocity at attachment does not change with foundation</a:t>
                </a:r>
              </a:p>
              <a:p>
                <a:r>
                  <a:rPr lang="en-US" dirty="0"/>
                  <a:t>Mount impedance: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Impedance across mount with one side blocked</a:t>
                </a:r>
              </a:p>
              <a:p>
                <a:r>
                  <a:rPr lang="en-US" dirty="0"/>
                  <a:t>Foundation impedance: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Impedance of foundation with force and velocity at the same point</a:t>
                </a:r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FB19E2-71F1-13B5-E7B8-5D0FED3934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906" b="-1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9777E9-2E9C-065E-1389-B0ECCA495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Practical considerations and measurements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C9A7A2-D838-4651-A7BC-D5C091A0B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0884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BC0FD-4233-ABEF-8B61-A98CA6BD7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475E18A-D63F-F18D-8695-C5E928F5D43C}"/>
              </a:ext>
            </a:extLst>
          </p:cNvPr>
          <p:cNvSpPr/>
          <p:nvPr/>
        </p:nvSpPr>
        <p:spPr>
          <a:xfrm>
            <a:off x="5310905" y="1948094"/>
            <a:ext cx="370702" cy="215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C4E639A-D70A-357F-AB51-45C91D461409}"/>
              </a:ext>
            </a:extLst>
          </p:cNvPr>
          <p:cNvSpPr/>
          <p:nvPr/>
        </p:nvSpPr>
        <p:spPr>
          <a:xfrm>
            <a:off x="7054754" y="1962684"/>
            <a:ext cx="370702" cy="215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009D53-0DEF-7CAE-3198-C06F8DC01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Predicting</a:t>
            </a:r>
            <a:r>
              <a:rPr lang="en-US" dirty="0"/>
              <a:t> isolation performance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66025E-563A-4482-0748-6DBF05495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Practical considerations and measurements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01F43E-1B9B-ECCD-2798-F3829827F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20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61BA998-FF13-2877-3780-70D2B7DAB166}"/>
              </a:ext>
            </a:extLst>
          </p:cNvPr>
          <p:cNvCxnSpPr/>
          <p:nvPr/>
        </p:nvCxnSpPr>
        <p:spPr>
          <a:xfrm>
            <a:off x="418171" y="2654343"/>
            <a:ext cx="3175000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3483F41-CC6B-218B-9209-E40D99B7CA22}"/>
              </a:ext>
            </a:extLst>
          </p:cNvPr>
          <p:cNvSpPr txBox="1"/>
          <p:nvPr/>
        </p:nvSpPr>
        <p:spPr>
          <a:xfrm>
            <a:off x="947624" y="1026266"/>
            <a:ext cx="2116095" cy="100584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3200" dirty="0"/>
              <a:t>Machine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F09F3D-695A-993F-5A30-4B2FDAFDAD7F}"/>
              </a:ext>
            </a:extLst>
          </p:cNvPr>
          <p:cNvSpPr txBox="1"/>
          <p:nvPr/>
        </p:nvSpPr>
        <p:spPr>
          <a:xfrm>
            <a:off x="1275592" y="2032106"/>
            <a:ext cx="1460157" cy="58477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3200" dirty="0"/>
              <a:t>Mount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C14A8B-ABA4-2F7F-3C77-B6B51AB2CFDF}"/>
              </a:ext>
            </a:extLst>
          </p:cNvPr>
          <p:cNvSpPr txBox="1"/>
          <p:nvPr/>
        </p:nvSpPr>
        <p:spPr>
          <a:xfrm>
            <a:off x="5309361" y="960512"/>
            <a:ext cx="2116095" cy="100584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3200" dirty="0"/>
              <a:t>Machine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F82286-1FF2-16C3-B490-C02DBA74294B}"/>
              </a:ext>
            </a:extLst>
          </p:cNvPr>
          <p:cNvSpPr/>
          <p:nvPr/>
        </p:nvSpPr>
        <p:spPr>
          <a:xfrm>
            <a:off x="4214759" y="2127472"/>
            <a:ext cx="4308389" cy="365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Fixed foundation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963D9B-635B-15BE-40E9-DC51A1C118E9}"/>
              </a:ext>
            </a:extLst>
          </p:cNvPr>
          <p:cNvSpPr txBox="1"/>
          <p:nvPr/>
        </p:nvSpPr>
        <p:spPr>
          <a:xfrm>
            <a:off x="9460318" y="1080865"/>
            <a:ext cx="2116095" cy="100584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3200" dirty="0"/>
              <a:t>Machine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643E67-24A1-1864-60E5-13A85820CAC1}"/>
              </a:ext>
            </a:extLst>
          </p:cNvPr>
          <p:cNvSpPr txBox="1"/>
          <p:nvPr/>
        </p:nvSpPr>
        <p:spPr>
          <a:xfrm>
            <a:off x="2282410" y="4695976"/>
            <a:ext cx="1460157" cy="58477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3200" dirty="0"/>
              <a:t>Mount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DFBE750-2A59-BED4-5BED-5692C21F173A}"/>
              </a:ext>
            </a:extLst>
          </p:cNvPr>
          <p:cNvCxnSpPr/>
          <p:nvPr/>
        </p:nvCxnSpPr>
        <p:spPr>
          <a:xfrm>
            <a:off x="8113611" y="5349488"/>
            <a:ext cx="3175000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265AD493-EDD6-F606-7E24-D6E15C110634}"/>
              </a:ext>
            </a:extLst>
          </p:cNvPr>
          <p:cNvSpPr/>
          <p:nvPr/>
        </p:nvSpPr>
        <p:spPr>
          <a:xfrm>
            <a:off x="7908837" y="3941042"/>
            <a:ext cx="3781167" cy="1826816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735FD28-1A77-DFA7-C881-FB835656CE63}"/>
              </a:ext>
            </a:extLst>
          </p:cNvPr>
          <p:cNvSpPr/>
          <p:nvPr/>
        </p:nvSpPr>
        <p:spPr>
          <a:xfrm>
            <a:off x="1996348" y="3545959"/>
            <a:ext cx="1957002" cy="2792625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860313A-55A2-C7EC-E731-A805D9FC0A11}"/>
              </a:ext>
            </a:extLst>
          </p:cNvPr>
          <p:cNvSpPr/>
          <p:nvPr/>
        </p:nvSpPr>
        <p:spPr>
          <a:xfrm>
            <a:off x="4087198" y="838970"/>
            <a:ext cx="4791591" cy="184473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0EFB4A8-1539-B16E-763F-7E06507DC346}"/>
              </a:ext>
            </a:extLst>
          </p:cNvPr>
          <p:cNvSpPr/>
          <p:nvPr/>
        </p:nvSpPr>
        <p:spPr>
          <a:xfrm>
            <a:off x="9216786" y="902249"/>
            <a:ext cx="2625299" cy="150462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A49908C-0979-2BCB-5164-257A053FF0D8}"/>
              </a:ext>
            </a:extLst>
          </p:cNvPr>
          <p:cNvSpPr txBox="1"/>
          <p:nvPr/>
        </p:nvSpPr>
        <p:spPr>
          <a:xfrm>
            <a:off x="9273423" y="556469"/>
            <a:ext cx="2627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Test 1B: Free velocity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DA70D51-742D-7895-9CEA-1C90F6813959}"/>
              </a:ext>
            </a:extLst>
          </p:cNvPr>
          <p:cNvSpPr txBox="1"/>
          <p:nvPr/>
        </p:nvSpPr>
        <p:spPr>
          <a:xfrm>
            <a:off x="5280967" y="468778"/>
            <a:ext cx="2627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Test 1A: Blocked force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6C6BABB-DFDB-98EE-BCCF-05CBBF8F65C8}"/>
              </a:ext>
            </a:extLst>
          </p:cNvPr>
          <p:cNvSpPr txBox="1"/>
          <p:nvPr/>
        </p:nvSpPr>
        <p:spPr>
          <a:xfrm>
            <a:off x="1698554" y="3151065"/>
            <a:ext cx="2627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Test 2: Mount impedance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F46150C-BA44-390A-BFC3-82041265CE71}"/>
              </a:ext>
            </a:extLst>
          </p:cNvPr>
          <p:cNvSpPr txBox="1"/>
          <p:nvPr/>
        </p:nvSpPr>
        <p:spPr>
          <a:xfrm>
            <a:off x="8279074" y="3522673"/>
            <a:ext cx="3040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Test 3: Foundation impedance</a:t>
            </a:r>
          </a:p>
        </p:txBody>
      </p:sp>
    </p:spTree>
    <p:extLst>
      <p:ext uri="{BB962C8B-B14F-4D97-AF65-F5344CB8AC3E}">
        <p14:creationId xmlns:p14="http://schemas.microsoft.com/office/powerpoint/2010/main" val="10074515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1F66C-926A-391D-2CAC-968192A3D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F87E0-1BD1-A6AC-1FF6-33A01C437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Predicting</a:t>
            </a:r>
            <a:r>
              <a:rPr lang="en-US" dirty="0"/>
              <a:t> isolation performance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A66A73-FC49-C69C-254C-098175FB89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Insertion loss: change in level with and without mounts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IL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20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num>
                              <m:den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20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𝑍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𝑍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𝑍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𝑍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𝑍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sub>
                                    </m:sSub>
                                  </m:e>
                                </m:d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US" b="0" dirty="0"/>
                  <a:t> </a:t>
                </a:r>
              </a:p>
              <a:p>
                <a:endParaRPr lang="en-US" dirty="0"/>
              </a:p>
              <a:p>
                <a:r>
                  <a:rPr lang="en-US" dirty="0"/>
                  <a:t>Transmission loss: change in level above and below mounts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L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20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20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𝑍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𝑍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US" dirty="0"/>
                  <a:t> </a:t>
                </a:r>
              </a:p>
              <a:p>
                <a:endParaRPr lang="en-US" dirty="0"/>
              </a:p>
              <a:p>
                <a:r>
                  <a:rPr lang="en-US" dirty="0"/>
                  <a:t>Modified transmission loss: change in level compared to free vibration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TL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20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sup>
                                </m:sSubSup>
                              </m:num>
                              <m:den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20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𝑍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𝑍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𝑍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𝑍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US" dirty="0"/>
                  <a:t> 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A66A73-FC49-C69C-254C-098175FB89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9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4DC960-E6CD-775C-2148-2CAFDCBAE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Practical considerations and measurements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C2BB74-6DEA-276E-54EE-43C533A43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4723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8CC3D-0AAD-F1B6-C68C-C383078E8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99C49-E9A1-553C-6AF8-EEC4BAB19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Applying known forces: shakers and instrumented hammers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C44BE-0663-20CF-4F65-9115C0575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 instrumented hammer is more useful when:</a:t>
            </a:r>
          </a:p>
          <a:p>
            <a:pPr lvl="1"/>
            <a:r>
              <a:rPr lang="en-US" dirty="0"/>
              <a:t>You want to learn about the free response of a structure</a:t>
            </a:r>
          </a:p>
          <a:p>
            <a:pPr lvl="1"/>
            <a:r>
              <a:rPr lang="en-US" dirty="0"/>
              <a:t>The structure is expected to have a linear response in the frequency and amplitude range of interest</a:t>
            </a:r>
          </a:p>
          <a:p>
            <a:pPr lvl="1"/>
            <a:r>
              <a:rPr lang="en-US" dirty="0"/>
              <a:t>The structure does not permit easy or fast mounting of a shaker</a:t>
            </a:r>
          </a:p>
          <a:p>
            <a:endParaRPr lang="en-US" dirty="0"/>
          </a:p>
          <a:p>
            <a:r>
              <a:rPr lang="en-US" dirty="0"/>
              <a:t>A shaker is more useful when:</a:t>
            </a:r>
          </a:p>
          <a:p>
            <a:pPr lvl="1"/>
            <a:r>
              <a:rPr lang="en-US" dirty="0"/>
              <a:t>You want to learn about the response due to a particular load</a:t>
            </a:r>
          </a:p>
          <a:p>
            <a:pPr lvl="1"/>
            <a:r>
              <a:rPr lang="en-US" dirty="0"/>
              <a:t>You suspect the structure has a nonlinear response</a:t>
            </a:r>
          </a:p>
          <a:p>
            <a:pPr lvl="1"/>
            <a:r>
              <a:rPr lang="en-US" dirty="0"/>
              <a:t>You want to learn about the change in response over time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C61176-E7D0-AB51-32B8-3B0721DCD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Practical considerations and measurements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6CD19B-474E-2109-23FF-E2DC7CFD2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22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C1F5CE-350A-F7F8-3C81-9F38CE2881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7101" y="691676"/>
            <a:ext cx="3703396" cy="37033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8BF3153-87FA-9DDE-E4DA-EC722DD4F001}"/>
              </a:ext>
            </a:extLst>
          </p:cNvPr>
          <p:cNvSpPr txBox="1"/>
          <p:nvPr/>
        </p:nvSpPr>
        <p:spPr>
          <a:xfrm rot="3968381">
            <a:off x="10484134" y="2358707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Kistler.com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079EC55-1A7C-8B26-51C3-175951A1CD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8664" y="4320496"/>
            <a:ext cx="1891270" cy="1891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7045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4477F-9801-AC8D-522E-93501A5A9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30068-1F95-3962-5144-61BB9A06B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Selecting the hammer size and tip material is crucial.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685AD2-FA65-4B39-499B-DE0C1732C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Practical considerations and measurements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5BF6D4-A1E3-14B3-5213-192A9FDD0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23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D27ABF-85FD-5A25-EED1-1BA755D93B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4286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24405" y="459636"/>
            <a:ext cx="1354257" cy="87059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4913D21-4E0F-427F-3839-31A9B0A442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97143" l="2286" r="98286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4674644">
            <a:off x="4844487" y="1703415"/>
            <a:ext cx="2735792" cy="65659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AFD8ADB-8B26-F8C4-A633-F28739D4E86B}"/>
              </a:ext>
            </a:extLst>
          </p:cNvPr>
          <p:cNvSpPr txBox="1"/>
          <p:nvPr/>
        </p:nvSpPr>
        <p:spPr>
          <a:xfrm>
            <a:off x="1839745" y="1186543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PCB.com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F46BBD-409F-2ECC-D986-A652D0227964}"/>
              </a:ext>
            </a:extLst>
          </p:cNvPr>
          <p:cNvSpPr txBox="1"/>
          <p:nvPr/>
        </p:nvSpPr>
        <p:spPr>
          <a:xfrm rot="21143732">
            <a:off x="6240815" y="5207674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PCB.com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1D4C209-4388-B434-A00A-686A539BADC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5429" y="2127986"/>
            <a:ext cx="2272987" cy="227298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80C8402-53BE-58E0-2C7D-2E49B57C46C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4917" y="581895"/>
            <a:ext cx="3703396" cy="370339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39F603A-9357-F9EF-788C-A4E1E166F916}"/>
              </a:ext>
            </a:extLst>
          </p:cNvPr>
          <p:cNvSpPr txBox="1"/>
          <p:nvPr/>
        </p:nvSpPr>
        <p:spPr>
          <a:xfrm rot="3997676">
            <a:off x="3217874" y="2978097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Kistler.com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306DB3-0A9B-105B-AFA7-4ED4FB9CBB7E}"/>
              </a:ext>
            </a:extLst>
          </p:cNvPr>
          <p:cNvSpPr txBox="1"/>
          <p:nvPr/>
        </p:nvSpPr>
        <p:spPr>
          <a:xfrm rot="3968381">
            <a:off x="7221950" y="2248926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Kistler.com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42D0085-5B9A-F73C-1222-471242C5DA90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4773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078402">
            <a:off x="3791357" y="1461216"/>
            <a:ext cx="2698500" cy="26985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A4B6029-2980-F702-DC30-14648D6D0AB9}"/>
              </a:ext>
            </a:extLst>
          </p:cNvPr>
          <p:cNvSpPr txBox="1"/>
          <p:nvPr/>
        </p:nvSpPr>
        <p:spPr>
          <a:xfrm rot="3680145">
            <a:off x="4907173" y="2890018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bksv.com</a:t>
            </a:r>
          </a:p>
        </p:txBody>
      </p:sp>
    </p:spTree>
    <p:extLst>
      <p:ext uri="{BB962C8B-B14F-4D97-AF65-F5344CB8AC3E}">
        <p14:creationId xmlns:p14="http://schemas.microsoft.com/office/powerpoint/2010/main" val="35767110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C6D95-B338-BC58-7364-D16EC48E9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A7A10-4D5B-3966-E8B8-0B62CAFD8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Selecting the hammer size and tip material is crucial.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AD1C2D-B706-631D-E152-9DA960DF4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Practical considerations and measurements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775D22-26D6-EE75-0B4E-E613EEBFC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24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8AD6BB1-53A8-1753-AC84-8F2D62E8EF8E}"/>
              </a:ext>
            </a:extLst>
          </p:cNvPr>
          <p:cNvGrpSpPr>
            <a:grpSpLocks noChangeAspect="1"/>
          </p:cNvGrpSpPr>
          <p:nvPr/>
        </p:nvGrpSpPr>
        <p:grpSpPr>
          <a:xfrm>
            <a:off x="1485505" y="1892175"/>
            <a:ext cx="8804301" cy="3073650"/>
            <a:chOff x="1255846" y="2574675"/>
            <a:chExt cx="6458939" cy="225486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16DA51B-EAF1-280E-5DA8-7BA3FD5616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55846" y="3355006"/>
              <a:ext cx="1143643" cy="520907"/>
            </a:xfrm>
            <a:prstGeom prst="rect">
              <a:avLst/>
            </a:prstGeom>
            <a:ln w="38100">
              <a:solidFill>
                <a:schemeClr val="tx1"/>
              </a:solidFill>
            </a:ln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DE39912-6595-2031-4B85-A32BB36144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75707" y="3297919"/>
              <a:ext cx="1086461" cy="635079"/>
            </a:xfrm>
            <a:prstGeom prst="rect">
              <a:avLst/>
            </a:prstGeom>
            <a:ln w="38100">
              <a:solidFill>
                <a:schemeClr val="tx1"/>
              </a:solidFill>
            </a:ln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FABA611-CEE6-B138-E41B-52A3D676DE8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00514" y="3305056"/>
              <a:ext cx="1086461" cy="627943"/>
            </a:xfrm>
            <a:prstGeom prst="rect">
              <a:avLst/>
            </a:prstGeom>
            <a:ln w="38100">
              <a:solidFill>
                <a:schemeClr val="tx1"/>
              </a:solidFill>
            </a:ln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A1578BD6-984F-B65A-13AB-671C8AC000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596924" y="3287216"/>
              <a:ext cx="1172234" cy="656486"/>
            </a:xfrm>
            <a:prstGeom prst="rect">
              <a:avLst/>
            </a:prstGeom>
            <a:ln w="38100">
              <a:solidFill>
                <a:schemeClr val="tx1"/>
              </a:solidFill>
            </a:ln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02CBE7C4-1F8E-4E91-AEAE-E0092D6D579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5400000">
              <a:off x="6753826" y="3369275"/>
              <a:ext cx="1429554" cy="492365"/>
            </a:xfrm>
            <a:prstGeom prst="rect">
              <a:avLst/>
            </a:prstGeom>
            <a:ln w="38100">
              <a:solidFill>
                <a:schemeClr val="tx1"/>
              </a:solidFill>
            </a:ln>
          </p:spPr>
        </p:pic>
        <p:sp>
          <p:nvSpPr>
            <p:cNvPr id="21" name="Right Arrow 9">
              <a:extLst>
                <a:ext uri="{FF2B5EF4-FFF2-40B4-BE49-F238E27FC236}">
                  <a16:creationId xmlns:a16="http://schemas.microsoft.com/office/drawing/2014/main" id="{A9E70701-37EC-BB5B-A84D-9D09B5D63B1B}"/>
                </a:ext>
              </a:extLst>
            </p:cNvPr>
            <p:cNvSpPr/>
            <p:nvPr/>
          </p:nvSpPr>
          <p:spPr>
            <a:xfrm>
              <a:off x="1478682" y="2574675"/>
              <a:ext cx="5879833" cy="209366"/>
            </a:xfrm>
            <a:prstGeom prst="rightArrow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22" name="Right Arrow 10">
              <a:extLst>
                <a:ext uri="{FF2B5EF4-FFF2-40B4-BE49-F238E27FC236}">
                  <a16:creationId xmlns:a16="http://schemas.microsoft.com/office/drawing/2014/main" id="{6C972623-872D-7227-B060-119BAE9B61A2}"/>
                </a:ext>
              </a:extLst>
            </p:cNvPr>
            <p:cNvSpPr/>
            <p:nvPr/>
          </p:nvSpPr>
          <p:spPr>
            <a:xfrm rot="10800000">
              <a:off x="1462440" y="4620175"/>
              <a:ext cx="5879833" cy="209366"/>
            </a:xfrm>
            <a:prstGeom prst="rightArrow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9FF13E31-F598-D532-EFE9-BCA7FC300500}"/>
              </a:ext>
            </a:extLst>
          </p:cNvPr>
          <p:cNvSpPr txBox="1"/>
          <p:nvPr/>
        </p:nvSpPr>
        <p:spPr>
          <a:xfrm>
            <a:off x="4840640" y="1479673"/>
            <a:ext cx="2562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More energy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0F8A1F-67D5-581C-DC29-AB226DC8A696}"/>
              </a:ext>
            </a:extLst>
          </p:cNvPr>
          <p:cNvSpPr txBox="1"/>
          <p:nvPr/>
        </p:nvSpPr>
        <p:spPr>
          <a:xfrm>
            <a:off x="3912950" y="4965826"/>
            <a:ext cx="39889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Higher frequency range</a:t>
            </a:r>
          </a:p>
        </p:txBody>
      </p:sp>
    </p:spTree>
    <p:extLst>
      <p:ext uri="{BB962C8B-B14F-4D97-AF65-F5344CB8AC3E}">
        <p14:creationId xmlns:p14="http://schemas.microsoft.com/office/powerpoint/2010/main" val="17974733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72DFC-1919-6A17-0CE0-600F5C91C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BB08C-C97B-7B4C-D74F-9779A593F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Selecting the hammer size and tip material is crucial.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643FF4-2E93-7D4B-5BCE-CB79E346E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Practical considerations and measurements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2D15AA-DB98-A80E-E732-DAE172617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25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326964-209B-D3D3-B90A-DBB0439E39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9207" y="1337533"/>
            <a:ext cx="4000500" cy="40005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05DA5F8-02E5-A8DC-ED2C-CC43B77B1FBD}"/>
              </a:ext>
            </a:extLst>
          </p:cNvPr>
          <p:cNvSpPr txBox="1"/>
          <p:nvPr/>
        </p:nvSpPr>
        <p:spPr>
          <a:xfrm>
            <a:off x="4558231" y="5338033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PCB.com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12D974-0416-74A1-FD4A-BC10D8E8EAB3}"/>
              </a:ext>
            </a:extLst>
          </p:cNvPr>
          <p:cNvSpPr txBox="1"/>
          <p:nvPr/>
        </p:nvSpPr>
        <p:spPr>
          <a:xfrm>
            <a:off x="7486907" y="2826608"/>
            <a:ext cx="3076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Tips of varying hardness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FFC1BCF-31A0-3B43-7917-61535A5DDA5F}"/>
              </a:ext>
            </a:extLst>
          </p:cNvPr>
          <p:cNvCxnSpPr>
            <a:stCxn id="11" idx="1"/>
          </p:cNvCxnSpPr>
          <p:nvPr/>
        </p:nvCxnSpPr>
        <p:spPr>
          <a:xfrm flipH="1" flipV="1">
            <a:off x="6353432" y="2112233"/>
            <a:ext cx="1133475" cy="89904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DD5D678-75FC-FEF4-34A2-A568810C837B}"/>
              </a:ext>
            </a:extLst>
          </p:cNvPr>
          <p:cNvCxnSpPr>
            <a:stCxn id="11" idx="1"/>
          </p:cNvCxnSpPr>
          <p:nvPr/>
        </p:nvCxnSpPr>
        <p:spPr>
          <a:xfrm flipH="1">
            <a:off x="6858257" y="3011274"/>
            <a:ext cx="628650" cy="344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4BC9185-908C-5A4D-8573-0E216322897B}"/>
              </a:ext>
            </a:extLst>
          </p:cNvPr>
          <p:cNvCxnSpPr>
            <a:stCxn id="11" idx="1"/>
          </p:cNvCxnSpPr>
          <p:nvPr/>
        </p:nvCxnSpPr>
        <p:spPr>
          <a:xfrm flipH="1">
            <a:off x="6213732" y="3011274"/>
            <a:ext cx="1273175" cy="92975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7AAB842-EF36-9B47-F988-E0F4BF6636F6}"/>
              </a:ext>
            </a:extLst>
          </p:cNvPr>
          <p:cNvCxnSpPr/>
          <p:nvPr/>
        </p:nvCxnSpPr>
        <p:spPr>
          <a:xfrm flipH="1">
            <a:off x="5332669" y="2872903"/>
            <a:ext cx="1273175" cy="92975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94346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89D76-773F-EDBA-DE73-761BADCF5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601DFD-998B-587E-BFAA-CF76801EC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8465" y="677455"/>
            <a:ext cx="9730287" cy="584557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3D2EA31-A3B7-7E91-6843-43C28D83228F}"/>
              </a:ext>
            </a:extLst>
          </p:cNvPr>
          <p:cNvSpPr/>
          <p:nvPr/>
        </p:nvSpPr>
        <p:spPr>
          <a:xfrm>
            <a:off x="5129717" y="3380"/>
            <a:ext cx="3892115" cy="39183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6BB9E6-9FC8-8119-9F6D-2FB828227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Choosing a hammer tip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693079-8783-2723-F9B3-6D9190AE1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Practical considerations and measurements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0F20A5-8B44-3ED6-6105-6A3817005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26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F4B07F-B73C-6AD7-EA68-761FF8D8A1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7371" y="0"/>
            <a:ext cx="3892115" cy="391160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C85BD98-641D-E744-31B9-467FD9B8788C}"/>
              </a:ext>
            </a:extLst>
          </p:cNvPr>
          <p:cNvSpPr/>
          <p:nvPr/>
        </p:nvSpPr>
        <p:spPr>
          <a:xfrm>
            <a:off x="1647225" y="1262448"/>
            <a:ext cx="495300" cy="1320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67117C6-87C8-97EB-576C-30FDF1517324}"/>
              </a:ext>
            </a:extLst>
          </p:cNvPr>
          <p:cNvCxnSpPr/>
          <p:nvPr/>
        </p:nvCxnSpPr>
        <p:spPr>
          <a:xfrm flipV="1">
            <a:off x="2142525" y="1391831"/>
            <a:ext cx="2959538" cy="48021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0461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BCFE3-E0EF-AD97-19ED-625C9ADD5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139C6-6561-2582-285E-C28B21A8F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Choosing a hammer tip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574FEE-0045-4247-C24B-1030CD3A2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Practical considerations and measurements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29A190-32D2-EB4C-2209-E552B1E73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27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F565D8D-FC87-FD20-302E-23D09B870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5830" y="1013252"/>
            <a:ext cx="9730287" cy="584557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80F5B73-62FC-2366-ACF2-6195B6D1BA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1261" y="104775"/>
            <a:ext cx="3657600" cy="365760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52EDB57-93B5-E641-5E88-42A2EB72147F}"/>
              </a:ext>
            </a:extLst>
          </p:cNvPr>
          <p:cNvSpPr/>
          <p:nvPr/>
        </p:nvSpPr>
        <p:spPr>
          <a:xfrm>
            <a:off x="1663700" y="1600200"/>
            <a:ext cx="495300" cy="1320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96A0939-504A-1C14-1AD9-8B6BC8426E6F}"/>
              </a:ext>
            </a:extLst>
          </p:cNvPr>
          <p:cNvCxnSpPr/>
          <p:nvPr/>
        </p:nvCxnSpPr>
        <p:spPr>
          <a:xfrm flipV="1">
            <a:off x="2159000" y="1739900"/>
            <a:ext cx="3092883" cy="4699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17DC423-CC47-0507-7874-0E0D545529A9}"/>
              </a:ext>
            </a:extLst>
          </p:cNvPr>
          <p:cNvCxnSpPr/>
          <p:nvPr/>
        </p:nvCxnSpPr>
        <p:spPr>
          <a:xfrm flipV="1">
            <a:off x="6591300" y="4851400"/>
            <a:ext cx="1397000" cy="90170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7B883E7-4B26-2405-9746-F21740975414}"/>
              </a:ext>
            </a:extLst>
          </p:cNvPr>
          <p:cNvSpPr txBox="1"/>
          <p:nvPr/>
        </p:nvSpPr>
        <p:spPr>
          <a:xfrm>
            <a:off x="7302500" y="4385017"/>
            <a:ext cx="1646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Harder tip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04B6B7-4292-766B-5BAA-3D196D610D6F}"/>
              </a:ext>
            </a:extLst>
          </p:cNvPr>
          <p:cNvSpPr txBox="1"/>
          <p:nvPr/>
        </p:nvSpPr>
        <p:spPr>
          <a:xfrm>
            <a:off x="3012219" y="5282168"/>
            <a:ext cx="1646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Harder tip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749C81E-F86D-5106-666B-60C1AF7EB61E}"/>
              </a:ext>
            </a:extLst>
          </p:cNvPr>
          <p:cNvCxnSpPr/>
          <p:nvPr/>
        </p:nvCxnSpPr>
        <p:spPr>
          <a:xfrm flipH="1">
            <a:off x="3835400" y="4212496"/>
            <a:ext cx="155822" cy="108975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67016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1990C-A0DF-585D-3BAA-12975D0E9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4A09A-E951-B203-F507-805AC4690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Double hits cause a scalloped appearance in the frequency domain.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F69BFD-3896-3E0C-3A6D-3B03E79E8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Practical considerations and measurements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627BDD-7D56-8D86-A0F9-12095470F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28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2DBF5A-EF61-12CE-3FBB-E81F964BD5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9150"/>
            <a:ext cx="9730287" cy="584557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E134990-9A20-9112-85AF-A5207EAEF3E7}"/>
                  </a:ext>
                </a:extLst>
              </p:cNvPr>
              <p:cNvSpPr txBox="1"/>
              <p:nvPr/>
            </p:nvSpPr>
            <p:spPr>
              <a:xfrm>
                <a:off x="1735941" y="2536720"/>
                <a:ext cx="9620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E134990-9A20-9112-85AF-A5207EAEF3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5941" y="2536720"/>
                <a:ext cx="96202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B8C25B9-EBAB-80E2-EA11-60FE8726BB5B}"/>
                  </a:ext>
                </a:extLst>
              </p:cNvPr>
              <p:cNvSpPr txBox="1"/>
              <p:nvPr/>
            </p:nvSpPr>
            <p:spPr>
              <a:xfrm>
                <a:off x="2579686" y="5198009"/>
                <a:ext cx="962025" cy="610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B8C25B9-EBAB-80E2-EA11-60FE8726BB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9686" y="5198009"/>
                <a:ext cx="962025" cy="6109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ight Brace 8">
            <a:extLst>
              <a:ext uri="{FF2B5EF4-FFF2-40B4-BE49-F238E27FC236}">
                <a16:creationId xmlns:a16="http://schemas.microsoft.com/office/drawing/2014/main" id="{9913F160-4583-5732-5982-A1B3949432BD}"/>
              </a:ext>
            </a:extLst>
          </p:cNvPr>
          <p:cNvSpPr/>
          <p:nvPr/>
        </p:nvSpPr>
        <p:spPr>
          <a:xfrm rot="5400000">
            <a:off x="2104691" y="2257095"/>
            <a:ext cx="232441" cy="384175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CE785A4C-8091-B8C1-2729-7D8D30AC2B04}"/>
              </a:ext>
            </a:extLst>
          </p:cNvPr>
          <p:cNvSpPr/>
          <p:nvPr/>
        </p:nvSpPr>
        <p:spPr>
          <a:xfrm rot="5400000">
            <a:off x="2732814" y="4812440"/>
            <a:ext cx="317632" cy="623888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0478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3C5B8-4F3B-13FF-A5F8-3605703F3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386C8-344F-84AF-915D-EFF7D3EAB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Double hits cause a scalloped appearance in the frequency domain.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311DA3-C515-0D94-9B37-B66C768EA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Practical considerations and measurements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E9DBCE-16E0-94F2-2BEC-0E0595B4C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29</a:t>
            </a:fld>
            <a:endParaRPr lang="en-US"/>
          </a:p>
        </p:txBody>
      </p:sp>
      <p:pic>
        <p:nvPicPr>
          <p:cNvPr id="7" name="beam_heavily_damped">
            <a:hlinkClick r:id="" action="ppaction://media"/>
            <a:extLst>
              <a:ext uri="{FF2B5EF4-FFF2-40B4-BE49-F238E27FC236}">
                <a16:creationId xmlns:a16="http://schemas.microsoft.com/office/drawing/2014/main" id="{5B77519D-FBA3-CA5B-4DE3-FB851D307B4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04812" y="694096"/>
            <a:ext cx="6900863" cy="546980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D010093-85F4-E324-7879-E8B2B31DE215}"/>
              </a:ext>
            </a:extLst>
          </p:cNvPr>
          <p:cNvSpPr txBox="1"/>
          <p:nvPr/>
        </p:nvSpPr>
        <p:spPr>
          <a:xfrm>
            <a:off x="715433" y="4404765"/>
            <a:ext cx="345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Moderately damped structure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DD0B31-09B2-A5BF-13BD-63B9BE176EEC}"/>
              </a:ext>
            </a:extLst>
          </p:cNvPr>
          <p:cNvSpPr txBox="1"/>
          <p:nvPr/>
        </p:nvSpPr>
        <p:spPr>
          <a:xfrm>
            <a:off x="5173133" y="1499640"/>
            <a:ext cx="1133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Hammer</a:t>
            </a:r>
          </a:p>
        </p:txBody>
      </p:sp>
    </p:spTree>
    <p:extLst>
      <p:ext uri="{BB962C8B-B14F-4D97-AF65-F5344CB8AC3E}">
        <p14:creationId xmlns:p14="http://schemas.microsoft.com/office/powerpoint/2010/main" val="2431712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3C5B8-4F3B-13FF-A5F8-3605703F3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386C8-344F-84AF-915D-EFF7D3EAB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Structures with low damping can make double hits difficult to avoid.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311DA3-C515-0D94-9B37-B66C768EA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Practical considerations and measurements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E9DBCE-16E0-94F2-2BEC-0E0595B4C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30</a:t>
            </a:fld>
            <a:endParaRPr lang="en-US"/>
          </a:p>
        </p:txBody>
      </p:sp>
      <p:pic>
        <p:nvPicPr>
          <p:cNvPr id="3" name="beam_lightly_damped">
            <a:hlinkClick r:id="" action="ppaction://media"/>
            <a:extLst>
              <a:ext uri="{FF2B5EF4-FFF2-40B4-BE49-F238E27FC236}">
                <a16:creationId xmlns:a16="http://schemas.microsoft.com/office/drawing/2014/main" id="{F1DE047A-3710-8032-690D-1A73090CD4C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52538" y="848497"/>
            <a:ext cx="6900862" cy="54698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24DC561-751C-370C-D046-8CB6F69E5971}"/>
              </a:ext>
            </a:extLst>
          </p:cNvPr>
          <p:cNvSpPr txBox="1"/>
          <p:nvPr/>
        </p:nvSpPr>
        <p:spPr>
          <a:xfrm>
            <a:off x="1562100" y="4733925"/>
            <a:ext cx="2924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Lightly damped structure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16533E-3816-08C9-F60C-84D03D8CB588}"/>
              </a:ext>
            </a:extLst>
          </p:cNvPr>
          <p:cNvSpPr txBox="1"/>
          <p:nvPr/>
        </p:nvSpPr>
        <p:spPr>
          <a:xfrm>
            <a:off x="6019800" y="1828800"/>
            <a:ext cx="1133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Hammer</a:t>
            </a:r>
          </a:p>
        </p:txBody>
      </p:sp>
    </p:spTree>
    <p:extLst>
      <p:ext uri="{BB962C8B-B14F-4D97-AF65-F5344CB8AC3E}">
        <p14:creationId xmlns:p14="http://schemas.microsoft.com/office/powerpoint/2010/main" val="610710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3C5B8-4F3B-13FF-A5F8-3605703F3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386C8-344F-84AF-915D-EFF7D3EAB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Structures with low damping can make double hits difficult to avoid.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311DA3-C515-0D94-9B37-B66C768EA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Practical considerations and measurements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E9DBCE-16E0-94F2-2BEC-0E0595B4C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31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311A73-E4D8-531A-FFFB-B810F7BE6F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9410" y="510772"/>
            <a:ext cx="9730287" cy="5845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9110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682C4-28AC-4B25-65A5-5D9C9650D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Shaker selection depends on size and frequency range.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CE251F-BA29-C26A-012F-4058FC763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Practical considerations and measurements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AD356D-0B7B-D39D-91AE-8AD6FA2F3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32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694D51-EBF3-942F-4AE0-1C389445A6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1634331"/>
            <a:ext cx="3162300" cy="2381250"/>
          </a:xfrm>
          <a:prstGeom prst="rect">
            <a:avLst/>
          </a:prstGeom>
        </p:spPr>
      </p:pic>
      <p:pic>
        <p:nvPicPr>
          <p:cNvPr id="7" name="Content Placeholder 3" descr="Screen Clipping">
            <a:extLst>
              <a:ext uri="{FF2B5EF4-FFF2-40B4-BE49-F238E27FC236}">
                <a16:creationId xmlns:a16="http://schemas.microsoft.com/office/drawing/2014/main" id="{72937234-D16C-9240-EC28-28975002B9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7955" y="1276957"/>
            <a:ext cx="6768845" cy="3396641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5374F50-548A-A73B-342C-E7F0B85D5736}"/>
              </a:ext>
            </a:extLst>
          </p:cNvPr>
          <p:cNvSpPr txBox="1"/>
          <p:nvPr/>
        </p:nvSpPr>
        <p:spPr>
          <a:xfrm>
            <a:off x="5965697" y="4772360"/>
            <a:ext cx="24320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Wilcoxon F4/F7</a:t>
            </a:r>
          </a:p>
          <a:p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wilcoxon.com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24036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48DE1-2260-36CF-BF95-44B4329A2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04721-BF53-0B5F-ADA5-BE76105F9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Shaker selection depends on size and frequency range.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582B87-D687-6550-7D9A-E8A5E1CFF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Practical considerations and measurements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F7A807-1AC2-485E-A7E0-A15D5B4A1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33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726CEEE-06C9-A827-439D-6997C51125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1478" y="1514810"/>
            <a:ext cx="5715000" cy="32575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223693C-5FF1-918F-F771-E9D9AA33E753}"/>
              </a:ext>
            </a:extLst>
          </p:cNvPr>
          <p:cNvSpPr txBox="1"/>
          <p:nvPr/>
        </p:nvSpPr>
        <p:spPr>
          <a:xfrm>
            <a:off x="4998156" y="4772360"/>
            <a:ext cx="3098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</a:rPr>
              <a:t>Brüel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&amp;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</a:rPr>
              <a:t>Kjær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Type 4810</a:t>
            </a:r>
          </a:p>
          <a:p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bksv.com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F5D4B6B-6B11-7947-B8BE-82F70642F6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756" y="2053749"/>
            <a:ext cx="2946400" cy="294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5404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3B5C4-B6E5-85B3-8DCE-9F7317755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9BC91-0C79-BC55-F3DC-0B98E4316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Mount shakers with a stinger, and monitor applied force with force gauge or impedance head.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D15888-DEE5-BB46-6E5B-324CB0FA9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Practical considerations and measurements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A89F9F-49F5-9315-C944-9B18A00C7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34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D4E5EB-DC52-CF8D-F03E-1475215D3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1462086"/>
            <a:ext cx="4585276" cy="34004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71FDA34-2219-5375-19D6-45FBAEDC586C}"/>
              </a:ext>
            </a:extLst>
          </p:cNvPr>
          <p:cNvSpPr txBox="1"/>
          <p:nvPr/>
        </p:nvSpPr>
        <p:spPr>
          <a:xfrm>
            <a:off x="151259" y="4970213"/>
            <a:ext cx="40259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Ward, Frederick, “Comparing steady state and impulse test methods to measure the damping of composites applied to homogeneous substrates”, Proc. INTER-NOISE 2018.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8765A6-5D45-DA44-F950-179F729E45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9925" y="1462086"/>
            <a:ext cx="4562475" cy="34004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A5BB9CF-CA2C-039E-CCFE-34146BF8B323}"/>
              </a:ext>
            </a:extLst>
          </p:cNvPr>
          <p:cNvSpPr txBox="1"/>
          <p:nvPr/>
        </p:nvSpPr>
        <p:spPr>
          <a:xfrm>
            <a:off x="4876443" y="4970213"/>
            <a:ext cx="40259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Zehme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, John, “Evaluating Damping Treatments using Radiated Sound Power normalized by Input Mechanical Power”, Proc. INTER-NOISE 2018.</a:t>
            </a:r>
          </a:p>
        </p:txBody>
      </p:sp>
    </p:spTree>
    <p:extLst>
      <p:ext uri="{BB962C8B-B14F-4D97-AF65-F5344CB8AC3E}">
        <p14:creationId xmlns:p14="http://schemas.microsoft.com/office/powerpoint/2010/main" val="13024424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6B558-0283-4913-09E3-EAB583EA7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78FE7-6ECF-35BE-AA71-EB0F11B44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Choosing shaker excitation signal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0140CE-6527-A569-368B-5744124AEF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Gaussian random noise</a:t>
            </a:r>
          </a:p>
          <a:p>
            <a:pPr lvl="1"/>
            <a:r>
              <a:rPr lang="en-US" dirty="0"/>
              <a:t>Should be your go-to signal for most measurements.</a:t>
            </a:r>
          </a:p>
          <a:p>
            <a:pPr lvl="1"/>
            <a:r>
              <a:rPr lang="en-US" dirty="0"/>
              <a:t>Easy to get plenty of averages.</a:t>
            </a:r>
          </a:p>
          <a:p>
            <a:pPr lvl="1"/>
            <a:r>
              <a:rPr lang="en-US" dirty="0"/>
              <a:t>Energy input depends on frequency range. Filter to get more energy in a certain band.</a:t>
            </a:r>
          </a:p>
          <a:p>
            <a:pPr lvl="1"/>
            <a:endParaRPr lang="en-US" dirty="0"/>
          </a:p>
          <a:p>
            <a:r>
              <a:rPr lang="en-US" dirty="0"/>
              <a:t>Swept sine wave</a:t>
            </a:r>
          </a:p>
          <a:p>
            <a:pPr lvl="1"/>
            <a:r>
              <a:rPr lang="en-US" dirty="0"/>
              <a:t>Takes longer to get enough averages.</a:t>
            </a:r>
          </a:p>
          <a:p>
            <a:pPr lvl="1"/>
            <a:r>
              <a:rPr lang="en-US" dirty="0"/>
              <a:t>Can get more energy at each frequency.</a:t>
            </a:r>
          </a:p>
          <a:p>
            <a:pPr lvl="1"/>
            <a:r>
              <a:rPr lang="en-US" dirty="0"/>
              <a:t>Easier to detect nonlinearities in the system.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Play-back of previously recorded measurement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1AE212-42CD-DF42-6D37-123442E7F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Practical considerations and measurements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36D7A2-FD95-F27E-F94F-A9949BB9D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8115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23350</TotalTime>
  <Words>1318</Words>
  <Application>Microsoft Office PowerPoint</Application>
  <PresentationFormat>Widescreen</PresentationFormat>
  <Paragraphs>248</Paragraphs>
  <Slides>35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Verdana</vt:lpstr>
      <vt:lpstr>Cambria Math</vt:lpstr>
      <vt:lpstr>Arial</vt:lpstr>
      <vt:lpstr>Calibri</vt:lpstr>
      <vt:lpstr>Atkinson Hyperlegible</vt:lpstr>
      <vt:lpstr>Office Theme</vt:lpstr>
      <vt:lpstr>Vibration isolation</vt:lpstr>
      <vt:lpstr>Specifying isolators</vt:lpstr>
      <vt:lpstr>Specifying isolators</vt:lpstr>
      <vt:lpstr>Types of isolators</vt:lpstr>
      <vt:lpstr>Air springs</vt:lpstr>
      <vt:lpstr>Metal springs</vt:lpstr>
      <vt:lpstr>Surging in springs</vt:lpstr>
      <vt:lpstr>Wire rope isolators</vt:lpstr>
      <vt:lpstr>Rubber isolators</vt:lpstr>
      <vt:lpstr>Pads</vt:lpstr>
      <vt:lpstr>Four-isolator systems</vt:lpstr>
      <vt:lpstr>High-frequency response</vt:lpstr>
      <vt:lpstr>Designing a mounting system</vt:lpstr>
      <vt:lpstr>Measuring isolation performance</vt:lpstr>
      <vt:lpstr>Measuring vibration</vt:lpstr>
      <vt:lpstr>Measuring vibration</vt:lpstr>
      <vt:lpstr>Accelerometer response</vt:lpstr>
      <vt:lpstr>Accelerometer response</vt:lpstr>
      <vt:lpstr>Predicting isolation performance</vt:lpstr>
      <vt:lpstr>Predicting isolation performance</vt:lpstr>
      <vt:lpstr>Predicting isolation performance</vt:lpstr>
      <vt:lpstr>Applying known forces: shakers and instrumented hammers</vt:lpstr>
      <vt:lpstr>Selecting the hammer size and tip material is crucial.</vt:lpstr>
      <vt:lpstr>Selecting the hammer size and tip material is crucial.</vt:lpstr>
      <vt:lpstr>Selecting the hammer size and tip material is crucial.</vt:lpstr>
      <vt:lpstr>Choosing a hammer tip</vt:lpstr>
      <vt:lpstr>Choosing a hammer tip</vt:lpstr>
      <vt:lpstr>Double hits cause a scalloped appearance in the frequency domain.</vt:lpstr>
      <vt:lpstr>Double hits cause a scalloped appearance in the frequency domain.</vt:lpstr>
      <vt:lpstr>Structures with low damping can make double hits difficult to avoid.</vt:lpstr>
      <vt:lpstr>Structures with low damping can make double hits difficult to avoid.</vt:lpstr>
      <vt:lpstr>Shaker selection depends on size and frequency range.</vt:lpstr>
      <vt:lpstr>Shaker selection depends on size and frequency range.</vt:lpstr>
      <vt:lpstr>Mount shakers with a stinger, and monitor applied force with force gauge or impedance head.</vt:lpstr>
      <vt:lpstr>Choosing shaker excitation signal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Tyler Dare</dc:creator>
  <cp:lastModifiedBy>Tyler Dare</cp:lastModifiedBy>
  <cp:revision>172</cp:revision>
  <dcterms:created xsi:type="dcterms:W3CDTF">2025-01-05T23:36:15Z</dcterms:created>
  <dcterms:modified xsi:type="dcterms:W3CDTF">2025-03-23T19:17:57Z</dcterms:modified>
</cp:coreProperties>
</file>