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5"/>
  </p:notesMasterIdLst>
  <p:sldIdLst>
    <p:sldId id="423" r:id="rId2"/>
    <p:sldId id="475" r:id="rId3"/>
    <p:sldId id="488" r:id="rId4"/>
    <p:sldId id="490" r:id="rId5"/>
    <p:sldId id="491" r:id="rId6"/>
    <p:sldId id="492" r:id="rId7"/>
    <p:sldId id="489" r:id="rId8"/>
    <p:sldId id="493" r:id="rId9"/>
    <p:sldId id="494" r:id="rId10"/>
    <p:sldId id="495" r:id="rId11"/>
    <p:sldId id="496" r:id="rId12"/>
    <p:sldId id="500" r:id="rId13"/>
    <p:sldId id="503" r:id="rId14"/>
    <p:sldId id="504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476" r:id="rId23"/>
    <p:sldId id="512" r:id="rId24"/>
  </p:sldIdLst>
  <p:sldSz cx="12192000" cy="6858000"/>
  <p:notesSz cx="6858000" cy="9144000"/>
  <p:embeddedFontLst>
    <p:embeddedFont>
      <p:font typeface="Atkinson Hyperlegible" pitchFamily="50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en.wikipedia.org/wiki/MIL-S-90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Shock and four-pole parameters</a:t>
            </a:r>
          </a:p>
        </p:txBody>
      </p:sp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84B4-DE0B-3BC2-585C-0F0E62B2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5FF4-79AC-A7D7-E8DD-FF83506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05BC-3664-C985-D345-435B095B6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3162F-B8F3-C1BD-FFFA-B6846E25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ED4FA-4189-D2EB-CE90-001BB368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ABEB9F-7C1C-2B54-51B1-7659222DDAAD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Response to a transient event, usually large forces over a short time.</a:t>
            </a:r>
          </a:p>
          <a:p>
            <a:r>
              <a:rPr lang="en-US" dirty="0"/>
              <a:t>Types of shock events: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r>
              <a:rPr lang="en-US" dirty="0"/>
              <a:t>Drop</a:t>
            </a:r>
          </a:p>
          <a:p>
            <a:pPr lvl="1"/>
            <a:r>
              <a:rPr lang="en-US" dirty="0"/>
              <a:t>Explosion</a:t>
            </a:r>
          </a:p>
          <a:p>
            <a:pPr lvl="1"/>
            <a:r>
              <a:rPr lang="en-US" dirty="0"/>
              <a:t>Earthquake</a:t>
            </a:r>
          </a:p>
          <a:p>
            <a:r>
              <a:rPr lang="en-US" dirty="0"/>
              <a:t>Common questions:</a:t>
            </a:r>
          </a:p>
          <a:p>
            <a:pPr lvl="1"/>
            <a:r>
              <a:rPr lang="en-US" dirty="0"/>
              <a:t>Will it survive?</a:t>
            </a:r>
          </a:p>
          <a:p>
            <a:pPr lvl="1"/>
            <a:r>
              <a:rPr lang="en-US" dirty="0"/>
              <a:t>How much damage is expected?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BAD2-F468-C465-257E-351B5150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1F0E-4FD1-ECDE-57A4-267998DE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932D-80D1-9B5D-6767-4552CD9BD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2686F-6DF3-5FFB-1772-5FAAE682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E0A0B-99B6-2132-BDC7-AB1A0F67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880284-F7E3-3A40-9903-7F67B547E4C9}"/>
              </a:ext>
            </a:extLst>
          </p:cNvPr>
          <p:cNvSpPr txBox="1">
            <a:spLocks/>
          </p:cNvSpPr>
          <p:nvPr/>
        </p:nvSpPr>
        <p:spPr>
          <a:xfrm>
            <a:off x="152400" y="1253095"/>
            <a:ext cx="10515600" cy="503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the shock event and see what happens.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Explosive shock testing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we cannot test all possible events?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7DBD8-5618-0527-299D-14E857EDD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546" y="1384810"/>
            <a:ext cx="3667897" cy="54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2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C864-0244-32C8-F7E5-99B6B184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base has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the relative displacement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To analyze a new (untested) shock event:</a:t>
                </a:r>
              </a:p>
              <a:p>
                <a:pPr lvl="1"/>
                <a:r>
                  <a:rPr lang="en-US" dirty="0"/>
                  <a:t>Estimate or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Find maximum relative displacement and/or acceleration.</a:t>
                </a:r>
              </a:p>
              <a:p>
                <a:pPr lvl="1"/>
                <a:r>
                  <a:rPr lang="en-US" b="0" dirty="0"/>
                  <a:t>If less than a previously tested event, it will probably survive.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6543D42-16B2-9364-CABD-383F89424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2A10D1-14F7-4A7B-D264-F45E6753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1DCE-D0C9-3592-79A0-2D2F2632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71E9C-56CA-787D-F552-7F3F4872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4F08-5EF9-4F28-E7D9-FE0D6F6D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DA63813-5CD6-ECD7-8419-C53B1086D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39291CA-B593-0277-5FAC-F7E09915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0DC1B-7045-B494-CF35-0D39F507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5C9F-702C-4EA9-0888-026CA98B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DE118F-4BD5-B540-DF6A-5EC5BDF2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08" y="2136689"/>
            <a:ext cx="5334000" cy="400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62B7A7-22F1-626A-6537-77D6B7900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908" y="21366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2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E9CD-F5C7-FCE2-2D61-88C9B327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B862DFA-AC3D-9587-45D7-17EE71165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7452E65-BF51-1156-BDE6-CB1D05A2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6105F-766B-6DA6-B15D-AA392A8B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0B142-D072-3A82-727A-63984D02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F25E8-178D-8F15-2B7B-34F556A7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0" y="2136689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0CE60D-F89D-87F0-BCEE-D82AE3139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684" y="208932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1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372A-D936-1ADE-2DDC-FCBB3F85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EF9268-2E12-8447-CDE8-EEF9C2B6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multiple systems or a system with several different modes, you can pre-calculate the response for many different damping ratios and natural frequencies.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85AD-A3C5-2100-E9C6-8FEC4E68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026C6-5B1E-B10B-6673-B86C3443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796BF-EB40-C4AA-9136-E5B73847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464E77-3CD8-7F9B-3C66-5958C227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38888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7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319A-5DEC-728B-26DA-CD9ACDCC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231FED-61CA-373A-E3E4-9EB4A709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0DDB1-293B-68AD-2562-72A38F5D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A5823-1E79-0DF5-6861-3ED94006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180BC-B243-AF64-9B41-4A5AC228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7A44D-0C84-BA93-3715-891F8C8A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44" y="2246270"/>
            <a:ext cx="5334000" cy="400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0F2A39-A00A-7C1A-F9DA-78BDAFD9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14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9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7DF3-8B8B-469E-BEB8-616EA798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C1FD6A-4E50-FCEF-1438-E88585158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maximum response for each simulation to produce the “shock response spectrum” for that loading condition.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3999E-F0F3-39C4-3153-35392A6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3282C-E07B-FA9A-ED24-3A93BBA2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8A53F-DDE8-A7D5-A902-AE86F8CC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D8BE0C-6162-9FC9-0C99-1241B0C6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668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40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1FBD-EA43-DC56-8C32-E16E3922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558DB1-7C66-EC03-2DF5-1B120973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Two different mounts are candidates for a machine. For both mounts, the machine survives shock testing under load condition A. Which mount will most likely also survive load condition B?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F2454-8767-F0B9-4E76-92406173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F1C33-CDE9-1FCA-C081-6A9DCE4D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D7D0-4B8A-08D3-2035-89F3249E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CAB85-8A30-9A4E-B40E-E6DBB232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95"/>
          <a:stretch/>
        </p:blipFill>
        <p:spPr>
          <a:xfrm>
            <a:off x="1472514" y="4241886"/>
            <a:ext cx="5334000" cy="1392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E42EB2-449F-2B23-1492-F79351D3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195"/>
          <a:stretch/>
        </p:blipFill>
        <p:spPr>
          <a:xfrm>
            <a:off x="1472514" y="2703064"/>
            <a:ext cx="5334000" cy="13923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7F863B-7158-F685-44EE-EF2517A2AC66}"/>
              </a:ext>
            </a:extLst>
          </p:cNvPr>
          <p:cNvSpPr txBox="1"/>
          <p:nvPr/>
        </p:nvSpPr>
        <p:spPr>
          <a:xfrm>
            <a:off x="1138882" y="2849520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F90B26-4329-FB41-0ECB-3E64A48F558D}"/>
              </a:ext>
            </a:extLst>
          </p:cNvPr>
          <p:cNvSpPr txBox="1"/>
          <p:nvPr/>
        </p:nvSpPr>
        <p:spPr>
          <a:xfrm>
            <a:off x="1138882" y="4493354"/>
            <a:ext cx="537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77C47C6-595B-43E0-6324-6B38DE537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59423"/>
              </p:ext>
            </p:extLst>
          </p:nvPr>
        </p:nvGraphicFramePr>
        <p:xfrm>
          <a:off x="8102600" y="3051005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0DF10C-FA5A-22DF-A303-D3BC62FD8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45167"/>
              </p:ext>
            </p:extLst>
          </p:nvPr>
        </p:nvGraphicFramePr>
        <p:xfrm>
          <a:off x="8102600" y="4439835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789A0E8-4C41-478C-3CA0-08287C847994}"/>
              </a:ext>
            </a:extLst>
          </p:cNvPr>
          <p:cNvSpPr txBox="1"/>
          <p:nvPr/>
        </p:nvSpPr>
        <p:spPr>
          <a:xfrm>
            <a:off x="8781535" y="2647178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68C86-37E8-D991-8565-0ED62F366033}"/>
              </a:ext>
            </a:extLst>
          </p:cNvPr>
          <p:cNvSpPr txBox="1"/>
          <p:nvPr/>
        </p:nvSpPr>
        <p:spPr>
          <a:xfrm>
            <a:off x="8781534" y="4010016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</p:spTree>
    <p:extLst>
      <p:ext uri="{BB962C8B-B14F-4D97-AF65-F5344CB8AC3E}">
        <p14:creationId xmlns:p14="http://schemas.microsoft.com/office/powerpoint/2010/main" val="1638994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A570-D483-E043-FD13-1577E5C4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C240-F0F6-2D97-EFC1-0593F84F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 response spectrum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2019D-D6B7-6F94-A058-0EA1F0C0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67F0B-6816-6ED8-6AD1-3661E21E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C72C7-0D6C-4446-7456-DB6833AD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591467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0996D3-E580-031E-71D6-6075B8B9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1" y="2591467"/>
            <a:ext cx="5334000" cy="40005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E17541-E2E2-98CB-C41A-72E1CFA2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21136"/>
              </p:ext>
            </p:extLst>
          </p:nvPr>
        </p:nvGraphicFramePr>
        <p:xfrm>
          <a:off x="8341497" y="355686"/>
          <a:ext cx="325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A66597-817A-7EAD-0E77-C523E5B2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05223"/>
              </p:ext>
            </p:extLst>
          </p:nvPr>
        </p:nvGraphicFramePr>
        <p:xfrm>
          <a:off x="8356600" y="1478947"/>
          <a:ext cx="32512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584814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1141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Natural 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5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9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9958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1666CC7-C8D5-6F38-1477-CE9491112614}"/>
              </a:ext>
            </a:extLst>
          </p:cNvPr>
          <p:cNvSpPr txBox="1"/>
          <p:nvPr/>
        </p:nvSpPr>
        <p:spPr>
          <a:xfrm>
            <a:off x="9020432" y="-48141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Single-stage mount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17D85-2C19-FEB2-0735-0E5BA59A7CA2}"/>
              </a:ext>
            </a:extLst>
          </p:cNvPr>
          <p:cNvSpPr txBox="1"/>
          <p:nvPr/>
        </p:nvSpPr>
        <p:spPr>
          <a:xfrm>
            <a:off x="8998466" y="1132243"/>
            <a:ext cx="247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Two-stage mount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34F442-F8B8-80DC-6FC7-38C53CC86F40}"/>
              </a:ext>
            </a:extLst>
          </p:cNvPr>
          <p:cNvSpPr/>
          <p:nvPr/>
        </p:nvSpPr>
        <p:spPr>
          <a:xfrm>
            <a:off x="2421924" y="5365121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F0BC9B-F8A4-5319-D3EA-04F6B02E4D01}"/>
              </a:ext>
            </a:extLst>
          </p:cNvPr>
          <p:cNvSpPr/>
          <p:nvPr/>
        </p:nvSpPr>
        <p:spPr>
          <a:xfrm>
            <a:off x="7850659" y="5405642"/>
            <a:ext cx="197708" cy="20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20808-4F29-2933-59C7-7FC5714DF7D2}"/>
              </a:ext>
            </a:extLst>
          </p:cNvPr>
          <p:cNvSpPr/>
          <p:nvPr/>
        </p:nvSpPr>
        <p:spPr>
          <a:xfrm>
            <a:off x="1970216" y="5273150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AAED95-BB3D-86A1-C635-4FCBFB4EF9AF}"/>
              </a:ext>
            </a:extLst>
          </p:cNvPr>
          <p:cNvSpPr/>
          <p:nvPr/>
        </p:nvSpPr>
        <p:spPr>
          <a:xfrm>
            <a:off x="2873632" y="5305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1C77CB-5202-B175-46F6-97BF77AB6A31}"/>
              </a:ext>
            </a:extLst>
          </p:cNvPr>
          <p:cNvSpPr/>
          <p:nvPr/>
        </p:nvSpPr>
        <p:spPr>
          <a:xfrm>
            <a:off x="7398951" y="5596433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A69DE2-D72E-BBE3-E8D8-8EDE927639E4}"/>
              </a:ext>
            </a:extLst>
          </p:cNvPr>
          <p:cNvSpPr/>
          <p:nvPr/>
        </p:nvSpPr>
        <p:spPr>
          <a:xfrm>
            <a:off x="8257746" y="5614579"/>
            <a:ext cx="197708" cy="20365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DEDB2-B2ED-B22D-A3B4-1D05E188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9B57-F7E7-931D-12CB-804A0C81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up complex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4ECCE-EDF1-3CC3-8E30-A9A8EFAA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E30BD-6F89-3EBA-CDA2-81BC277A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72E429-B4E8-7BFD-16D1-9C39BD280A84}"/>
              </a:ext>
            </a:extLst>
          </p:cNvPr>
          <p:cNvSpPr/>
          <p:nvPr/>
        </p:nvSpPr>
        <p:spPr>
          <a:xfrm>
            <a:off x="2365306" y="1321770"/>
            <a:ext cx="1194321" cy="646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EF314-7B77-D11A-CA1E-68968F218DE1}"/>
              </a:ext>
            </a:extLst>
          </p:cNvPr>
          <p:cNvSpPr/>
          <p:nvPr/>
        </p:nvSpPr>
        <p:spPr>
          <a:xfrm>
            <a:off x="2169363" y="2542852"/>
            <a:ext cx="1586206" cy="848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Raft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4666E4-93B6-0DC6-3463-06E8FC598F7E}"/>
              </a:ext>
            </a:extLst>
          </p:cNvPr>
          <p:cNvCxnSpPr/>
          <p:nvPr/>
        </p:nvCxnSpPr>
        <p:spPr>
          <a:xfrm>
            <a:off x="1021699" y="5299788"/>
            <a:ext cx="388153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50D8B9D-341B-CC6B-EFE9-C9FC7357B00E}"/>
              </a:ext>
            </a:extLst>
          </p:cNvPr>
          <p:cNvSpPr/>
          <p:nvPr/>
        </p:nvSpPr>
        <p:spPr>
          <a:xfrm>
            <a:off x="2169363" y="3970363"/>
            <a:ext cx="1586206" cy="8484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Raft 2</a:t>
            </a:r>
          </a:p>
        </p:txBody>
      </p:sp>
    </p:spTree>
    <p:extLst>
      <p:ext uri="{BB962C8B-B14F-4D97-AF65-F5344CB8AC3E}">
        <p14:creationId xmlns:p14="http://schemas.microsoft.com/office/powerpoint/2010/main" val="23510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0E03-EED9-6FB6-58B5-1B788712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41D7-AD35-380D-843E-2207A265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6AD48-9F10-C07C-7F6C-288F4E11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four pole parameters for duct acoustics</a:t>
            </a:r>
          </a:p>
          <a:p>
            <a:r>
              <a:rPr lang="en-US" dirty="0"/>
              <a:t>Useful when combining multiple systems together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6B1A5-9D01-AE17-44EA-B29B81A1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4DA3C-C7F3-8C23-F854-FA60E259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0E2319B-B5E3-0094-DF38-AF0F510C50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40069"/>
                <a:ext cx="4163452" cy="1337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tkinson Hyperlegible" pitchFamily="50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0E2319B-B5E3-0094-DF38-AF0F510C5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40069"/>
                <a:ext cx="4163452" cy="13377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0D95508-FF05-5B31-921C-45347BB8E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48" t="17967" r="13901" b="22282"/>
          <a:stretch/>
        </p:blipFill>
        <p:spPr>
          <a:xfrm>
            <a:off x="838200" y="2415185"/>
            <a:ext cx="4498637" cy="133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3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4EAF-2C6E-8407-9C66-548958EF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CA68-1E32-3AFA-EEF6-62DAB811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8B92C-CFA0-C982-294A-BC743D2B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0033E-C784-629F-379F-48C26A1C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8187A2-9B58-59A1-BF77-42287DF6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35" y="937783"/>
            <a:ext cx="5163271" cy="1619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79755-E981-F2A8-DA49-AC38C1902D04}"/>
                  </a:ext>
                </a:extLst>
              </p:cNvPr>
              <p:cNvSpPr txBox="1"/>
              <p:nvPr/>
            </p:nvSpPr>
            <p:spPr>
              <a:xfrm>
                <a:off x="6672944" y="1217473"/>
                <a:ext cx="3309256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79755-E981-F2A8-DA49-AC38C1902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944" y="1217473"/>
                <a:ext cx="3309256" cy="972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EA90D2-62B9-AFD0-C6AF-30683D132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35" y="2837328"/>
            <a:ext cx="5163271" cy="16194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8029533-F671-1686-E819-43D084C1977E}"/>
              </a:ext>
            </a:extLst>
          </p:cNvPr>
          <p:cNvSpPr/>
          <p:nvPr/>
        </p:nvSpPr>
        <p:spPr>
          <a:xfrm>
            <a:off x="1978690" y="2992403"/>
            <a:ext cx="2751589" cy="144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6263A3-2D4C-F9B7-24AD-611798C9F4A8}"/>
              </a:ext>
            </a:extLst>
          </p:cNvPr>
          <p:cNvCxnSpPr/>
          <p:nvPr/>
        </p:nvCxnSpPr>
        <p:spPr>
          <a:xfrm>
            <a:off x="1541953" y="3397493"/>
            <a:ext cx="149425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05A874-1DF6-1544-C229-95B744B8957B}"/>
              </a:ext>
            </a:extLst>
          </p:cNvPr>
          <p:cNvCxnSpPr/>
          <p:nvPr/>
        </p:nvCxnSpPr>
        <p:spPr>
          <a:xfrm>
            <a:off x="3615432" y="3397493"/>
            <a:ext cx="149425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5F90BC-8ECD-A5A1-BC6C-8B0AE9D2E26C}"/>
              </a:ext>
            </a:extLst>
          </p:cNvPr>
          <p:cNvCxnSpPr>
            <a:cxnSpLocks/>
          </p:cNvCxnSpPr>
          <p:nvPr/>
        </p:nvCxnSpPr>
        <p:spPr>
          <a:xfrm flipV="1">
            <a:off x="3036209" y="3175185"/>
            <a:ext cx="0" cy="44461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72FE96-0201-8047-E30E-175A39C1B6DA}"/>
              </a:ext>
            </a:extLst>
          </p:cNvPr>
          <p:cNvCxnSpPr>
            <a:cxnSpLocks/>
          </p:cNvCxnSpPr>
          <p:nvPr/>
        </p:nvCxnSpPr>
        <p:spPr>
          <a:xfrm flipV="1">
            <a:off x="3615432" y="3189926"/>
            <a:ext cx="0" cy="4005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A73DF8-A078-3671-8FC9-7FAE2AD6778C}"/>
              </a:ext>
            </a:extLst>
          </p:cNvPr>
          <p:cNvCxnSpPr>
            <a:cxnSpLocks/>
          </p:cNvCxnSpPr>
          <p:nvPr/>
        </p:nvCxnSpPr>
        <p:spPr>
          <a:xfrm flipH="1">
            <a:off x="3036210" y="3619801"/>
            <a:ext cx="779669" cy="83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9D480C-C343-DFDA-12D6-410A08CCB446}"/>
              </a:ext>
            </a:extLst>
          </p:cNvPr>
          <p:cNvCxnSpPr>
            <a:cxnSpLocks/>
          </p:cNvCxnSpPr>
          <p:nvPr/>
        </p:nvCxnSpPr>
        <p:spPr>
          <a:xfrm flipH="1">
            <a:off x="3036210" y="3181537"/>
            <a:ext cx="779669" cy="83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5F4D1D-5F47-2CA0-B8A4-2C951FB7DCFB}"/>
                  </a:ext>
                </a:extLst>
              </p:cNvPr>
              <p:cNvSpPr txBox="1"/>
              <p:nvPr/>
            </p:nvSpPr>
            <p:spPr>
              <a:xfrm>
                <a:off x="1800432" y="3741554"/>
                <a:ext cx="33092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5F4D1D-5F47-2CA0-B8A4-2C951FB7D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432" y="3741554"/>
                <a:ext cx="33092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56EC31-E9D0-DEDD-F170-A61264679F9E}"/>
                  </a:ext>
                </a:extLst>
              </p:cNvPr>
              <p:cNvSpPr txBox="1"/>
              <p:nvPr/>
            </p:nvSpPr>
            <p:spPr>
              <a:xfrm>
                <a:off x="6320292" y="3168497"/>
                <a:ext cx="3893018" cy="84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56EC31-E9D0-DEDD-F170-A61264679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292" y="3168497"/>
                <a:ext cx="3893018" cy="843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F77777AA-B3B8-6AD3-DB6C-5373FFEC8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33" y="4566404"/>
            <a:ext cx="5163271" cy="161947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7A0D5C0-5B25-A87A-8649-B04D141A631C}"/>
              </a:ext>
            </a:extLst>
          </p:cNvPr>
          <p:cNvSpPr/>
          <p:nvPr/>
        </p:nvSpPr>
        <p:spPr>
          <a:xfrm>
            <a:off x="2074821" y="4721479"/>
            <a:ext cx="2751589" cy="144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06B36F-FCB4-9F00-F6D5-96BAB6C888C1}"/>
              </a:ext>
            </a:extLst>
          </p:cNvPr>
          <p:cNvCxnSpPr>
            <a:cxnSpLocks/>
          </p:cNvCxnSpPr>
          <p:nvPr/>
        </p:nvCxnSpPr>
        <p:spPr>
          <a:xfrm>
            <a:off x="1663251" y="5126569"/>
            <a:ext cx="113353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69985E-DBFB-8CD3-D9E0-CF3FC4D7B196}"/>
              </a:ext>
            </a:extLst>
          </p:cNvPr>
          <p:cNvCxnSpPr>
            <a:cxnSpLocks/>
          </p:cNvCxnSpPr>
          <p:nvPr/>
        </p:nvCxnSpPr>
        <p:spPr>
          <a:xfrm>
            <a:off x="3937177" y="5126569"/>
            <a:ext cx="129380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282294-65CE-7A51-214C-E3566EE6A768}"/>
              </a:ext>
            </a:extLst>
          </p:cNvPr>
          <p:cNvCxnSpPr>
            <a:cxnSpLocks/>
          </p:cNvCxnSpPr>
          <p:nvPr/>
        </p:nvCxnSpPr>
        <p:spPr>
          <a:xfrm flipV="1">
            <a:off x="3937177" y="4926312"/>
            <a:ext cx="0" cy="62078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4838FB-C0EE-6909-C94E-6D491E720221}"/>
              </a:ext>
            </a:extLst>
          </p:cNvPr>
          <p:cNvCxnSpPr>
            <a:cxnSpLocks/>
          </p:cNvCxnSpPr>
          <p:nvPr/>
        </p:nvCxnSpPr>
        <p:spPr>
          <a:xfrm flipH="1">
            <a:off x="2767674" y="5547097"/>
            <a:ext cx="116950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A2EFEA-31A9-3D24-A906-A62B534A966E}"/>
              </a:ext>
            </a:extLst>
          </p:cNvPr>
          <p:cNvCxnSpPr>
            <a:cxnSpLocks/>
          </p:cNvCxnSpPr>
          <p:nvPr/>
        </p:nvCxnSpPr>
        <p:spPr>
          <a:xfrm flipH="1" flipV="1">
            <a:off x="2818518" y="4912111"/>
            <a:ext cx="111865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2BDF9C8-14B6-2DF8-6F78-7807CA74D3D3}"/>
              </a:ext>
            </a:extLst>
          </p:cNvPr>
          <p:cNvCxnSpPr>
            <a:cxnSpLocks/>
          </p:cNvCxnSpPr>
          <p:nvPr/>
        </p:nvCxnSpPr>
        <p:spPr>
          <a:xfrm flipV="1">
            <a:off x="2818518" y="4912111"/>
            <a:ext cx="0" cy="664887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5974C-A8AA-369A-C513-6A94A246B918}"/>
                  </a:ext>
                </a:extLst>
              </p:cNvPr>
              <p:cNvSpPr txBox="1"/>
              <p:nvPr/>
            </p:nvSpPr>
            <p:spPr>
              <a:xfrm>
                <a:off x="1771416" y="5644257"/>
                <a:ext cx="33092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5974C-A8AA-369A-C513-6A94A246B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416" y="5644257"/>
                <a:ext cx="33092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B5ADF7-1200-FA4C-4D66-DFDE099A675D}"/>
                  </a:ext>
                </a:extLst>
              </p:cNvPr>
              <p:cNvSpPr txBox="1"/>
              <p:nvPr/>
            </p:nvSpPr>
            <p:spPr>
              <a:xfrm>
                <a:off x="6943462" y="4867099"/>
                <a:ext cx="2873998" cy="63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B5ADF7-1200-FA4C-4D66-DFDE099A6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462" y="4867099"/>
                <a:ext cx="2873998" cy="6345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49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8EA7-3009-51C5-8A94-829E0EC9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41FA-F155-AA21-1B93-7DC89697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4214E-7A99-8935-0A98-6FAC2984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6B1BA-FD43-6FE7-2666-AB8A3AA8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941C0-CE07-D5B8-F15E-2DAB44286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65" y="1333463"/>
            <a:ext cx="4052096" cy="22689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B93D87-9ECA-7925-FE5D-BA018A1B44BD}"/>
                  </a:ext>
                </a:extLst>
              </p:cNvPr>
              <p:cNvSpPr txBox="1"/>
              <p:nvPr/>
            </p:nvSpPr>
            <p:spPr>
              <a:xfrm>
                <a:off x="6096000" y="2144232"/>
                <a:ext cx="4513682" cy="647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B93D87-9ECA-7925-FE5D-BA018A1B4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44232"/>
                <a:ext cx="4513682" cy="647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0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C7C9-35FA-5EE4-513F-592A9159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B9BC-51CA-C76F-DE27-D1F002FF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114E6-6E1C-536F-91B2-9CC58A89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D2E76-8EBF-2438-E83D-2951966E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1EE04-317E-B2C7-714E-8D760749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085" y="1233495"/>
            <a:ext cx="2814007" cy="24688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E8139C7-4E79-A935-B780-96ABC2A64C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32118" y="890523"/>
                <a:ext cx="4975832" cy="21932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E8139C7-4E79-A935-B780-96ABC2A64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118" y="890523"/>
                <a:ext cx="4975832" cy="21932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E68B03-A2D2-1C75-50FB-47171306CAB1}"/>
                  </a:ext>
                </a:extLst>
              </p:cNvPr>
              <p:cNvSpPr txBox="1"/>
              <p:nvPr/>
            </p:nvSpPr>
            <p:spPr>
              <a:xfrm>
                <a:off x="4038600" y="3350945"/>
                <a:ext cx="6162868" cy="2811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E68B03-A2D2-1C75-50FB-47171306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350945"/>
                <a:ext cx="6162868" cy="28117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267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pic>
        <p:nvPicPr>
          <p:cNvPr id="3" name="nearResonance">
            <a:hlinkClick r:id="" action="ppaction://media"/>
            <a:extLst>
              <a:ext uri="{FF2B5EF4-FFF2-40B4-BE49-F238E27FC236}">
                <a16:creationId xmlns:a16="http://schemas.microsoft.com/office/drawing/2014/main" id="{4F0665BA-DAD6-43E6-2839-474CA07A8B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3062" t="38285" r="65978" b="12274"/>
          <a:stretch/>
        </p:blipFill>
        <p:spPr>
          <a:xfrm>
            <a:off x="0" y="2558357"/>
            <a:ext cx="1699592" cy="3006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1245637" y="1036530"/>
                <a:ext cx="6242178" cy="63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7" y="1036530"/>
                <a:ext cx="6242178" cy="634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A0C7-4E62-FE21-FD16-2A76A700EEF8}"/>
                  </a:ext>
                </a:extLst>
              </p:cNvPr>
              <p:cNvSpPr txBox="1"/>
              <p:nvPr/>
            </p:nvSpPr>
            <p:spPr>
              <a:xfrm>
                <a:off x="2439955" y="2017159"/>
                <a:ext cx="6242178" cy="3566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</m:d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den>
                                  </m:f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den>
                                  </m:f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A0C7-4E62-FE21-FD16-2A76A700E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955" y="2017159"/>
                <a:ext cx="6242178" cy="3566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/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  <a:blipFill>
                <a:blip r:embed="rId7"/>
                <a:stretch>
                  <a:fillRect r="-2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/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  <a:blipFill>
                <a:blip r:embed="rId8"/>
                <a:stretch>
                  <a:fillRect r="-2075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98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3" name="nearResonance">
            <a:hlinkClick r:id="" action="ppaction://media"/>
            <a:extLst>
              <a:ext uri="{FF2B5EF4-FFF2-40B4-BE49-F238E27FC236}">
                <a16:creationId xmlns:a16="http://schemas.microsoft.com/office/drawing/2014/main" id="{4F0665BA-DAD6-43E6-2839-474CA07A8B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3062" t="38285" r="65978" b="12274"/>
          <a:stretch/>
        </p:blipFill>
        <p:spPr>
          <a:xfrm>
            <a:off x="0" y="2558357"/>
            <a:ext cx="1699592" cy="3006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1245637" y="1036530"/>
                <a:ext cx="6242178" cy="1171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7" y="1036530"/>
                <a:ext cx="6242178" cy="1171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/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F1C30EF-65DF-E024-9640-A44BF008BC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7" y="5594918"/>
                <a:ext cx="955967" cy="461665"/>
              </a:xfrm>
              <a:prstGeom prst="rect">
                <a:avLst/>
              </a:prstGeom>
              <a:blipFill>
                <a:blip r:embed="rId7"/>
                <a:stretch>
                  <a:fillRect r="-2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/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3A3F395-EA6D-C30A-C3EC-48C59396D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2081804"/>
                <a:ext cx="970201" cy="461665"/>
              </a:xfrm>
              <a:prstGeom prst="rect">
                <a:avLst/>
              </a:prstGeom>
              <a:blipFill>
                <a:blip r:embed="rId8"/>
                <a:stretch>
                  <a:fillRect r="-2075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0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pole parameters for vibrations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/>
              <p:nvPr/>
            </p:nvSpPr>
            <p:spPr>
              <a:xfrm>
                <a:off x="2508466" y="1194055"/>
                <a:ext cx="6242178" cy="1170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963E95-AB51-BAA3-6954-78F4EFD0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466" y="1194055"/>
                <a:ext cx="6242178" cy="11702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D1CADC-C28D-D6C5-DD05-091866AD0C8D}"/>
                  </a:ext>
                </a:extLst>
              </p:cNvPr>
              <p:cNvSpPr/>
              <p:nvPr/>
            </p:nvSpPr>
            <p:spPr>
              <a:xfrm>
                <a:off x="334697" y="6056583"/>
                <a:ext cx="955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D1CADC-C28D-D6C5-DD05-091866AD0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97" y="6056583"/>
                <a:ext cx="955967" cy="461665"/>
              </a:xfrm>
              <a:prstGeom prst="rect">
                <a:avLst/>
              </a:prstGeom>
              <a:blipFill>
                <a:blip r:embed="rId5"/>
                <a:stretch>
                  <a:fillRect r="-2165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E792F62-2ADC-A3AF-48B2-BD196861D865}"/>
                  </a:ext>
                </a:extLst>
              </p:cNvPr>
              <p:cNvSpPr/>
              <p:nvPr/>
            </p:nvSpPr>
            <p:spPr>
              <a:xfrm>
                <a:off x="473012" y="1872926"/>
                <a:ext cx="970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E792F62-2ADC-A3AF-48B2-BD196861D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12" y="1872926"/>
                <a:ext cx="970201" cy="461665"/>
              </a:xfrm>
              <a:prstGeom prst="rect">
                <a:avLst/>
              </a:prstGeom>
              <a:blipFill>
                <a:blip r:embed="rId6"/>
                <a:stretch>
                  <a:fillRect r="-20755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noTopSpring">
            <a:hlinkClick r:id="" action="ppaction://media"/>
            <a:extLst>
              <a:ext uri="{FF2B5EF4-FFF2-40B4-BE49-F238E27FC236}">
                <a16:creationId xmlns:a16="http://schemas.microsoft.com/office/drawing/2014/main" id="{453684A9-FE5A-005F-A32C-20B9B2AB22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l="12593" t="36586" r="65346" b="10561"/>
          <a:stretch/>
        </p:blipFill>
        <p:spPr>
          <a:xfrm>
            <a:off x="69574" y="2418477"/>
            <a:ext cx="1987826" cy="35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20F6-5423-A7D1-3CF2-8E4322B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90AF-67E0-D7F8-8B2D-9A7158C4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four-pole parameters for unknown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B50C-4E8A-ADF5-A31F-C837B225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B8514-D1BC-6507-BB90-1A69281B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60025-9E3D-6914-6166-932F51EFD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48" t="17967" r="13901" b="22282"/>
          <a:stretch/>
        </p:blipFill>
        <p:spPr>
          <a:xfrm>
            <a:off x="642441" y="1047169"/>
            <a:ext cx="4282468" cy="1273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90DBEB-B4A3-6FE7-7A49-39DAA6EF5D52}"/>
                  </a:ext>
                </a:extLst>
              </p:cNvPr>
              <p:cNvSpPr txBox="1"/>
              <p:nvPr/>
            </p:nvSpPr>
            <p:spPr>
              <a:xfrm>
                <a:off x="877898" y="2782669"/>
                <a:ext cx="2518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90DBEB-B4A3-6FE7-7A49-39DAA6EF5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98" y="2782669"/>
                <a:ext cx="251844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24B778-5E1F-1D5C-2AC6-A1C133D0C326}"/>
                  </a:ext>
                </a:extLst>
              </p:cNvPr>
              <p:cNvSpPr txBox="1"/>
              <p:nvPr/>
            </p:nvSpPr>
            <p:spPr>
              <a:xfrm>
                <a:off x="-1237959" y="4072901"/>
                <a:ext cx="6162868" cy="14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24B778-5E1F-1D5C-2AC6-A1C133D0C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7959" y="4072901"/>
                <a:ext cx="6162868" cy="14740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B3BF1-320B-2560-9014-0C4A865794C5}"/>
                  </a:ext>
                </a:extLst>
              </p:cNvPr>
              <p:cNvSpPr txBox="1"/>
              <p:nvPr/>
            </p:nvSpPr>
            <p:spPr>
              <a:xfrm>
                <a:off x="1156996" y="4072901"/>
                <a:ext cx="6718040" cy="1474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B3BF1-320B-2560-9014-0C4A86579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6" y="4072901"/>
                <a:ext cx="6718040" cy="14740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95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02F8-4381-6F87-E445-534179E5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9643-87BE-1D81-1D9D-759A08E3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four-pole parameters for unknown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0A0C2-E476-14CF-333B-F93EBC17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1E94B-FEFF-39E9-028E-7C0E190B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66456-722C-0126-F951-C9ED98812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12" y="824262"/>
            <a:ext cx="4627008" cy="1817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4B3A59-FDD4-6C4F-32AB-2309EB9B9CC4}"/>
                  </a:ext>
                </a:extLst>
              </p:cNvPr>
              <p:cNvSpPr txBox="1"/>
              <p:nvPr/>
            </p:nvSpPr>
            <p:spPr>
              <a:xfrm>
                <a:off x="1276870" y="4634829"/>
                <a:ext cx="4498910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blocked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free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4B3A59-FDD4-6C4F-32AB-2309EB9B9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70" y="4634829"/>
                <a:ext cx="4498910" cy="1060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E0B1C9-4B21-CB0E-9907-F4309C046F36}"/>
              </a:ext>
            </a:extLst>
          </p:cNvPr>
          <p:cNvSpPr txBox="1"/>
          <p:nvPr/>
        </p:nvSpPr>
        <p:spPr>
          <a:xfrm>
            <a:off x="666282" y="2910660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E9A0E7-D25A-8AC3-B916-976EBB619664}"/>
              </a:ext>
            </a:extLst>
          </p:cNvPr>
          <p:cNvCxnSpPr/>
          <p:nvPr/>
        </p:nvCxnSpPr>
        <p:spPr>
          <a:xfrm>
            <a:off x="121042" y="4080116"/>
            <a:ext cx="3175000" cy="0"/>
          </a:xfrm>
          <a:prstGeom prst="line">
            <a:avLst/>
          </a:prstGeom>
          <a:ln w="381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49A54E-438C-DB8A-2F1A-402BCA9A9B3B}"/>
              </a:ext>
            </a:extLst>
          </p:cNvPr>
          <p:cNvSpPr txBox="1"/>
          <p:nvPr/>
        </p:nvSpPr>
        <p:spPr>
          <a:xfrm>
            <a:off x="4095069" y="2899965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</p:spTree>
    <p:extLst>
      <p:ext uri="{BB962C8B-B14F-4D97-AF65-F5344CB8AC3E}">
        <p14:creationId xmlns:p14="http://schemas.microsoft.com/office/powerpoint/2010/main" val="3020036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E56-7443-40A5-B21B-363221D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69F3-CE09-4E59-9E5A-2EFE6612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10" y="1075981"/>
            <a:ext cx="7498493" cy="5497814"/>
          </a:xfrm>
        </p:spPr>
        <p:txBody>
          <a:bodyPr/>
          <a:lstStyle/>
          <a:p>
            <a:r>
              <a:rPr lang="en-US" dirty="0"/>
              <a:t>A machine in a factory is shaking the floor and disrupting other work. Design an isolation mount to reduce the vibration of the floor.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0C012F-6243-48D8-952C-FBE09FC50957}"/>
              </a:ext>
            </a:extLst>
          </p:cNvPr>
          <p:cNvCxnSpPr/>
          <p:nvPr/>
        </p:nvCxnSpPr>
        <p:spPr>
          <a:xfrm>
            <a:off x="3795685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6E4EEA-9D61-42CA-8178-D8C2012A03C8}"/>
              </a:ext>
            </a:extLst>
          </p:cNvPr>
          <p:cNvSpPr txBox="1"/>
          <p:nvPr/>
        </p:nvSpPr>
        <p:spPr>
          <a:xfrm>
            <a:off x="4325138" y="2336083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77D22B-1780-49EF-883B-C43BD1705959}"/>
              </a:ext>
            </a:extLst>
          </p:cNvPr>
          <p:cNvCxnSpPr/>
          <p:nvPr/>
        </p:nvCxnSpPr>
        <p:spPr>
          <a:xfrm>
            <a:off x="459531" y="3964160"/>
            <a:ext cx="31750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A224EE-B8D5-47F4-853F-E88793999EAF}"/>
              </a:ext>
            </a:extLst>
          </p:cNvPr>
          <p:cNvSpPr txBox="1"/>
          <p:nvPr/>
        </p:nvSpPr>
        <p:spPr>
          <a:xfrm>
            <a:off x="988983" y="2920858"/>
            <a:ext cx="2116095" cy="10058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C0172-19BE-4C37-87F3-5C8B1C6B5DA3}"/>
              </a:ext>
            </a:extLst>
          </p:cNvPr>
          <p:cNvSpPr txBox="1"/>
          <p:nvPr/>
        </p:nvSpPr>
        <p:spPr>
          <a:xfrm>
            <a:off x="4653106" y="3341923"/>
            <a:ext cx="146015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Mount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B39A-265B-C0DE-3123-1EB690F6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</p:spTree>
    <p:extLst>
      <p:ext uri="{BB962C8B-B14F-4D97-AF65-F5344CB8AC3E}">
        <p14:creationId xmlns:p14="http://schemas.microsoft.com/office/powerpoint/2010/main" val="1720986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48A8-CA6A-9218-D182-452587BB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D11E-7FD9-72ED-3E17-605361A2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mounting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E9BE9-4E8A-73D5-16C4-E0DC9F54A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410" y="1075981"/>
                <a:ext cx="7498493" cy="5497814"/>
              </a:xfrm>
            </p:spPr>
            <p:txBody>
              <a:bodyPr/>
              <a:lstStyle/>
              <a:p>
                <a:r>
                  <a:rPr lang="en-US" dirty="0"/>
                  <a:t>Measure blocked force and free velocity of machine</a:t>
                </a:r>
              </a:p>
              <a:p>
                <a:r>
                  <a:rPr lang="en-US" dirty="0"/>
                  <a:t>Model four-pole parameters of mount</a:t>
                </a:r>
              </a:p>
              <a:p>
                <a:r>
                  <a:rPr lang="en-US" dirty="0"/>
                  <a:t>Measure parameters of floor</a:t>
                </a:r>
              </a:p>
              <a:p>
                <a:pPr lvl="1"/>
                <a:r>
                  <a:rPr lang="en-US" dirty="0"/>
                  <a:t>Excite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 shaker or instrumented hammer</a:t>
                </a:r>
              </a:p>
              <a:p>
                <a:pPr lvl="1"/>
                <a:r>
                  <a:rPr lang="en-US" dirty="0"/>
                  <a:t>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accelerometers</a:t>
                </a:r>
              </a:p>
              <a:p>
                <a:pPr lvl="1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if nobody is standing on it.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E9BE9-4E8A-73D5-16C4-E0DC9F54A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10" y="1075981"/>
                <a:ext cx="7498493" cy="5497814"/>
              </a:xfrm>
              <a:blipFill>
                <a:blip r:embed="rId2"/>
                <a:stretch>
                  <a:fillRect l="-1463" t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093DA-9648-36DD-E20A-9418C99A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Shock and four-pole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69237-455E-6FFF-397B-552C98C919DE}"/>
                  </a:ext>
                </a:extLst>
              </p:cNvPr>
              <p:cNvSpPr txBox="1"/>
              <p:nvPr/>
            </p:nvSpPr>
            <p:spPr>
              <a:xfrm>
                <a:off x="1418211" y="4555485"/>
                <a:ext cx="25184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69237-455E-6FFF-397B-552C98C91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11" y="4555485"/>
                <a:ext cx="251844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90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23074</TotalTime>
  <Words>704</Words>
  <Application>Microsoft Office PowerPoint</Application>
  <PresentationFormat>Widescreen</PresentationFormat>
  <Paragraphs>187</Paragraphs>
  <Slides>23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Atkinson Hyperlegible</vt:lpstr>
      <vt:lpstr>Cambria Math</vt:lpstr>
      <vt:lpstr>Arial</vt:lpstr>
      <vt:lpstr>Calibri</vt:lpstr>
      <vt:lpstr>Office Theme</vt:lpstr>
      <vt:lpstr>Vibration isolation</vt:lpstr>
      <vt:lpstr>Shock</vt:lpstr>
      <vt:lpstr>Shock testing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Shock response spectrum</vt:lpstr>
      <vt:lpstr>Building up complex systems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Four pole parameters for vibrations</vt:lpstr>
      <vt:lpstr>Measuring four-pole parameters for unknown components</vt:lpstr>
      <vt:lpstr>Measuring four-pole parameters for unknown components</vt:lpstr>
      <vt:lpstr>Designing a mounting system</vt:lpstr>
      <vt:lpstr>Designing a mounting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Tyler Dare</cp:lastModifiedBy>
  <cp:revision>153</cp:revision>
  <dcterms:created xsi:type="dcterms:W3CDTF">2025-01-05T23:36:15Z</dcterms:created>
  <dcterms:modified xsi:type="dcterms:W3CDTF">2025-03-19T01:10:31Z</dcterms:modified>
</cp:coreProperties>
</file>