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423" r:id="rId2"/>
    <p:sldId id="431" r:id="rId3"/>
    <p:sldId id="425" r:id="rId4"/>
    <p:sldId id="432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9" r:id="rId21"/>
    <p:sldId id="451" r:id="rId22"/>
    <p:sldId id="450" r:id="rId23"/>
    <p:sldId id="452" r:id="rId24"/>
    <p:sldId id="453" r:id="rId25"/>
    <p:sldId id="45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F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1949" autoAdjust="0"/>
  </p:normalViewPr>
  <p:slideViewPr>
    <p:cSldViewPr snapToGrid="0">
      <p:cViewPr varScale="1">
        <p:scale>
          <a:sx n="103" d="100"/>
          <a:sy n="103" d="100"/>
        </p:scale>
        <p:origin x="654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7B58D-1DE9-43B8-93DE-2A59C20AB6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1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7B58D-1DE9-43B8-93DE-2A59C20AB6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1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/>
              <a:t>Propellers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outube.com/watch?v=YAl9PR6U63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974FEC-3E8C-875C-7580-288995F595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22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Rotating machinery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Propellers</a:t>
            </a:r>
          </a:p>
        </p:txBody>
      </p:sp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72CB-23BE-C62A-C28E-2F8FC112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E2F9-CBF2-CA19-1A57-3C5E6808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a quiet submarine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0AAE9-643E-A668-377F-992ADBF8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D4077-CE2F-9C6B-9073-2B5D7C84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774" y="70518"/>
            <a:ext cx="4191348" cy="223414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9A6090-CD85-B2B6-BDEA-00AAF8CF1F4C}"/>
              </a:ext>
            </a:extLst>
          </p:cNvPr>
          <p:cNvCxnSpPr/>
          <p:nvPr/>
        </p:nvCxnSpPr>
        <p:spPr>
          <a:xfrm>
            <a:off x="898094" y="6124431"/>
            <a:ext cx="75065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1A92A8-786F-D5FB-9573-204515A83B59}"/>
              </a:ext>
            </a:extLst>
          </p:cNvPr>
          <p:cNvCxnSpPr/>
          <p:nvPr/>
        </p:nvCxnSpPr>
        <p:spPr>
          <a:xfrm flipV="1">
            <a:off x="3236137" y="6017802"/>
            <a:ext cx="0" cy="263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06B2A9-9C02-428D-01AB-9D55DCAF0227}"/>
              </a:ext>
            </a:extLst>
          </p:cNvPr>
          <p:cNvCxnSpPr/>
          <p:nvPr/>
        </p:nvCxnSpPr>
        <p:spPr>
          <a:xfrm flipV="1">
            <a:off x="5417640" y="6017802"/>
            <a:ext cx="0" cy="263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ADA46E-F273-BE24-2CED-3BEF50E1F6D1}"/>
              </a:ext>
            </a:extLst>
          </p:cNvPr>
          <p:cNvCxnSpPr/>
          <p:nvPr/>
        </p:nvCxnSpPr>
        <p:spPr>
          <a:xfrm flipV="1">
            <a:off x="7694934" y="6017802"/>
            <a:ext cx="0" cy="263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B9DDED-EA3A-6923-2233-6E046CFCDF5B}"/>
              </a:ext>
            </a:extLst>
          </p:cNvPr>
          <p:cNvCxnSpPr/>
          <p:nvPr/>
        </p:nvCxnSpPr>
        <p:spPr>
          <a:xfrm flipV="1">
            <a:off x="972572" y="1402079"/>
            <a:ext cx="1" cy="48615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1CEB25-1574-4226-442A-43951476B0B6}"/>
              </a:ext>
            </a:extLst>
          </p:cNvPr>
          <p:cNvCxnSpPr/>
          <p:nvPr/>
        </p:nvCxnSpPr>
        <p:spPr>
          <a:xfrm flipH="1" flipV="1">
            <a:off x="897708" y="5695951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5BD2FC-8FFB-3879-8113-0D4269F69615}"/>
              </a:ext>
            </a:extLst>
          </p:cNvPr>
          <p:cNvCxnSpPr/>
          <p:nvPr/>
        </p:nvCxnSpPr>
        <p:spPr>
          <a:xfrm flipH="1" flipV="1">
            <a:off x="897708" y="5248272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0CC176-CEF1-353B-9D38-AF9A6A9C77F8}"/>
              </a:ext>
            </a:extLst>
          </p:cNvPr>
          <p:cNvCxnSpPr/>
          <p:nvPr/>
        </p:nvCxnSpPr>
        <p:spPr>
          <a:xfrm flipH="1" flipV="1">
            <a:off x="897708" y="4801677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4F50FF-F738-4635-233F-2C9A5B7E1EC9}"/>
              </a:ext>
            </a:extLst>
          </p:cNvPr>
          <p:cNvCxnSpPr/>
          <p:nvPr/>
        </p:nvCxnSpPr>
        <p:spPr>
          <a:xfrm flipH="1" flipV="1">
            <a:off x="897708" y="4356655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D14331-4E80-45B0-2E18-6889812ED786}"/>
              </a:ext>
            </a:extLst>
          </p:cNvPr>
          <p:cNvCxnSpPr/>
          <p:nvPr/>
        </p:nvCxnSpPr>
        <p:spPr>
          <a:xfrm flipH="1" flipV="1">
            <a:off x="897708" y="3910060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9D7FE1-0373-8EDA-297F-998DEEF2F0AD}"/>
              </a:ext>
            </a:extLst>
          </p:cNvPr>
          <p:cNvCxnSpPr/>
          <p:nvPr/>
        </p:nvCxnSpPr>
        <p:spPr>
          <a:xfrm flipH="1" flipV="1">
            <a:off x="897708" y="1687364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CDAC41-9906-1D2D-B4C8-7BD73C8DD08B}"/>
              </a:ext>
            </a:extLst>
          </p:cNvPr>
          <p:cNvCxnSpPr/>
          <p:nvPr/>
        </p:nvCxnSpPr>
        <p:spPr>
          <a:xfrm flipH="1" flipV="1">
            <a:off x="897708" y="3462141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671588-5B88-72AC-87C4-B15F63C42035}"/>
              </a:ext>
            </a:extLst>
          </p:cNvPr>
          <p:cNvCxnSpPr/>
          <p:nvPr/>
        </p:nvCxnSpPr>
        <p:spPr>
          <a:xfrm flipH="1" flipV="1">
            <a:off x="897708" y="3015546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80FA9F-CA7F-91CE-BD16-B907CB070EEA}"/>
              </a:ext>
            </a:extLst>
          </p:cNvPr>
          <p:cNvCxnSpPr/>
          <p:nvPr/>
        </p:nvCxnSpPr>
        <p:spPr>
          <a:xfrm flipH="1" flipV="1">
            <a:off x="897708" y="2570524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A6B630-F965-B8A0-489A-1A6A39512D57}"/>
              </a:ext>
            </a:extLst>
          </p:cNvPr>
          <p:cNvCxnSpPr/>
          <p:nvPr/>
        </p:nvCxnSpPr>
        <p:spPr>
          <a:xfrm flipH="1" flipV="1">
            <a:off x="897708" y="2123929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543964-E943-E6E8-AA1E-C0759B116DD1}"/>
              </a:ext>
            </a:extLst>
          </p:cNvPr>
          <p:cNvSpPr txBox="1"/>
          <p:nvPr/>
        </p:nvSpPr>
        <p:spPr>
          <a:xfrm>
            <a:off x="3597808" y="6219697"/>
            <a:ext cx="1551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Log (Frequency)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81381D-5DFA-CB39-32D2-2F40BBCA599C}"/>
              </a:ext>
            </a:extLst>
          </p:cNvPr>
          <p:cNvSpPr txBox="1"/>
          <p:nvPr/>
        </p:nvSpPr>
        <p:spPr>
          <a:xfrm rot="16200000">
            <a:off x="53898" y="3598341"/>
            <a:ext cx="991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SPL, dB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DEB91F-A33F-9450-3FFA-E6AF9D470CAF}"/>
              </a:ext>
            </a:extLst>
          </p:cNvPr>
          <p:cNvSpPr txBox="1"/>
          <p:nvPr/>
        </p:nvSpPr>
        <p:spPr>
          <a:xfrm>
            <a:off x="2743200" y="4181569"/>
            <a:ext cx="207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Rotor Inflow Turbulence Interacting with Rotor 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4803A4-6500-240D-8428-827C52500980}"/>
              </a:ext>
            </a:extLst>
          </p:cNvPr>
          <p:cNvSpPr txBox="1"/>
          <p:nvPr/>
        </p:nvSpPr>
        <p:spPr>
          <a:xfrm>
            <a:off x="1099112" y="4802788"/>
            <a:ext cx="1911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Dominant Sources of Rotor Excitation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(curves represent direct radiation – proportional to force)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11D73A-76F5-8A83-7F9E-4A9A98E0FC11}"/>
              </a:ext>
            </a:extLst>
          </p:cNvPr>
          <p:cNvCxnSpPr/>
          <p:nvPr/>
        </p:nvCxnSpPr>
        <p:spPr>
          <a:xfrm flipV="1">
            <a:off x="2752687" y="4813256"/>
            <a:ext cx="244949" cy="198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D8C940-5380-71B6-0CE1-99F957F7B233}"/>
              </a:ext>
            </a:extLst>
          </p:cNvPr>
          <p:cNvCxnSpPr/>
          <p:nvPr/>
        </p:nvCxnSpPr>
        <p:spPr>
          <a:xfrm flipV="1">
            <a:off x="4521901" y="4275979"/>
            <a:ext cx="414292" cy="1431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120">
            <a:extLst>
              <a:ext uri="{FF2B5EF4-FFF2-40B4-BE49-F238E27FC236}">
                <a16:creationId xmlns:a16="http://schemas.microsoft.com/office/drawing/2014/main" id="{8FD96420-EA57-DFF1-5661-91ED38B44019}"/>
              </a:ext>
            </a:extLst>
          </p:cNvPr>
          <p:cNvSpPr/>
          <p:nvPr/>
        </p:nvSpPr>
        <p:spPr>
          <a:xfrm>
            <a:off x="1510748" y="3228935"/>
            <a:ext cx="4114800" cy="1869839"/>
          </a:xfrm>
          <a:custGeom>
            <a:avLst/>
            <a:gdLst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28665 h 1869839"/>
              <a:gd name="connsiteX1" fmla="*/ 1103243 w 4114800"/>
              <a:gd name="connsiteY1" fmla="*/ 1282 h 1869839"/>
              <a:gd name="connsiteX2" fmla="*/ 2524539 w 4114800"/>
              <a:gd name="connsiteY2" fmla="*/ 329274 h 1869839"/>
              <a:gd name="connsiteX3" fmla="*/ 3687417 w 4114800"/>
              <a:gd name="connsiteY3" fmla="*/ 1193978 h 1869839"/>
              <a:gd name="connsiteX4" fmla="*/ 4114800 w 4114800"/>
              <a:gd name="connsiteY4" fmla="*/ 1869839 h 186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4800" h="1869839">
                <a:moveTo>
                  <a:pt x="0" y="428665"/>
                </a:moveTo>
                <a:cubicBezTo>
                  <a:pt x="341243" y="228226"/>
                  <a:pt x="682487" y="17847"/>
                  <a:pt x="1103243" y="1282"/>
                </a:cubicBezTo>
                <a:cubicBezTo>
                  <a:pt x="1523999" y="-15283"/>
                  <a:pt x="2093843" y="130491"/>
                  <a:pt x="2524539" y="329274"/>
                </a:cubicBezTo>
                <a:cubicBezTo>
                  <a:pt x="2955235" y="528057"/>
                  <a:pt x="3462130" y="927278"/>
                  <a:pt x="3687417" y="1193978"/>
                </a:cubicBezTo>
                <a:cubicBezTo>
                  <a:pt x="3912704" y="1460678"/>
                  <a:pt x="4033630" y="1660289"/>
                  <a:pt x="4114800" y="186983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C5C426-03CE-8A50-21F1-5A61217B7852}"/>
              </a:ext>
            </a:extLst>
          </p:cNvPr>
          <p:cNvSpPr txBox="1"/>
          <p:nvPr/>
        </p:nvSpPr>
        <p:spPr>
          <a:xfrm>
            <a:off x="3507075" y="5172612"/>
            <a:ext cx="25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Blade Boundary Layer Turbulence Interacting with Rotor Blade TE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65D205-DAF0-0548-725C-1321D8BAD4B3}"/>
              </a:ext>
            </a:extLst>
          </p:cNvPr>
          <p:cNvCxnSpPr/>
          <p:nvPr/>
        </p:nvCxnSpPr>
        <p:spPr>
          <a:xfrm>
            <a:off x="2752687" y="5009647"/>
            <a:ext cx="438936" cy="170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125461-0F35-E982-A141-FAB070975DEF}"/>
              </a:ext>
            </a:extLst>
          </p:cNvPr>
          <p:cNvCxnSpPr/>
          <p:nvPr/>
        </p:nvCxnSpPr>
        <p:spPr>
          <a:xfrm flipV="1">
            <a:off x="5631807" y="5079693"/>
            <a:ext cx="414292" cy="1431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124">
            <a:extLst>
              <a:ext uri="{FF2B5EF4-FFF2-40B4-BE49-F238E27FC236}">
                <a16:creationId xmlns:a16="http://schemas.microsoft.com/office/drawing/2014/main" id="{1AD21C09-2C1A-0548-E655-3A248B1E07AC}"/>
              </a:ext>
            </a:extLst>
          </p:cNvPr>
          <p:cNvSpPr/>
          <p:nvPr/>
        </p:nvSpPr>
        <p:spPr>
          <a:xfrm>
            <a:off x="3419061" y="4659504"/>
            <a:ext cx="4005469" cy="1373548"/>
          </a:xfrm>
          <a:custGeom>
            <a:avLst/>
            <a:gdLst>
              <a:gd name="connsiteX0" fmla="*/ 0 w 4005469"/>
              <a:gd name="connsiteY0" fmla="*/ 468665 h 1353247"/>
              <a:gd name="connsiteX1" fmla="*/ 1282148 w 4005469"/>
              <a:gd name="connsiteY1" fmla="*/ 1525 h 1353247"/>
              <a:gd name="connsiteX2" fmla="*/ 3041374 w 4005469"/>
              <a:gd name="connsiteY2" fmla="*/ 607812 h 1353247"/>
              <a:gd name="connsiteX3" fmla="*/ 4005469 w 4005469"/>
              <a:gd name="connsiteY3" fmla="*/ 1353247 h 1353247"/>
              <a:gd name="connsiteX0" fmla="*/ 0 w 4005469"/>
              <a:gd name="connsiteY0" fmla="*/ 488438 h 1373020"/>
              <a:gd name="connsiteX1" fmla="*/ 1451113 w 4005469"/>
              <a:gd name="connsiteY1" fmla="*/ 1420 h 1373020"/>
              <a:gd name="connsiteX2" fmla="*/ 3041374 w 4005469"/>
              <a:gd name="connsiteY2" fmla="*/ 627585 h 1373020"/>
              <a:gd name="connsiteX3" fmla="*/ 4005469 w 4005469"/>
              <a:gd name="connsiteY3" fmla="*/ 1373020 h 1373020"/>
              <a:gd name="connsiteX0" fmla="*/ 0 w 4005469"/>
              <a:gd name="connsiteY0" fmla="*/ 488438 h 1373020"/>
              <a:gd name="connsiteX1" fmla="*/ 1451113 w 4005469"/>
              <a:gd name="connsiteY1" fmla="*/ 1420 h 1373020"/>
              <a:gd name="connsiteX2" fmla="*/ 3041374 w 4005469"/>
              <a:gd name="connsiteY2" fmla="*/ 627585 h 1373020"/>
              <a:gd name="connsiteX3" fmla="*/ 4005469 w 4005469"/>
              <a:gd name="connsiteY3" fmla="*/ 1373020 h 1373020"/>
              <a:gd name="connsiteX0" fmla="*/ 0 w 4005469"/>
              <a:gd name="connsiteY0" fmla="*/ 488438 h 1373020"/>
              <a:gd name="connsiteX1" fmla="*/ 1451113 w 4005469"/>
              <a:gd name="connsiteY1" fmla="*/ 1420 h 1373020"/>
              <a:gd name="connsiteX2" fmla="*/ 3041374 w 4005469"/>
              <a:gd name="connsiteY2" fmla="*/ 627585 h 1373020"/>
              <a:gd name="connsiteX3" fmla="*/ 4005469 w 4005469"/>
              <a:gd name="connsiteY3" fmla="*/ 1373020 h 1373020"/>
              <a:gd name="connsiteX0" fmla="*/ 0 w 3985591"/>
              <a:gd name="connsiteY0" fmla="*/ 478749 h 1373270"/>
              <a:gd name="connsiteX1" fmla="*/ 1431235 w 3985591"/>
              <a:gd name="connsiteY1" fmla="*/ 1670 h 1373270"/>
              <a:gd name="connsiteX2" fmla="*/ 3021496 w 3985591"/>
              <a:gd name="connsiteY2" fmla="*/ 627835 h 1373270"/>
              <a:gd name="connsiteX3" fmla="*/ 3985591 w 3985591"/>
              <a:gd name="connsiteY3" fmla="*/ 1373270 h 1373270"/>
              <a:gd name="connsiteX0" fmla="*/ 0 w 3985591"/>
              <a:gd name="connsiteY0" fmla="*/ 469088 h 1373548"/>
              <a:gd name="connsiteX1" fmla="*/ 1431235 w 3985591"/>
              <a:gd name="connsiteY1" fmla="*/ 1948 h 1373548"/>
              <a:gd name="connsiteX2" fmla="*/ 3021496 w 3985591"/>
              <a:gd name="connsiteY2" fmla="*/ 628113 h 1373548"/>
              <a:gd name="connsiteX3" fmla="*/ 3985591 w 3985591"/>
              <a:gd name="connsiteY3" fmla="*/ 1373548 h 1373548"/>
              <a:gd name="connsiteX0" fmla="*/ 0 w 4005469"/>
              <a:gd name="connsiteY0" fmla="*/ 469088 h 1373548"/>
              <a:gd name="connsiteX1" fmla="*/ 1451113 w 4005469"/>
              <a:gd name="connsiteY1" fmla="*/ 1948 h 1373548"/>
              <a:gd name="connsiteX2" fmla="*/ 3041374 w 4005469"/>
              <a:gd name="connsiteY2" fmla="*/ 628113 h 1373548"/>
              <a:gd name="connsiteX3" fmla="*/ 4005469 w 4005469"/>
              <a:gd name="connsiteY3" fmla="*/ 1373548 h 1373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5469" h="1373548">
                <a:moveTo>
                  <a:pt x="0" y="469088"/>
                </a:moveTo>
                <a:cubicBezTo>
                  <a:pt x="387626" y="223922"/>
                  <a:pt x="944217" y="-24556"/>
                  <a:pt x="1451113" y="1948"/>
                </a:cubicBezTo>
                <a:cubicBezTo>
                  <a:pt x="1958009" y="28452"/>
                  <a:pt x="2625587" y="369695"/>
                  <a:pt x="3041374" y="628113"/>
                </a:cubicBezTo>
                <a:cubicBezTo>
                  <a:pt x="3457161" y="886531"/>
                  <a:pt x="3750365" y="1113474"/>
                  <a:pt x="4005469" y="1373548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0360C1-BCCF-0722-121A-8156CB62718B}"/>
              </a:ext>
            </a:extLst>
          </p:cNvPr>
          <p:cNvCxnSpPr/>
          <p:nvPr/>
        </p:nvCxnSpPr>
        <p:spPr>
          <a:xfrm flipV="1">
            <a:off x="2495550" y="2950000"/>
            <a:ext cx="1821" cy="278935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485740-6013-B445-0513-7C099CAE91BE}"/>
              </a:ext>
            </a:extLst>
          </p:cNvPr>
          <p:cNvCxnSpPr/>
          <p:nvPr/>
        </p:nvCxnSpPr>
        <p:spPr>
          <a:xfrm flipV="1">
            <a:off x="2714167" y="2833007"/>
            <a:ext cx="1819" cy="381765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2C79BA-767E-588F-E575-F10C3DF6AB62}"/>
              </a:ext>
            </a:extLst>
          </p:cNvPr>
          <p:cNvCxnSpPr/>
          <p:nvPr/>
        </p:nvCxnSpPr>
        <p:spPr>
          <a:xfrm flipV="1">
            <a:off x="2160113" y="2688647"/>
            <a:ext cx="0" cy="619735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0C4151-E7F9-6675-F909-FD0BAB580073}"/>
              </a:ext>
            </a:extLst>
          </p:cNvPr>
          <p:cNvCxnSpPr/>
          <p:nvPr/>
        </p:nvCxnSpPr>
        <p:spPr>
          <a:xfrm flipH="1" flipV="1">
            <a:off x="1690689" y="2998514"/>
            <a:ext cx="2665" cy="547851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49BF6C1-230F-58FF-F34C-E2B1CD8BF3AB}"/>
              </a:ext>
            </a:extLst>
          </p:cNvPr>
          <p:cNvCxnSpPr/>
          <p:nvPr/>
        </p:nvCxnSpPr>
        <p:spPr>
          <a:xfrm flipV="1">
            <a:off x="2889306" y="3132136"/>
            <a:ext cx="1848" cy="92502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D84DCE-4331-D5D0-061B-5AF153BE787A}"/>
              </a:ext>
            </a:extLst>
          </p:cNvPr>
          <p:cNvSpPr txBox="1"/>
          <p:nvPr/>
        </p:nvSpPr>
        <p:spPr>
          <a:xfrm>
            <a:off x="1477619" y="3620203"/>
            <a:ext cx="2560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Rotor Spatial Inflow Distortions Generating Rotor Unsteady Lift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F4BC659-BB93-9843-1EC7-3531BED2CAC6}"/>
              </a:ext>
            </a:extLst>
          </p:cNvPr>
          <p:cNvCxnSpPr/>
          <p:nvPr/>
        </p:nvCxnSpPr>
        <p:spPr>
          <a:xfrm flipH="1" flipV="1">
            <a:off x="2599705" y="4576555"/>
            <a:ext cx="157213" cy="433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329B05-0A32-D032-A541-A3C8F2869B43}"/>
              </a:ext>
            </a:extLst>
          </p:cNvPr>
          <p:cNvCxnSpPr/>
          <p:nvPr/>
        </p:nvCxnSpPr>
        <p:spPr>
          <a:xfrm flipV="1">
            <a:off x="1811912" y="3176771"/>
            <a:ext cx="317923" cy="490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8CA030D-96D9-B517-313E-E1E0411E8130}"/>
              </a:ext>
            </a:extLst>
          </p:cNvPr>
          <p:cNvSpPr txBox="1"/>
          <p:nvPr/>
        </p:nvSpPr>
        <p:spPr>
          <a:xfrm>
            <a:off x="5054234" y="1687189"/>
            <a:ext cx="1896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Dominant Vibrating and Radiating Structures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99D5E2-7C48-7DF4-634C-FD38A4D6A6D4}"/>
              </a:ext>
            </a:extLst>
          </p:cNvPr>
          <p:cNvSpPr txBox="1"/>
          <p:nvPr/>
        </p:nvSpPr>
        <p:spPr>
          <a:xfrm>
            <a:off x="1985691" y="1959733"/>
            <a:ext cx="12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Shell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Frequency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2F774D7-DDB2-A2D4-7F8B-E56127DF110F}"/>
              </a:ext>
            </a:extLst>
          </p:cNvPr>
          <p:cNvCxnSpPr/>
          <p:nvPr/>
        </p:nvCxnSpPr>
        <p:spPr>
          <a:xfrm flipH="1" flipV="1">
            <a:off x="1688439" y="2991114"/>
            <a:ext cx="4389" cy="387157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DE0FD57-2BBC-8EC6-FD0A-AA7FBBDDFF6E}"/>
              </a:ext>
            </a:extLst>
          </p:cNvPr>
          <p:cNvCxnSpPr/>
          <p:nvPr/>
        </p:nvCxnSpPr>
        <p:spPr>
          <a:xfrm flipV="1">
            <a:off x="2160270" y="2673498"/>
            <a:ext cx="1" cy="276501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EA8D89-5AFE-E32D-7BD5-D65D4E18F343}"/>
              </a:ext>
            </a:extLst>
          </p:cNvPr>
          <p:cNvCxnSpPr/>
          <p:nvPr/>
        </p:nvCxnSpPr>
        <p:spPr>
          <a:xfrm flipH="1" flipV="1">
            <a:off x="2716392" y="2821428"/>
            <a:ext cx="139" cy="223567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147B03-0A43-75A8-1FAE-93ECCC17EBC1}"/>
              </a:ext>
            </a:extLst>
          </p:cNvPr>
          <p:cNvCxnSpPr/>
          <p:nvPr/>
        </p:nvCxnSpPr>
        <p:spPr>
          <a:xfrm flipH="1">
            <a:off x="5210176" y="2155869"/>
            <a:ext cx="561974" cy="88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A4069CF-7D4F-C95D-D3F3-9DF1FFF5A2C9}"/>
              </a:ext>
            </a:extLst>
          </p:cNvPr>
          <p:cNvCxnSpPr/>
          <p:nvPr/>
        </p:nvCxnSpPr>
        <p:spPr>
          <a:xfrm flipH="1" flipV="1">
            <a:off x="1500464" y="2392166"/>
            <a:ext cx="2309536" cy="1596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172">
            <a:extLst>
              <a:ext uri="{FF2B5EF4-FFF2-40B4-BE49-F238E27FC236}">
                <a16:creationId xmlns:a16="http://schemas.microsoft.com/office/drawing/2014/main" id="{8C51B578-B192-AFB4-CDF8-6125E7403813}"/>
              </a:ext>
            </a:extLst>
          </p:cNvPr>
          <p:cNvSpPr/>
          <p:nvPr/>
        </p:nvSpPr>
        <p:spPr>
          <a:xfrm>
            <a:off x="1341782" y="2524489"/>
            <a:ext cx="2981739" cy="1689702"/>
          </a:xfrm>
          <a:custGeom>
            <a:avLst/>
            <a:gdLst>
              <a:gd name="connsiteX0" fmla="*/ 0 w 3032010"/>
              <a:gd name="connsiteY0" fmla="*/ 1023768 h 1756259"/>
              <a:gd name="connsiteX1" fmla="*/ 725556 w 3032010"/>
              <a:gd name="connsiteY1" fmla="*/ 566568 h 1756259"/>
              <a:gd name="connsiteX2" fmla="*/ 1003852 w 3032010"/>
              <a:gd name="connsiteY2" fmla="*/ 37 h 1756259"/>
              <a:gd name="connsiteX3" fmla="*/ 1331843 w 3032010"/>
              <a:gd name="connsiteY3" fmla="*/ 536750 h 1756259"/>
              <a:gd name="connsiteX4" fmla="*/ 1570382 w 3032010"/>
              <a:gd name="connsiteY4" fmla="*/ 268394 h 1756259"/>
              <a:gd name="connsiteX5" fmla="*/ 1888434 w 3032010"/>
              <a:gd name="connsiteY5" fmla="*/ 685837 h 1756259"/>
              <a:gd name="connsiteX6" fmla="*/ 2146852 w 3032010"/>
              <a:gd name="connsiteY6" fmla="*/ 506933 h 1756259"/>
              <a:gd name="connsiteX7" fmla="*/ 2713382 w 3032010"/>
              <a:gd name="connsiteY7" fmla="*/ 1152976 h 1756259"/>
              <a:gd name="connsiteX8" fmla="*/ 2981739 w 3032010"/>
              <a:gd name="connsiteY8" fmla="*/ 1689689 h 1756259"/>
              <a:gd name="connsiteX9" fmla="*/ 3031434 w 3032010"/>
              <a:gd name="connsiteY9" fmla="*/ 1729446 h 175625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46852 w 2981739"/>
              <a:gd name="connsiteY6" fmla="*/ 506933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46852 w 2981739"/>
              <a:gd name="connsiteY6" fmla="*/ 506933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76 h 1689697"/>
              <a:gd name="connsiteX1" fmla="*/ 725556 w 2981739"/>
              <a:gd name="connsiteY1" fmla="*/ 566576 h 1689697"/>
              <a:gd name="connsiteX2" fmla="*/ 1003852 w 2981739"/>
              <a:gd name="connsiteY2" fmla="*/ 45 h 1689697"/>
              <a:gd name="connsiteX3" fmla="*/ 1331843 w 2981739"/>
              <a:gd name="connsiteY3" fmla="*/ 536758 h 1689697"/>
              <a:gd name="connsiteX4" fmla="*/ 1570382 w 2981739"/>
              <a:gd name="connsiteY4" fmla="*/ 268402 h 1689697"/>
              <a:gd name="connsiteX5" fmla="*/ 1888434 w 2981739"/>
              <a:gd name="connsiteY5" fmla="*/ 685845 h 1689697"/>
              <a:gd name="connsiteX6" fmla="*/ 2196547 w 2981739"/>
              <a:gd name="connsiteY6" fmla="*/ 497002 h 1689697"/>
              <a:gd name="connsiteX7" fmla="*/ 2713382 w 2981739"/>
              <a:gd name="connsiteY7" fmla="*/ 1152984 h 1689697"/>
              <a:gd name="connsiteX8" fmla="*/ 2981739 w 2981739"/>
              <a:gd name="connsiteY8" fmla="*/ 1689697 h 1689697"/>
              <a:gd name="connsiteX0" fmla="*/ 0 w 2981739"/>
              <a:gd name="connsiteY0" fmla="*/ 1023776 h 1689697"/>
              <a:gd name="connsiteX1" fmla="*/ 725556 w 2981739"/>
              <a:gd name="connsiteY1" fmla="*/ 566576 h 1689697"/>
              <a:gd name="connsiteX2" fmla="*/ 1003852 w 2981739"/>
              <a:gd name="connsiteY2" fmla="*/ 45 h 1689697"/>
              <a:gd name="connsiteX3" fmla="*/ 1331843 w 2981739"/>
              <a:gd name="connsiteY3" fmla="*/ 536758 h 1689697"/>
              <a:gd name="connsiteX4" fmla="*/ 1570382 w 2981739"/>
              <a:gd name="connsiteY4" fmla="*/ 268402 h 1689697"/>
              <a:gd name="connsiteX5" fmla="*/ 1888434 w 2981739"/>
              <a:gd name="connsiteY5" fmla="*/ 685845 h 1689697"/>
              <a:gd name="connsiteX6" fmla="*/ 2196547 w 2981739"/>
              <a:gd name="connsiteY6" fmla="*/ 497002 h 1689697"/>
              <a:gd name="connsiteX7" fmla="*/ 2713382 w 2981739"/>
              <a:gd name="connsiteY7" fmla="*/ 1152984 h 1689697"/>
              <a:gd name="connsiteX8" fmla="*/ 2981739 w 2981739"/>
              <a:gd name="connsiteY8" fmla="*/ 1689697 h 1689697"/>
              <a:gd name="connsiteX0" fmla="*/ 0 w 2981739"/>
              <a:gd name="connsiteY0" fmla="*/ 1023776 h 1689697"/>
              <a:gd name="connsiteX1" fmla="*/ 725556 w 2981739"/>
              <a:gd name="connsiteY1" fmla="*/ 566576 h 1689697"/>
              <a:gd name="connsiteX2" fmla="*/ 1003852 w 2981739"/>
              <a:gd name="connsiteY2" fmla="*/ 45 h 1689697"/>
              <a:gd name="connsiteX3" fmla="*/ 1331843 w 2981739"/>
              <a:gd name="connsiteY3" fmla="*/ 536758 h 1689697"/>
              <a:gd name="connsiteX4" fmla="*/ 1570382 w 2981739"/>
              <a:gd name="connsiteY4" fmla="*/ 268402 h 1689697"/>
              <a:gd name="connsiteX5" fmla="*/ 1888434 w 2981739"/>
              <a:gd name="connsiteY5" fmla="*/ 685845 h 1689697"/>
              <a:gd name="connsiteX6" fmla="*/ 2196547 w 2981739"/>
              <a:gd name="connsiteY6" fmla="*/ 497002 h 1689697"/>
              <a:gd name="connsiteX7" fmla="*/ 2713382 w 2981739"/>
              <a:gd name="connsiteY7" fmla="*/ 1152984 h 1689697"/>
              <a:gd name="connsiteX8" fmla="*/ 2981739 w 2981739"/>
              <a:gd name="connsiteY8" fmla="*/ 1689697 h 1689697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713382 w 2981739"/>
              <a:gd name="connsiteY7" fmla="*/ 1152989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1739" h="1689702">
                <a:moveTo>
                  <a:pt x="0" y="1023781"/>
                </a:moveTo>
                <a:cubicBezTo>
                  <a:pt x="279123" y="880492"/>
                  <a:pt x="528429" y="776960"/>
                  <a:pt x="725556" y="566581"/>
                </a:cubicBezTo>
                <a:cubicBezTo>
                  <a:pt x="922683" y="356202"/>
                  <a:pt x="902804" y="-4919"/>
                  <a:pt x="1003852" y="50"/>
                </a:cubicBezTo>
                <a:cubicBezTo>
                  <a:pt x="1104900" y="5019"/>
                  <a:pt x="1237421" y="531131"/>
                  <a:pt x="1331843" y="536763"/>
                </a:cubicBezTo>
                <a:cubicBezTo>
                  <a:pt x="1426265" y="542395"/>
                  <a:pt x="1476292" y="241792"/>
                  <a:pt x="1570382" y="268407"/>
                </a:cubicBezTo>
                <a:cubicBezTo>
                  <a:pt x="1664472" y="295022"/>
                  <a:pt x="1773030" y="673813"/>
                  <a:pt x="1896385" y="696452"/>
                </a:cubicBezTo>
                <a:cubicBezTo>
                  <a:pt x="2019740" y="719091"/>
                  <a:pt x="2075842" y="468514"/>
                  <a:pt x="2215100" y="515560"/>
                </a:cubicBezTo>
                <a:cubicBezTo>
                  <a:pt x="2354358" y="562606"/>
                  <a:pt x="2564405" y="952661"/>
                  <a:pt x="2684227" y="1153652"/>
                </a:cubicBezTo>
                <a:cubicBezTo>
                  <a:pt x="2804049" y="1354643"/>
                  <a:pt x="2916803" y="1562481"/>
                  <a:pt x="2981739" y="1689702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A3E16E-6311-D832-ABE3-0C8C6974C471}"/>
              </a:ext>
            </a:extLst>
          </p:cNvPr>
          <p:cNvSpPr txBox="1"/>
          <p:nvPr/>
        </p:nvSpPr>
        <p:spPr>
          <a:xfrm>
            <a:off x="4291622" y="2719167"/>
            <a:ext cx="12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Propulsor</a:t>
            </a: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 Frequency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181C0C-08BA-EA98-31A2-0B888613E747}"/>
              </a:ext>
            </a:extLst>
          </p:cNvPr>
          <p:cNvCxnSpPr/>
          <p:nvPr/>
        </p:nvCxnSpPr>
        <p:spPr>
          <a:xfrm flipH="1">
            <a:off x="5486400" y="2171742"/>
            <a:ext cx="265813" cy="378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2A9D7E-F133-1BF1-E8EB-693EF4BA486E}"/>
              </a:ext>
            </a:extLst>
          </p:cNvPr>
          <p:cNvCxnSpPr/>
          <p:nvPr/>
        </p:nvCxnSpPr>
        <p:spPr>
          <a:xfrm flipH="1">
            <a:off x="3906478" y="3178387"/>
            <a:ext cx="198905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176">
            <a:extLst>
              <a:ext uri="{FF2B5EF4-FFF2-40B4-BE49-F238E27FC236}">
                <a16:creationId xmlns:a16="http://schemas.microsoft.com/office/drawing/2014/main" id="{D8A27EDA-313F-2D4B-5BE1-C0C0D7A2A5BC}"/>
              </a:ext>
            </a:extLst>
          </p:cNvPr>
          <p:cNvSpPr/>
          <p:nvPr/>
        </p:nvSpPr>
        <p:spPr>
          <a:xfrm>
            <a:off x="3701845" y="3256532"/>
            <a:ext cx="2610465" cy="2163500"/>
          </a:xfrm>
          <a:custGeom>
            <a:avLst/>
            <a:gdLst>
              <a:gd name="connsiteX0" fmla="*/ 0 w 2610465"/>
              <a:gd name="connsiteY0" fmla="*/ 387443 h 2164623"/>
              <a:gd name="connsiteX1" fmla="*/ 538316 w 2610465"/>
              <a:gd name="connsiteY1" fmla="*/ 3985 h 2164623"/>
              <a:gd name="connsiteX2" fmla="*/ 840658 w 2610465"/>
              <a:gd name="connsiteY2" fmla="*/ 601294 h 2164623"/>
              <a:gd name="connsiteX3" fmla="*/ 1194620 w 2610465"/>
              <a:gd name="connsiteY3" fmla="*/ 431688 h 2164623"/>
              <a:gd name="connsiteX4" fmla="*/ 1622323 w 2610465"/>
              <a:gd name="connsiteY4" fmla="*/ 1124862 h 2164623"/>
              <a:gd name="connsiteX5" fmla="*/ 1946787 w 2610465"/>
              <a:gd name="connsiteY5" fmla="*/ 940507 h 2164623"/>
              <a:gd name="connsiteX6" fmla="*/ 2381865 w 2610465"/>
              <a:gd name="connsiteY6" fmla="*/ 1596810 h 2164623"/>
              <a:gd name="connsiteX7" fmla="*/ 2610465 w 2610465"/>
              <a:gd name="connsiteY7" fmla="*/ 2164623 h 2164623"/>
              <a:gd name="connsiteX0" fmla="*/ 0 w 2610465"/>
              <a:gd name="connsiteY0" fmla="*/ 383805 h 2160985"/>
              <a:gd name="connsiteX1" fmla="*/ 538316 w 2610465"/>
              <a:gd name="connsiteY1" fmla="*/ 347 h 2160985"/>
              <a:gd name="connsiteX2" fmla="*/ 840658 w 2610465"/>
              <a:gd name="connsiteY2" fmla="*/ 597656 h 2160985"/>
              <a:gd name="connsiteX3" fmla="*/ 1194620 w 2610465"/>
              <a:gd name="connsiteY3" fmla="*/ 428050 h 2160985"/>
              <a:gd name="connsiteX4" fmla="*/ 1622323 w 2610465"/>
              <a:gd name="connsiteY4" fmla="*/ 1121224 h 2160985"/>
              <a:gd name="connsiteX5" fmla="*/ 1946787 w 2610465"/>
              <a:gd name="connsiteY5" fmla="*/ 936869 h 2160985"/>
              <a:gd name="connsiteX6" fmla="*/ 2381865 w 2610465"/>
              <a:gd name="connsiteY6" fmla="*/ 1593172 h 2160985"/>
              <a:gd name="connsiteX7" fmla="*/ 2610465 w 2610465"/>
              <a:gd name="connsiteY7" fmla="*/ 2160985 h 2160985"/>
              <a:gd name="connsiteX0" fmla="*/ 0 w 2610465"/>
              <a:gd name="connsiteY0" fmla="*/ 383768 h 2160948"/>
              <a:gd name="connsiteX1" fmla="*/ 538316 w 2610465"/>
              <a:gd name="connsiteY1" fmla="*/ 310 h 2160948"/>
              <a:gd name="connsiteX2" fmla="*/ 840658 w 2610465"/>
              <a:gd name="connsiteY2" fmla="*/ 597619 h 2160948"/>
              <a:gd name="connsiteX3" fmla="*/ 1194620 w 2610465"/>
              <a:gd name="connsiteY3" fmla="*/ 428013 h 2160948"/>
              <a:gd name="connsiteX4" fmla="*/ 1622323 w 2610465"/>
              <a:gd name="connsiteY4" fmla="*/ 1121187 h 2160948"/>
              <a:gd name="connsiteX5" fmla="*/ 1946787 w 2610465"/>
              <a:gd name="connsiteY5" fmla="*/ 936832 h 2160948"/>
              <a:gd name="connsiteX6" fmla="*/ 2381865 w 2610465"/>
              <a:gd name="connsiteY6" fmla="*/ 1593135 h 2160948"/>
              <a:gd name="connsiteX7" fmla="*/ 2610465 w 2610465"/>
              <a:gd name="connsiteY7" fmla="*/ 2160948 h 2160948"/>
              <a:gd name="connsiteX0" fmla="*/ 0 w 2610465"/>
              <a:gd name="connsiteY0" fmla="*/ 383803 h 2160983"/>
              <a:gd name="connsiteX1" fmla="*/ 538316 w 2610465"/>
              <a:gd name="connsiteY1" fmla="*/ 345 h 2160983"/>
              <a:gd name="connsiteX2" fmla="*/ 840658 w 2610465"/>
              <a:gd name="connsiteY2" fmla="*/ 597654 h 2160983"/>
              <a:gd name="connsiteX3" fmla="*/ 1231491 w 2610465"/>
              <a:gd name="connsiteY3" fmla="*/ 420674 h 2160983"/>
              <a:gd name="connsiteX4" fmla="*/ 1622323 w 2610465"/>
              <a:gd name="connsiteY4" fmla="*/ 1121222 h 2160983"/>
              <a:gd name="connsiteX5" fmla="*/ 1946787 w 2610465"/>
              <a:gd name="connsiteY5" fmla="*/ 936867 h 2160983"/>
              <a:gd name="connsiteX6" fmla="*/ 2381865 w 2610465"/>
              <a:gd name="connsiteY6" fmla="*/ 1593170 h 2160983"/>
              <a:gd name="connsiteX7" fmla="*/ 2610465 w 2610465"/>
              <a:gd name="connsiteY7" fmla="*/ 2160983 h 2160983"/>
              <a:gd name="connsiteX0" fmla="*/ 0 w 2610465"/>
              <a:gd name="connsiteY0" fmla="*/ 383803 h 2160983"/>
              <a:gd name="connsiteX1" fmla="*/ 538316 w 2610465"/>
              <a:gd name="connsiteY1" fmla="*/ 345 h 2160983"/>
              <a:gd name="connsiteX2" fmla="*/ 840658 w 2610465"/>
              <a:gd name="connsiteY2" fmla="*/ 597654 h 2160983"/>
              <a:gd name="connsiteX3" fmla="*/ 1231491 w 2610465"/>
              <a:gd name="connsiteY3" fmla="*/ 420674 h 2160983"/>
              <a:gd name="connsiteX4" fmla="*/ 1622323 w 2610465"/>
              <a:gd name="connsiteY4" fmla="*/ 1121222 h 2160983"/>
              <a:gd name="connsiteX5" fmla="*/ 1946787 w 2610465"/>
              <a:gd name="connsiteY5" fmla="*/ 936867 h 2160983"/>
              <a:gd name="connsiteX6" fmla="*/ 2381865 w 2610465"/>
              <a:gd name="connsiteY6" fmla="*/ 1593170 h 2160983"/>
              <a:gd name="connsiteX7" fmla="*/ 2610465 w 2610465"/>
              <a:gd name="connsiteY7" fmla="*/ 2160983 h 2160983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46787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81317 w 2610465"/>
              <a:gd name="connsiteY4" fmla="*/ 1143689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81317 w 2610465"/>
              <a:gd name="connsiteY4" fmla="*/ 1143689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4444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14950 w 2610465"/>
              <a:gd name="connsiteY4" fmla="*/ 1108991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578079 w 2610465"/>
              <a:gd name="connsiteY4" fmla="*/ 1101616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578079 w 2610465"/>
              <a:gd name="connsiteY4" fmla="*/ 1101616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578079 w 2610465"/>
              <a:gd name="connsiteY4" fmla="*/ 1101616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0465" h="2163500">
                <a:moveTo>
                  <a:pt x="0" y="386320"/>
                </a:moveTo>
                <a:cubicBezTo>
                  <a:pt x="199103" y="176770"/>
                  <a:pt x="394519" y="-26635"/>
                  <a:pt x="538316" y="2862"/>
                </a:cubicBezTo>
                <a:cubicBezTo>
                  <a:pt x="682113" y="32359"/>
                  <a:pt x="725128" y="544864"/>
                  <a:pt x="862780" y="563300"/>
                </a:cubicBezTo>
                <a:cubicBezTo>
                  <a:pt x="1000432" y="581736"/>
                  <a:pt x="1082778" y="392466"/>
                  <a:pt x="1231491" y="423191"/>
                </a:cubicBezTo>
                <a:cubicBezTo>
                  <a:pt x="1380204" y="453916"/>
                  <a:pt x="1388809" y="1074578"/>
                  <a:pt x="1578079" y="1101616"/>
                </a:cubicBezTo>
                <a:cubicBezTo>
                  <a:pt x="1767349" y="1128654"/>
                  <a:pt x="1812823" y="916033"/>
                  <a:pt x="1968909" y="939384"/>
                </a:cubicBezTo>
                <a:cubicBezTo>
                  <a:pt x="2124995" y="962735"/>
                  <a:pt x="2274939" y="1391668"/>
                  <a:pt x="2381865" y="1595687"/>
                </a:cubicBezTo>
                <a:cubicBezTo>
                  <a:pt x="2488791" y="1799706"/>
                  <a:pt x="2551471" y="1981603"/>
                  <a:pt x="2610465" y="21635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81D33C-34B7-81B9-01D2-94F81FF18701}"/>
              </a:ext>
            </a:extLst>
          </p:cNvPr>
          <p:cNvSpPr txBox="1"/>
          <p:nvPr/>
        </p:nvSpPr>
        <p:spPr>
          <a:xfrm>
            <a:off x="6330858" y="4018837"/>
            <a:ext cx="12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Rotating Blades</a:t>
            </a:r>
          </a:p>
          <a:p>
            <a:pPr algn="ctr"/>
            <a:r>
              <a:rPr lang="en-US" sz="1200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Frequency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EF46B3-063D-0E4D-DE37-557AFCCF29A9}"/>
              </a:ext>
            </a:extLst>
          </p:cNvPr>
          <p:cNvCxnSpPr/>
          <p:nvPr/>
        </p:nvCxnSpPr>
        <p:spPr>
          <a:xfrm>
            <a:off x="5772150" y="2163920"/>
            <a:ext cx="246763" cy="406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E98446-A455-1ABD-08A7-96CE78D03A6D}"/>
              </a:ext>
            </a:extLst>
          </p:cNvPr>
          <p:cNvCxnSpPr/>
          <p:nvPr/>
        </p:nvCxnSpPr>
        <p:spPr>
          <a:xfrm flipH="1" flipV="1">
            <a:off x="5973136" y="4510214"/>
            <a:ext cx="1875464" cy="17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180">
            <a:extLst>
              <a:ext uri="{FF2B5EF4-FFF2-40B4-BE49-F238E27FC236}">
                <a16:creationId xmlns:a16="http://schemas.microsoft.com/office/drawing/2014/main" id="{442C6216-A632-A78D-3388-EF917A26C8CD}"/>
              </a:ext>
            </a:extLst>
          </p:cNvPr>
          <p:cNvSpPr/>
          <p:nvPr/>
        </p:nvSpPr>
        <p:spPr>
          <a:xfrm>
            <a:off x="5752213" y="4644438"/>
            <a:ext cx="2020187" cy="1458650"/>
          </a:xfrm>
          <a:custGeom>
            <a:avLst/>
            <a:gdLst>
              <a:gd name="connsiteX0" fmla="*/ 0 w 1956391"/>
              <a:gd name="connsiteY0" fmla="*/ 230265 h 1463641"/>
              <a:gd name="connsiteX1" fmla="*/ 372140 w 1956391"/>
              <a:gd name="connsiteY1" fmla="*/ 6981 h 1463641"/>
              <a:gd name="connsiteX2" fmla="*/ 723014 w 1956391"/>
              <a:gd name="connsiteY2" fmla="*/ 464181 h 1463641"/>
              <a:gd name="connsiteX3" fmla="*/ 1105786 w 1956391"/>
              <a:gd name="connsiteY3" fmla="*/ 411018 h 1463641"/>
              <a:gd name="connsiteX4" fmla="*/ 1339703 w 1956391"/>
              <a:gd name="connsiteY4" fmla="*/ 1027706 h 1463641"/>
              <a:gd name="connsiteX5" fmla="*/ 1669312 w 1956391"/>
              <a:gd name="connsiteY5" fmla="*/ 942646 h 1463641"/>
              <a:gd name="connsiteX6" fmla="*/ 1956391 w 1956391"/>
              <a:gd name="connsiteY6" fmla="*/ 1463641 h 1463641"/>
              <a:gd name="connsiteX0" fmla="*/ 0 w 1956391"/>
              <a:gd name="connsiteY0" fmla="*/ 230265 h 1463641"/>
              <a:gd name="connsiteX1" fmla="*/ 372140 w 1956391"/>
              <a:gd name="connsiteY1" fmla="*/ 6981 h 1463641"/>
              <a:gd name="connsiteX2" fmla="*/ 723014 w 1956391"/>
              <a:gd name="connsiteY2" fmla="*/ 464181 h 1463641"/>
              <a:gd name="connsiteX3" fmla="*/ 1105786 w 1956391"/>
              <a:gd name="connsiteY3" fmla="*/ 411018 h 1463641"/>
              <a:gd name="connsiteX4" fmla="*/ 1339703 w 1956391"/>
              <a:gd name="connsiteY4" fmla="*/ 1027706 h 1463641"/>
              <a:gd name="connsiteX5" fmla="*/ 1669312 w 1956391"/>
              <a:gd name="connsiteY5" fmla="*/ 942646 h 1463641"/>
              <a:gd name="connsiteX6" fmla="*/ 1956391 w 1956391"/>
              <a:gd name="connsiteY6" fmla="*/ 1463641 h 1463641"/>
              <a:gd name="connsiteX0" fmla="*/ 0 w 1956391"/>
              <a:gd name="connsiteY0" fmla="*/ 232878 h 1466254"/>
              <a:gd name="connsiteX1" fmla="*/ 372140 w 1956391"/>
              <a:gd name="connsiteY1" fmla="*/ 9594 h 1466254"/>
              <a:gd name="connsiteX2" fmla="*/ 712382 w 1956391"/>
              <a:gd name="connsiteY2" fmla="*/ 519957 h 1466254"/>
              <a:gd name="connsiteX3" fmla="*/ 1105786 w 1956391"/>
              <a:gd name="connsiteY3" fmla="*/ 413631 h 1466254"/>
              <a:gd name="connsiteX4" fmla="*/ 1339703 w 1956391"/>
              <a:gd name="connsiteY4" fmla="*/ 1030319 h 1466254"/>
              <a:gd name="connsiteX5" fmla="*/ 1669312 w 1956391"/>
              <a:gd name="connsiteY5" fmla="*/ 945259 h 1466254"/>
              <a:gd name="connsiteX6" fmla="*/ 1956391 w 1956391"/>
              <a:gd name="connsiteY6" fmla="*/ 1466254 h 1466254"/>
              <a:gd name="connsiteX0" fmla="*/ 0 w 2020187"/>
              <a:gd name="connsiteY0" fmla="*/ 352864 h 1458650"/>
              <a:gd name="connsiteX1" fmla="*/ 435936 w 2020187"/>
              <a:gd name="connsiteY1" fmla="*/ 1990 h 1458650"/>
              <a:gd name="connsiteX2" fmla="*/ 776178 w 2020187"/>
              <a:gd name="connsiteY2" fmla="*/ 512353 h 1458650"/>
              <a:gd name="connsiteX3" fmla="*/ 1169582 w 2020187"/>
              <a:gd name="connsiteY3" fmla="*/ 406027 h 1458650"/>
              <a:gd name="connsiteX4" fmla="*/ 1403499 w 2020187"/>
              <a:gd name="connsiteY4" fmla="*/ 1022715 h 1458650"/>
              <a:gd name="connsiteX5" fmla="*/ 1733108 w 2020187"/>
              <a:gd name="connsiteY5" fmla="*/ 937655 h 1458650"/>
              <a:gd name="connsiteX6" fmla="*/ 2020187 w 2020187"/>
              <a:gd name="connsiteY6" fmla="*/ 1458650 h 14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187" h="1458650">
                <a:moveTo>
                  <a:pt x="0" y="352864"/>
                </a:moveTo>
                <a:cubicBezTo>
                  <a:pt x="125819" y="221729"/>
                  <a:pt x="306573" y="-24591"/>
                  <a:pt x="435936" y="1990"/>
                </a:cubicBezTo>
                <a:cubicBezTo>
                  <a:pt x="565299" y="28571"/>
                  <a:pt x="653904" y="445013"/>
                  <a:pt x="776178" y="512353"/>
                </a:cubicBezTo>
                <a:cubicBezTo>
                  <a:pt x="898452" y="579693"/>
                  <a:pt x="1065028" y="320967"/>
                  <a:pt x="1169582" y="406027"/>
                </a:cubicBezTo>
                <a:cubicBezTo>
                  <a:pt x="1274136" y="491087"/>
                  <a:pt x="1309578" y="934110"/>
                  <a:pt x="1403499" y="1022715"/>
                </a:cubicBezTo>
                <a:cubicBezTo>
                  <a:pt x="1497420" y="1111320"/>
                  <a:pt x="1630327" y="864999"/>
                  <a:pt x="1733108" y="937655"/>
                </a:cubicBezTo>
                <a:cubicBezTo>
                  <a:pt x="1835889" y="1010311"/>
                  <a:pt x="1928038" y="1234480"/>
                  <a:pt x="2020187" y="1458650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F28DC1-058C-214D-08FD-970F05BF6362}"/>
              </a:ext>
            </a:extLst>
          </p:cNvPr>
          <p:cNvSpPr txBox="1"/>
          <p:nvPr/>
        </p:nvSpPr>
        <p:spPr>
          <a:xfrm>
            <a:off x="6781800" y="4800600"/>
            <a:ext cx="1289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Cavitation</a:t>
            </a:r>
          </a:p>
        </p:txBody>
      </p:sp>
      <p:sp>
        <p:nvSpPr>
          <p:cNvPr id="60" name="Freeform 182">
            <a:extLst>
              <a:ext uri="{FF2B5EF4-FFF2-40B4-BE49-F238E27FC236}">
                <a16:creationId xmlns:a16="http://schemas.microsoft.com/office/drawing/2014/main" id="{5AD7E76B-3CEE-A81F-D0E6-2654EDA5E97D}"/>
              </a:ext>
            </a:extLst>
          </p:cNvPr>
          <p:cNvSpPr/>
          <p:nvPr/>
        </p:nvSpPr>
        <p:spPr>
          <a:xfrm>
            <a:off x="6430155" y="4642890"/>
            <a:ext cx="1888897" cy="813693"/>
          </a:xfrm>
          <a:custGeom>
            <a:avLst/>
            <a:gdLst>
              <a:gd name="connsiteX0" fmla="*/ 0 w 1729409"/>
              <a:gd name="connsiteY0" fmla="*/ 373377 h 830577"/>
              <a:gd name="connsiteX1" fmla="*/ 974035 w 1729409"/>
              <a:gd name="connsiteY1" fmla="*/ 15568 h 830577"/>
              <a:gd name="connsiteX2" fmla="*/ 1729409 w 1729409"/>
              <a:gd name="connsiteY2" fmla="*/ 830577 h 830577"/>
              <a:gd name="connsiteX0" fmla="*/ 0 w 1729409"/>
              <a:gd name="connsiteY0" fmla="*/ 364931 h 822131"/>
              <a:gd name="connsiteX1" fmla="*/ 974035 w 1729409"/>
              <a:gd name="connsiteY1" fmla="*/ 7122 h 822131"/>
              <a:gd name="connsiteX2" fmla="*/ 1729409 w 1729409"/>
              <a:gd name="connsiteY2" fmla="*/ 822131 h 822131"/>
              <a:gd name="connsiteX0" fmla="*/ 0 w 1729409"/>
              <a:gd name="connsiteY0" fmla="*/ 359005 h 816205"/>
              <a:gd name="connsiteX1" fmla="*/ 974035 w 1729409"/>
              <a:gd name="connsiteY1" fmla="*/ 1196 h 816205"/>
              <a:gd name="connsiteX2" fmla="*/ 1729409 w 1729409"/>
              <a:gd name="connsiteY2" fmla="*/ 816205 h 816205"/>
              <a:gd name="connsiteX0" fmla="*/ 0 w 1729409"/>
              <a:gd name="connsiteY0" fmla="*/ 358885 h 816085"/>
              <a:gd name="connsiteX1" fmla="*/ 974035 w 1729409"/>
              <a:gd name="connsiteY1" fmla="*/ 1076 h 816085"/>
              <a:gd name="connsiteX2" fmla="*/ 1729409 w 1729409"/>
              <a:gd name="connsiteY2" fmla="*/ 816085 h 816085"/>
              <a:gd name="connsiteX0" fmla="*/ 0 w 1729409"/>
              <a:gd name="connsiteY0" fmla="*/ 359153 h 816353"/>
              <a:gd name="connsiteX1" fmla="*/ 974035 w 1729409"/>
              <a:gd name="connsiteY1" fmla="*/ 1344 h 816353"/>
              <a:gd name="connsiteX2" fmla="*/ 1729409 w 1729409"/>
              <a:gd name="connsiteY2" fmla="*/ 816353 h 816353"/>
              <a:gd name="connsiteX0" fmla="*/ 0 w 1729409"/>
              <a:gd name="connsiteY0" fmla="*/ 349305 h 806505"/>
              <a:gd name="connsiteX1" fmla="*/ 983975 w 1729409"/>
              <a:gd name="connsiteY1" fmla="*/ 1435 h 806505"/>
              <a:gd name="connsiteX2" fmla="*/ 1729409 w 1729409"/>
              <a:gd name="connsiteY2" fmla="*/ 806505 h 806505"/>
              <a:gd name="connsiteX0" fmla="*/ 0 w 1888897"/>
              <a:gd name="connsiteY0" fmla="*/ 452186 h 813693"/>
              <a:gd name="connsiteX1" fmla="*/ 1143463 w 1888897"/>
              <a:gd name="connsiteY1" fmla="*/ 8623 h 813693"/>
              <a:gd name="connsiteX2" fmla="*/ 1888897 w 1888897"/>
              <a:gd name="connsiteY2" fmla="*/ 813693 h 813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8897" h="813693">
                <a:moveTo>
                  <a:pt x="0" y="452186"/>
                </a:moveTo>
                <a:cubicBezTo>
                  <a:pt x="392597" y="215302"/>
                  <a:pt x="828647" y="-51628"/>
                  <a:pt x="1143463" y="8623"/>
                </a:cubicBezTo>
                <a:cubicBezTo>
                  <a:pt x="1458279" y="68874"/>
                  <a:pt x="1655327" y="444288"/>
                  <a:pt x="1888897" y="813693"/>
                </a:cubicBezTo>
              </a:path>
            </a:pathLst>
          </a:cu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B1BFA3-5AC5-6C96-523F-146D98B3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E68CE-9D2A-2864-7465-B75EA5E1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25ED-86BE-D033-A7EA-B694A3DE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Propeller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47F5A-7D0C-5AF5-490C-91C6BC70F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816886" cy="5524040"/>
          </a:xfrm>
        </p:spPr>
        <p:txBody>
          <a:bodyPr>
            <a:normAutofit/>
          </a:bodyPr>
          <a:lstStyle/>
          <a:p>
            <a:r>
              <a:rPr lang="en-US" dirty="0"/>
              <a:t>Rotor noise is a dominant mechanism in many systems:</a:t>
            </a:r>
          </a:p>
          <a:p>
            <a:pPr lvl="1"/>
            <a:r>
              <a:rPr lang="en-US" dirty="0"/>
              <a:t>Boats, ships, and submarines</a:t>
            </a:r>
          </a:p>
          <a:p>
            <a:pPr lvl="1"/>
            <a:r>
              <a:rPr lang="en-US" dirty="0"/>
              <a:t>Airplanes</a:t>
            </a:r>
          </a:p>
          <a:p>
            <a:pPr lvl="1"/>
            <a:r>
              <a:rPr lang="en-US" dirty="0"/>
              <a:t>Helicopters</a:t>
            </a:r>
          </a:p>
          <a:p>
            <a:pPr lvl="1"/>
            <a:r>
              <a:rPr lang="en-US" dirty="0"/>
              <a:t>Wind turbines</a:t>
            </a:r>
          </a:p>
          <a:p>
            <a:pPr lvl="1"/>
            <a:r>
              <a:rPr lang="en-US" dirty="0"/>
              <a:t>Fans</a:t>
            </a:r>
          </a:p>
          <a:p>
            <a:r>
              <a:rPr lang="en-US" dirty="0"/>
              <a:t>Noise from rotors takes one two paths:</a:t>
            </a:r>
          </a:p>
          <a:p>
            <a:pPr lvl="1"/>
            <a:r>
              <a:rPr lang="en-US" dirty="0"/>
              <a:t>“Direct noise”: unsteady flow causes acoustic fluctuations</a:t>
            </a:r>
          </a:p>
          <a:p>
            <a:pPr lvl="1"/>
            <a:r>
              <a:rPr lang="en-US" dirty="0"/>
              <a:t>“Re-radiated noise”: unsteady flow causes vibrations, then vibrating structure radiates sound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9D04F-76FF-478A-AB4F-4DDB101D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71C3DA-C727-5DA7-6CEC-7A95D8EE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76DE3-BAE3-222A-2E74-99F64AD9F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6"/>
          <a:stretch/>
        </p:blipFill>
        <p:spPr>
          <a:xfrm>
            <a:off x="7427167" y="1083158"/>
            <a:ext cx="4478693" cy="251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58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9A7D-B225-DC85-CA8C-7A53704C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Propeller noise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8663-0D73-4070-B841-AA50FE24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096000" cy="5036494"/>
          </a:xfrm>
        </p:spPr>
        <p:txBody>
          <a:bodyPr/>
          <a:lstStyle/>
          <a:p>
            <a:r>
              <a:rPr lang="en-US" dirty="0"/>
              <a:t>Noise from propellers has tonal and broadband features.</a:t>
            </a:r>
          </a:p>
          <a:p>
            <a:r>
              <a:rPr lang="en-US" dirty="0"/>
              <a:t>Broadband noise is caused by turbulence</a:t>
            </a:r>
          </a:p>
          <a:p>
            <a:pPr lvl="1"/>
            <a:r>
              <a:rPr lang="en-US" dirty="0"/>
              <a:t>Ingested turbulence</a:t>
            </a:r>
          </a:p>
          <a:p>
            <a:pPr lvl="1"/>
            <a:r>
              <a:rPr lang="en-US" dirty="0"/>
              <a:t>Self-generated turbulence</a:t>
            </a:r>
          </a:p>
          <a:p>
            <a:r>
              <a:rPr lang="en-US" dirty="0"/>
              <a:t>Tonal noise (also just called “blade rate noise”) is caused by blades interacting with large flow structures</a:t>
            </a:r>
          </a:p>
          <a:p>
            <a:pPr lvl="1"/>
            <a:r>
              <a:rPr lang="en-US" dirty="0"/>
              <a:t>Ingested wakes</a:t>
            </a:r>
          </a:p>
          <a:p>
            <a:pPr lvl="1"/>
            <a:r>
              <a:rPr lang="en-US" dirty="0"/>
              <a:t>Self-generated vortices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50465-3C88-83C7-7B77-A30B05CB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4BF2A-1D38-AF90-D623-6DD5BB51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6388" b="12891"/>
          <a:stretch/>
        </p:blipFill>
        <p:spPr>
          <a:xfrm>
            <a:off x="5734605" y="568306"/>
            <a:ext cx="6214101" cy="50364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6AB7-3CD3-26B3-C068-6DF64A19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9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A4D64-115A-CEBE-A997-6F04C0C2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1D69-4504-8131-1074-9EF3E280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Turbulence ingestion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99986-D7E9-330E-5839-33189EC7F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096000" cy="5036494"/>
          </a:xfrm>
        </p:spPr>
        <p:txBody>
          <a:bodyPr/>
          <a:lstStyle/>
          <a:p>
            <a:r>
              <a:rPr lang="en-US" dirty="0"/>
              <a:t>A source of turbulence is somewhere upstream of the rotor</a:t>
            </a:r>
          </a:p>
          <a:p>
            <a:r>
              <a:rPr lang="en-US" dirty="0"/>
              <a:t>The turbulence causes unsteady forces to be applied to the propeller. The excitation depends on:</a:t>
            </a:r>
          </a:p>
          <a:p>
            <a:pPr lvl="1"/>
            <a:r>
              <a:rPr lang="en-US" dirty="0"/>
              <a:t>Amplitude of the fluctuating velocities</a:t>
            </a:r>
          </a:p>
          <a:p>
            <a:pPr lvl="1"/>
            <a:r>
              <a:rPr lang="en-US" dirty="0"/>
              <a:t>How the blade responds to fluctuating velocity (“gust response”)</a:t>
            </a:r>
          </a:p>
          <a:p>
            <a:pPr lvl="1"/>
            <a:r>
              <a:rPr lang="en-US" dirty="0"/>
              <a:t>How large the vortices are (“correlation length”)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FE872-4553-9AD8-0890-3EBD999F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D7F1EA-28AF-FFCC-959F-C3374042F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754" y="3155599"/>
            <a:ext cx="3269246" cy="3565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5401A6-DEC9-9E17-B6B9-0E8560C9D3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EC"/>
              </a:clrFrom>
              <a:clrTo>
                <a:srgbClr val="0000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784566" cy="38303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80F4FA-8338-CF7E-A7BF-44D7B7B6F4F4}"/>
              </a:ext>
            </a:extLst>
          </p:cNvPr>
          <p:cNvSpPr txBox="1"/>
          <p:nvPr/>
        </p:nvSpPr>
        <p:spPr>
          <a:xfrm>
            <a:off x="5764615" y="3275448"/>
            <a:ext cx="37845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By C. Fukushima and J. </a:t>
            </a:r>
            <a:r>
              <a:rPr lang="en-US" sz="1100" dirty="0" err="1"/>
              <a:t>Westerweel</a:t>
            </a:r>
            <a:r>
              <a:rPr lang="en-US" sz="1100" dirty="0"/>
              <a:t>, Technical University of Delft, The Netherlands - Own work, CC BY 3.0, https://commons.wikimedia.org/w/index.php?curid=3082535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5AA6BD9-4652-0825-6421-82ED51D5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C1F5-22EE-10FA-E492-DB0B848C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237D-D071-C113-C61F-95D05956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Turbulence ingestion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57FD-16FE-5968-D53B-6DB6FC609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096000" cy="5036494"/>
          </a:xfrm>
        </p:spPr>
        <p:txBody>
          <a:bodyPr/>
          <a:lstStyle/>
          <a:p>
            <a:r>
              <a:rPr lang="en-US" dirty="0"/>
              <a:t>TI noise has been measured in wind and water tunnels.</a:t>
            </a:r>
          </a:p>
          <a:p>
            <a:r>
              <a:rPr lang="en-US" dirty="0"/>
              <a:t>TI noise tends to be the dominant source of broadband noise below a few times the blade passage frequency.</a:t>
            </a:r>
          </a:p>
          <a:p>
            <a:r>
              <a:rPr lang="en-US" dirty="0"/>
              <a:t>The turbulence parameters can be hard to quantify and predict.</a:t>
            </a:r>
          </a:p>
          <a:p>
            <a:r>
              <a:rPr lang="en-US" dirty="0"/>
              <a:t>It is still the subject of research.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9168E-7F41-95D2-F0A6-5B17D406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67371-4442-3092-3ED7-5CC6B83D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360" y="1396397"/>
            <a:ext cx="5258534" cy="429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3D07A1-B92E-E31F-76CE-656E6B902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2" y="136525"/>
            <a:ext cx="4251410" cy="1449440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80FE234-AB07-D166-DD10-A5C9AB2BA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168735"/>
              </p:ext>
            </p:extLst>
          </p:nvPr>
        </p:nvGraphicFramePr>
        <p:xfrm>
          <a:off x="7648348" y="3160889"/>
          <a:ext cx="1394052" cy="131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4923810" imgH="4657143" progId="MSPhotoEd.3">
                  <p:embed/>
                </p:oleObj>
              </mc:Choice>
              <mc:Fallback>
                <p:oleObj name="Photo Editor Photo" r:id="rId4" imgW="4923810" imgH="4657143" progId="MSPhotoEd.3">
                  <p:embed/>
                  <p:pic>
                    <p:nvPicPr>
                      <p:cNvPr id="30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348" y="3160889"/>
                        <a:ext cx="1394052" cy="1318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DDD0BC-77AB-39D2-6998-232CA508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5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97CC-1E2D-D450-47D7-A389BA71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0FCD-7142-4B5E-6CD2-ECC96D49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Self-generated turbulence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54084-788C-CAB7-5FE0-FDBA8A06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423378" cy="5036494"/>
          </a:xfrm>
        </p:spPr>
        <p:txBody>
          <a:bodyPr/>
          <a:lstStyle/>
          <a:p>
            <a:r>
              <a:rPr lang="en-US" dirty="0"/>
              <a:t>Also called “boundary layer turbulence noise” or “trailing edge noise”</a:t>
            </a:r>
          </a:p>
          <a:p>
            <a:r>
              <a:rPr lang="en-US" dirty="0"/>
              <a:t>Turbulence forms over the rotor itself.</a:t>
            </a:r>
          </a:p>
          <a:p>
            <a:r>
              <a:rPr lang="en-US" dirty="0"/>
              <a:t>When turbulence reaches the trailing edge, the eddies are suddenly able to expand or contract, causing noise.</a:t>
            </a:r>
          </a:p>
          <a:p>
            <a:r>
              <a:rPr lang="en-US" dirty="0"/>
              <a:t>Excitation depends on turbulence parameters and blade geometry.</a:t>
            </a:r>
          </a:p>
          <a:p>
            <a:r>
              <a:rPr lang="en-US" dirty="0"/>
              <a:t>TE noise tends to be the dominant source at higher frequencies.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DDAA-0C25-77C2-AD2C-4BF84458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A6F7A7-A661-5CA8-2E84-3C0E12AB0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807" y="2129157"/>
            <a:ext cx="4228091" cy="24541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BB532A-39B5-E456-37A9-72AB1155B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687" y="136525"/>
            <a:ext cx="4948851" cy="1917318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B5CE5E2-7F5C-DB69-177E-5B64936D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3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BA17-FAF2-2FDD-D3A6-DB3D514F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Trailing edge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3F60-C4AF-080F-9D09-0952FF8E7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Trailing edge serrations reduce the turbulence correlation length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https://www.youtube.com/watch?v=YAl9PR6U63k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6A20-15B1-654C-1B3A-FA5CA749C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91B45-15D2-06C6-160F-7CF07F2F2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068" y="2162528"/>
            <a:ext cx="6484754" cy="419382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6A786-D58A-742A-06CC-DBCB2BE9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4FEC25-BB6E-4EB5-0A8E-C08DD7C4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6366"/>
            <a:ext cx="5513047" cy="419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1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A7E2-FC7A-CB8E-9DEB-E6FFBE77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04A6-E283-EC64-4F5A-50953AE20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649156" cy="5036494"/>
          </a:xfrm>
        </p:spPr>
        <p:txBody>
          <a:bodyPr/>
          <a:lstStyle/>
          <a:p>
            <a:r>
              <a:rPr lang="en-US" dirty="0"/>
              <a:t>An obstruction upstream causes a change in flow</a:t>
            </a:r>
          </a:p>
          <a:p>
            <a:r>
              <a:rPr lang="en-US" dirty="0"/>
              <a:t>The change in flow causes unsteady forces on the rotor each time a blade passes.</a:t>
            </a:r>
          </a:p>
          <a:p>
            <a:r>
              <a:rPr lang="en-US" dirty="0"/>
              <a:t>Similar to an impulsive source, harmonics are usually also seen.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CD720-B2E6-C0D3-7083-545A83CA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E53C3-4526-E733-4390-C074AF2E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8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B31B-BD6E-ADB9-FEA1-DED44059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585C-3FD8-27B9-99ED-C4730918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535F-67EC-2FAB-A6D0-2ABCF6967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649156" cy="5036494"/>
          </a:xfrm>
        </p:spPr>
        <p:txBody>
          <a:bodyPr/>
          <a:lstStyle/>
          <a:p>
            <a:r>
              <a:rPr lang="en-US" dirty="0"/>
              <a:t>Straight wakes meeting straight blades can make blade rate noise very loud.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1CB24-6BED-EBA2-8A93-077DA840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A9481-DFB1-9B27-AED3-BC3FC4CC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04AD1-8AA1-B412-C7E4-011C77779AFC}"/>
              </a:ext>
            </a:extLst>
          </p:cNvPr>
          <p:cNvSpPr txBox="1"/>
          <p:nvPr/>
        </p:nvSpPr>
        <p:spPr>
          <a:xfrm>
            <a:off x="7738533" y="5738938"/>
            <a:ext cx="31778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latin typeface="+mn-lt"/>
              </a:rPr>
              <a:t>Kim, Geon-Seok, “Discrete-Frequency and Broadband Noise Radiation from Diesel Engine Cooling Fans,” Ph.D. Thesis in Acoustics, The Pennsylvania State University, December 2007.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599470B-59F1-EDA7-82CC-CEE83F7F2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47080" y="0"/>
            <a:ext cx="4555767" cy="388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174">
            <a:extLst>
              <a:ext uri="{FF2B5EF4-FFF2-40B4-BE49-F238E27FC236}">
                <a16:creationId xmlns:a16="http://schemas.microsoft.com/office/drawing/2014/main" id="{B1EB66AC-BECB-58A5-D035-3E1FDF79FD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5583" y="3313332"/>
            <a:ext cx="2949079" cy="2821034"/>
            <a:chOff x="3408" y="912"/>
            <a:chExt cx="1536" cy="1385"/>
          </a:xfrm>
        </p:grpSpPr>
        <p:sp>
          <p:nvSpPr>
            <p:cNvPr id="10" name="Rectangle 93">
              <a:extLst>
                <a:ext uri="{FF2B5EF4-FFF2-40B4-BE49-F238E27FC236}">
                  <a16:creationId xmlns:a16="http://schemas.microsoft.com/office/drawing/2014/main" id="{4F1AB97D-8591-FB61-644B-EB28AB479D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00" y="1140"/>
              <a:ext cx="264" cy="956"/>
            </a:xfrm>
            <a:prstGeom prst="rect">
              <a:avLst/>
            </a:prstGeom>
            <a:solidFill>
              <a:srgbClr val="99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Rectangle 94">
              <a:extLst>
                <a:ext uri="{FF2B5EF4-FFF2-40B4-BE49-F238E27FC236}">
                  <a16:creationId xmlns:a16="http://schemas.microsoft.com/office/drawing/2014/main" id="{D51F4DAA-4DD4-CCD2-38B2-909411298D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72" y="1066"/>
              <a:ext cx="346" cy="115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Rectangle 95">
              <a:extLst>
                <a:ext uri="{FF2B5EF4-FFF2-40B4-BE49-F238E27FC236}">
                  <a16:creationId xmlns:a16="http://schemas.microsoft.com/office/drawing/2014/main" id="{737FC603-6A8B-4EF2-72E4-A193468DFD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8" y="1289"/>
              <a:ext cx="792" cy="742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Box 96">
              <a:extLst>
                <a:ext uri="{FF2B5EF4-FFF2-40B4-BE49-F238E27FC236}">
                  <a16:creationId xmlns:a16="http://schemas.microsoft.com/office/drawing/2014/main" id="{94DF43AB-0C3A-7405-53C8-8D2D84CC63B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40" y="1584"/>
              <a:ext cx="576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b="1" dirty="0">
                  <a:latin typeface="Tahoma" pitchFamily="34" charset="0"/>
                  <a:ea typeface="Batang" pitchFamily="18" charset="-127"/>
                </a:rPr>
                <a:t>Engine</a:t>
              </a:r>
              <a:endParaRPr lang="en-US" altLang="ko-KR" sz="2200" dirty="0">
                <a:ea typeface="Gulim" pitchFamily="34" charset="-127"/>
              </a:endParaRPr>
            </a:p>
          </p:txBody>
        </p:sp>
        <p:sp>
          <p:nvSpPr>
            <p:cNvPr id="14" name="Rectangle 97" descr="Small grid">
              <a:extLst>
                <a:ext uri="{FF2B5EF4-FFF2-40B4-BE49-F238E27FC236}">
                  <a16:creationId xmlns:a16="http://schemas.microsoft.com/office/drawing/2014/main" id="{B1AF6833-4003-B28C-6687-D3ED30E915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35" y="1070"/>
              <a:ext cx="89" cy="1141"/>
            </a:xfrm>
            <a:prstGeom prst="rect">
              <a:avLst/>
            </a:prstGeom>
            <a:pattFill prst="smGrid">
              <a:fgClr>
                <a:srgbClr val="333333"/>
              </a:fgClr>
              <a:bgClr>
                <a:srgbClr val="C0C0C0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98">
              <a:extLst>
                <a:ext uri="{FF2B5EF4-FFF2-40B4-BE49-F238E27FC236}">
                  <a16:creationId xmlns:a16="http://schemas.microsoft.com/office/drawing/2014/main" id="{9590012C-BC7C-F52D-BCDF-D6DD03A65E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2" y="1066"/>
              <a:ext cx="0" cy="14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Line 99">
              <a:extLst>
                <a:ext uri="{FF2B5EF4-FFF2-40B4-BE49-F238E27FC236}">
                  <a16:creationId xmlns:a16="http://schemas.microsoft.com/office/drawing/2014/main" id="{25312DDF-57A9-A22B-7FC5-D31E1507ED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2" y="1994"/>
              <a:ext cx="0" cy="2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Line 100">
              <a:extLst>
                <a:ext uri="{FF2B5EF4-FFF2-40B4-BE49-F238E27FC236}">
                  <a16:creationId xmlns:a16="http://schemas.microsoft.com/office/drawing/2014/main" id="{04960902-1A28-A5D0-50E3-715760CF6F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9" y="1240"/>
              <a:ext cx="4" cy="817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Rectangle 101">
              <a:extLst>
                <a:ext uri="{FF2B5EF4-FFF2-40B4-BE49-F238E27FC236}">
                  <a16:creationId xmlns:a16="http://schemas.microsoft.com/office/drawing/2014/main" id="{F5C23ADE-53C3-8B65-BC0A-E5B79BAAD2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02" y="1632"/>
              <a:ext cx="212" cy="44"/>
            </a:xfrm>
            <a:prstGeom prst="rect">
              <a:avLst/>
            </a:pr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Rectangle 102">
              <a:extLst>
                <a:ext uri="{FF2B5EF4-FFF2-40B4-BE49-F238E27FC236}">
                  <a16:creationId xmlns:a16="http://schemas.microsoft.com/office/drawing/2014/main" id="{9483BF49-A22B-AE48-8F5C-5D0467DB6F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6" y="1555"/>
              <a:ext cx="102" cy="195"/>
            </a:xfrm>
            <a:prstGeom prst="rect">
              <a:avLst/>
            </a:pr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Rectangle 103">
              <a:extLst>
                <a:ext uri="{FF2B5EF4-FFF2-40B4-BE49-F238E27FC236}">
                  <a16:creationId xmlns:a16="http://schemas.microsoft.com/office/drawing/2014/main" id="{298E5F2E-66BA-5DC7-72D1-3566BA9F3F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98" y="1561"/>
              <a:ext cx="64" cy="198"/>
            </a:xfrm>
            <a:prstGeom prst="rect">
              <a:avLst/>
            </a:pr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104">
              <a:extLst>
                <a:ext uri="{FF2B5EF4-FFF2-40B4-BE49-F238E27FC236}">
                  <a16:creationId xmlns:a16="http://schemas.microsoft.com/office/drawing/2014/main" id="{6DEAEA65-2DEA-7FD8-336E-5CA6B73D0B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0" y="1606"/>
              <a:ext cx="24" cy="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2" name="Group 105">
              <a:extLst>
                <a:ext uri="{FF2B5EF4-FFF2-40B4-BE49-F238E27FC236}">
                  <a16:creationId xmlns:a16="http://schemas.microsoft.com/office/drawing/2014/main" id="{C8005B93-3C42-DF2D-4EAA-01F6B98F05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3" y="1186"/>
              <a:ext cx="137" cy="890"/>
              <a:chOff x="6615" y="9400"/>
              <a:chExt cx="663" cy="4317"/>
            </a:xfrm>
          </p:grpSpPr>
          <p:grpSp>
            <p:nvGrpSpPr>
              <p:cNvPr id="37" name="Group 106">
                <a:extLst>
                  <a:ext uri="{FF2B5EF4-FFF2-40B4-BE49-F238E27FC236}">
                    <a16:creationId xmlns:a16="http://schemas.microsoft.com/office/drawing/2014/main" id="{2B0B1C49-FBCB-9B55-7BF3-1137C5AC36C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15" y="9400"/>
                <a:ext cx="656" cy="1117"/>
                <a:chOff x="6630" y="9353"/>
                <a:chExt cx="656" cy="1117"/>
              </a:xfrm>
            </p:grpSpPr>
            <p:grpSp>
              <p:nvGrpSpPr>
                <p:cNvPr id="76" name="Group 107">
                  <a:extLst>
                    <a:ext uri="{FF2B5EF4-FFF2-40B4-BE49-F238E27FC236}">
                      <a16:creationId xmlns:a16="http://schemas.microsoft.com/office/drawing/2014/main" id="{A6F2603F-1CCA-8041-3453-D6F5D451787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0" y="9353"/>
                  <a:ext cx="652" cy="300"/>
                  <a:chOff x="6630" y="9353"/>
                  <a:chExt cx="652" cy="300"/>
                </a:xfrm>
              </p:grpSpPr>
              <p:sp>
                <p:nvSpPr>
                  <p:cNvPr id="87" name="Rectangle 108">
                    <a:extLst>
                      <a:ext uri="{FF2B5EF4-FFF2-40B4-BE49-F238E27FC236}">
                        <a16:creationId xmlns:a16="http://schemas.microsoft.com/office/drawing/2014/main" id="{047E3A3F-F16E-DEBA-4548-90F4BF4A67C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8" name="Rectangle 109">
                    <a:extLst>
                      <a:ext uri="{FF2B5EF4-FFF2-40B4-BE49-F238E27FC236}">
                        <a16:creationId xmlns:a16="http://schemas.microsoft.com/office/drawing/2014/main" id="{B21EADB8-3EC9-37B3-5234-76A3FBB6AE1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9" name="Rectangle 110">
                    <a:extLst>
                      <a:ext uri="{FF2B5EF4-FFF2-40B4-BE49-F238E27FC236}">
                        <a16:creationId xmlns:a16="http://schemas.microsoft.com/office/drawing/2014/main" id="{6A00F7B0-56A3-BC18-35CF-A9DB25FE554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90" name="Rectangle 111">
                    <a:extLst>
                      <a:ext uri="{FF2B5EF4-FFF2-40B4-BE49-F238E27FC236}">
                        <a16:creationId xmlns:a16="http://schemas.microsoft.com/office/drawing/2014/main" id="{B0EF60A1-E172-1586-16FB-1A32B09D64E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77" name="Group 112">
                  <a:extLst>
                    <a:ext uri="{FF2B5EF4-FFF2-40B4-BE49-F238E27FC236}">
                      <a16:creationId xmlns:a16="http://schemas.microsoft.com/office/drawing/2014/main" id="{02957845-DE72-F951-953C-52E89BEC64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1" y="9758"/>
                  <a:ext cx="652" cy="300"/>
                  <a:chOff x="6630" y="9353"/>
                  <a:chExt cx="652" cy="300"/>
                </a:xfrm>
              </p:grpSpPr>
              <p:sp>
                <p:nvSpPr>
                  <p:cNvPr id="83" name="Rectangle 113">
                    <a:extLst>
                      <a:ext uri="{FF2B5EF4-FFF2-40B4-BE49-F238E27FC236}">
                        <a16:creationId xmlns:a16="http://schemas.microsoft.com/office/drawing/2014/main" id="{3E3D8FBD-2A75-A77A-73BB-C69DA2A53AB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Rectangle 114">
                    <a:extLst>
                      <a:ext uri="{FF2B5EF4-FFF2-40B4-BE49-F238E27FC236}">
                        <a16:creationId xmlns:a16="http://schemas.microsoft.com/office/drawing/2014/main" id="{A9B3048A-BBB1-29CD-64DF-D7D4EE18417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Rectangle 115">
                    <a:extLst>
                      <a:ext uri="{FF2B5EF4-FFF2-40B4-BE49-F238E27FC236}">
                        <a16:creationId xmlns:a16="http://schemas.microsoft.com/office/drawing/2014/main" id="{522FBEBD-869A-4995-9E75-E48FCB00094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6" name="Rectangle 116">
                    <a:extLst>
                      <a:ext uri="{FF2B5EF4-FFF2-40B4-BE49-F238E27FC236}">
                        <a16:creationId xmlns:a16="http://schemas.microsoft.com/office/drawing/2014/main" id="{B3EFE104-021D-82B9-47DC-B2ED9E9C1F3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78" name="Group 117">
                  <a:extLst>
                    <a:ext uri="{FF2B5EF4-FFF2-40B4-BE49-F238E27FC236}">
                      <a16:creationId xmlns:a16="http://schemas.microsoft.com/office/drawing/2014/main" id="{38A40FD1-921E-0EDC-9333-5820E576C1C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4" y="10170"/>
                  <a:ext cx="652" cy="300"/>
                  <a:chOff x="6630" y="9353"/>
                  <a:chExt cx="652" cy="300"/>
                </a:xfrm>
              </p:grpSpPr>
              <p:sp>
                <p:nvSpPr>
                  <p:cNvPr id="79" name="Rectangle 118">
                    <a:extLst>
                      <a:ext uri="{FF2B5EF4-FFF2-40B4-BE49-F238E27FC236}">
                        <a16:creationId xmlns:a16="http://schemas.microsoft.com/office/drawing/2014/main" id="{BB3199C9-F308-9E4E-66F2-E05CC3153AA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Rectangle 119">
                    <a:extLst>
                      <a:ext uri="{FF2B5EF4-FFF2-40B4-BE49-F238E27FC236}">
                        <a16:creationId xmlns:a16="http://schemas.microsoft.com/office/drawing/2014/main" id="{320785B9-0600-8712-5AFD-B8583005BEE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Rectangle 120">
                    <a:extLst>
                      <a:ext uri="{FF2B5EF4-FFF2-40B4-BE49-F238E27FC236}">
                        <a16:creationId xmlns:a16="http://schemas.microsoft.com/office/drawing/2014/main" id="{87B55AD4-3D2E-291F-7A4F-AF53D823AF2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Rectangle 121">
                    <a:extLst>
                      <a:ext uri="{FF2B5EF4-FFF2-40B4-BE49-F238E27FC236}">
                        <a16:creationId xmlns:a16="http://schemas.microsoft.com/office/drawing/2014/main" id="{9D024D8A-5475-12FB-8C51-5CA27362582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38" name="Group 122">
                <a:extLst>
                  <a:ext uri="{FF2B5EF4-FFF2-40B4-BE49-F238E27FC236}">
                    <a16:creationId xmlns:a16="http://schemas.microsoft.com/office/drawing/2014/main" id="{C6A8ABB6-B80D-A872-C4F4-750B9F9250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19" y="12600"/>
                <a:ext cx="656" cy="1117"/>
                <a:chOff x="6630" y="9353"/>
                <a:chExt cx="656" cy="1117"/>
              </a:xfrm>
            </p:grpSpPr>
            <p:grpSp>
              <p:nvGrpSpPr>
                <p:cNvPr id="61" name="Group 123">
                  <a:extLst>
                    <a:ext uri="{FF2B5EF4-FFF2-40B4-BE49-F238E27FC236}">
                      <a16:creationId xmlns:a16="http://schemas.microsoft.com/office/drawing/2014/main" id="{29C7C2DE-638D-6624-D0A9-A0F0AF1909B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0" y="9353"/>
                  <a:ext cx="652" cy="300"/>
                  <a:chOff x="6630" y="9353"/>
                  <a:chExt cx="652" cy="300"/>
                </a:xfrm>
              </p:grpSpPr>
              <p:sp>
                <p:nvSpPr>
                  <p:cNvPr id="72" name="Rectangle 124">
                    <a:extLst>
                      <a:ext uri="{FF2B5EF4-FFF2-40B4-BE49-F238E27FC236}">
                        <a16:creationId xmlns:a16="http://schemas.microsoft.com/office/drawing/2014/main" id="{B57CEFFE-81EC-666E-2807-DCDBE28E825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3" name="Rectangle 125">
                    <a:extLst>
                      <a:ext uri="{FF2B5EF4-FFF2-40B4-BE49-F238E27FC236}">
                        <a16:creationId xmlns:a16="http://schemas.microsoft.com/office/drawing/2014/main" id="{5F09EDE2-B6A3-714E-12E8-7B21633F923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4" name="Rectangle 126">
                    <a:extLst>
                      <a:ext uri="{FF2B5EF4-FFF2-40B4-BE49-F238E27FC236}">
                        <a16:creationId xmlns:a16="http://schemas.microsoft.com/office/drawing/2014/main" id="{47E4D00E-8A79-B413-D572-7AABDA25A6C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5" name="Rectangle 127">
                    <a:extLst>
                      <a:ext uri="{FF2B5EF4-FFF2-40B4-BE49-F238E27FC236}">
                        <a16:creationId xmlns:a16="http://schemas.microsoft.com/office/drawing/2014/main" id="{1328F93F-2174-CA64-066D-CBC2517FE75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62" name="Group 128">
                  <a:extLst>
                    <a:ext uri="{FF2B5EF4-FFF2-40B4-BE49-F238E27FC236}">
                      <a16:creationId xmlns:a16="http://schemas.microsoft.com/office/drawing/2014/main" id="{954BA0C9-5AB1-D26B-DB49-6AA06C22232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1" y="9758"/>
                  <a:ext cx="652" cy="300"/>
                  <a:chOff x="6630" y="9353"/>
                  <a:chExt cx="652" cy="300"/>
                </a:xfrm>
              </p:grpSpPr>
              <p:sp>
                <p:nvSpPr>
                  <p:cNvPr id="68" name="Rectangle 129">
                    <a:extLst>
                      <a:ext uri="{FF2B5EF4-FFF2-40B4-BE49-F238E27FC236}">
                        <a16:creationId xmlns:a16="http://schemas.microsoft.com/office/drawing/2014/main" id="{A6FCFCAC-DF47-EA47-1113-42A0892B73E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9" name="Rectangle 130">
                    <a:extLst>
                      <a:ext uri="{FF2B5EF4-FFF2-40B4-BE49-F238E27FC236}">
                        <a16:creationId xmlns:a16="http://schemas.microsoft.com/office/drawing/2014/main" id="{D31BF472-A19B-FB8F-BB66-8079635B3A8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0" name="Rectangle 131">
                    <a:extLst>
                      <a:ext uri="{FF2B5EF4-FFF2-40B4-BE49-F238E27FC236}">
                        <a16:creationId xmlns:a16="http://schemas.microsoft.com/office/drawing/2014/main" id="{71455684-B20D-9A41-E2BC-FAE8E882E73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1" name="Rectangle 132">
                    <a:extLst>
                      <a:ext uri="{FF2B5EF4-FFF2-40B4-BE49-F238E27FC236}">
                        <a16:creationId xmlns:a16="http://schemas.microsoft.com/office/drawing/2014/main" id="{0595256D-1EFC-F24F-16E5-FFF03B42023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63" name="Group 133">
                  <a:extLst>
                    <a:ext uri="{FF2B5EF4-FFF2-40B4-BE49-F238E27FC236}">
                      <a16:creationId xmlns:a16="http://schemas.microsoft.com/office/drawing/2014/main" id="{5BA9BBE1-8628-9862-4F1B-30CE87BD7F0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4" y="10170"/>
                  <a:ext cx="652" cy="300"/>
                  <a:chOff x="6630" y="9353"/>
                  <a:chExt cx="652" cy="300"/>
                </a:xfrm>
              </p:grpSpPr>
              <p:sp>
                <p:nvSpPr>
                  <p:cNvPr id="64" name="Rectangle 134">
                    <a:extLst>
                      <a:ext uri="{FF2B5EF4-FFF2-40B4-BE49-F238E27FC236}">
                        <a16:creationId xmlns:a16="http://schemas.microsoft.com/office/drawing/2014/main" id="{8B9180C8-5E09-3C25-F787-E2B03B3D51B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5" name="Rectangle 135">
                    <a:extLst>
                      <a:ext uri="{FF2B5EF4-FFF2-40B4-BE49-F238E27FC236}">
                        <a16:creationId xmlns:a16="http://schemas.microsoft.com/office/drawing/2014/main" id="{58D227AD-46B2-7107-E60E-5482E85E02A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6" name="Rectangle 136">
                    <a:extLst>
                      <a:ext uri="{FF2B5EF4-FFF2-40B4-BE49-F238E27FC236}">
                        <a16:creationId xmlns:a16="http://schemas.microsoft.com/office/drawing/2014/main" id="{E3BEEA8F-3D2D-D9C2-7259-68FE7FE895A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7" name="Rectangle 137">
                    <a:extLst>
                      <a:ext uri="{FF2B5EF4-FFF2-40B4-BE49-F238E27FC236}">
                        <a16:creationId xmlns:a16="http://schemas.microsoft.com/office/drawing/2014/main" id="{5D98EAFD-8E6F-D2B0-7322-5509820FC82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39" name="Group 138">
                <a:extLst>
                  <a:ext uri="{FF2B5EF4-FFF2-40B4-BE49-F238E27FC236}">
                    <a16:creationId xmlns:a16="http://schemas.microsoft.com/office/drawing/2014/main" id="{7BE5DA8A-9B90-678B-1B93-9314177B215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19" y="10620"/>
                <a:ext cx="652" cy="300"/>
                <a:chOff x="6630" y="9353"/>
                <a:chExt cx="652" cy="300"/>
              </a:xfrm>
            </p:grpSpPr>
            <p:sp>
              <p:nvSpPr>
                <p:cNvPr id="57" name="Rectangle 139">
                  <a:extLst>
                    <a:ext uri="{FF2B5EF4-FFF2-40B4-BE49-F238E27FC236}">
                      <a16:creationId xmlns:a16="http://schemas.microsoft.com/office/drawing/2014/main" id="{58300E24-B01E-5505-1CFB-DC6CC4064E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63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8" name="Rectangle 140">
                  <a:extLst>
                    <a:ext uri="{FF2B5EF4-FFF2-40B4-BE49-F238E27FC236}">
                      <a16:creationId xmlns:a16="http://schemas.microsoft.com/office/drawing/2014/main" id="{51065E95-4DAF-9D76-07D3-0B0FCCA82B5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807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9" name="Rectangle 141">
                  <a:extLst>
                    <a:ext uri="{FF2B5EF4-FFF2-40B4-BE49-F238E27FC236}">
                      <a16:creationId xmlns:a16="http://schemas.microsoft.com/office/drawing/2014/main" id="{A93D6D37-A5C3-EE18-A2DB-F104129DFF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99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0" name="Rectangle 142">
                  <a:extLst>
                    <a:ext uri="{FF2B5EF4-FFF2-40B4-BE49-F238E27FC236}">
                      <a16:creationId xmlns:a16="http://schemas.microsoft.com/office/drawing/2014/main" id="{EEA9ADDB-BE33-B4EC-F266-E804BB1D5B3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163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40" name="Rectangle 143">
                <a:extLst>
                  <a:ext uri="{FF2B5EF4-FFF2-40B4-BE49-F238E27FC236}">
                    <a16:creationId xmlns:a16="http://schemas.microsoft.com/office/drawing/2014/main" id="{D5BA53BE-5512-E1DA-83E0-2EFD278566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620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Rectangle 144">
                <a:extLst>
                  <a:ext uri="{FF2B5EF4-FFF2-40B4-BE49-F238E27FC236}">
                    <a16:creationId xmlns:a16="http://schemas.microsoft.com/office/drawing/2014/main" id="{3002A3FF-F7A7-A3DC-ED4A-029EA55B31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797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Rectangle 145">
                <a:extLst>
                  <a:ext uri="{FF2B5EF4-FFF2-40B4-BE49-F238E27FC236}">
                    <a16:creationId xmlns:a16="http://schemas.microsoft.com/office/drawing/2014/main" id="{12B513E1-19AC-2FEB-23F7-1AEC34A81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980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Rectangle 146">
                <a:extLst>
                  <a:ext uri="{FF2B5EF4-FFF2-40B4-BE49-F238E27FC236}">
                    <a16:creationId xmlns:a16="http://schemas.microsoft.com/office/drawing/2014/main" id="{4EE482D5-B9F1-B58F-E4EB-9E553C866E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53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Rectangle 147">
                <a:extLst>
                  <a:ext uri="{FF2B5EF4-FFF2-40B4-BE49-F238E27FC236}">
                    <a16:creationId xmlns:a16="http://schemas.microsoft.com/office/drawing/2014/main" id="{BAEFC572-DB2F-5E18-BB00-F68DD8E88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623" y="11437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Rectangle 148">
                <a:extLst>
                  <a:ext uri="{FF2B5EF4-FFF2-40B4-BE49-F238E27FC236}">
                    <a16:creationId xmlns:a16="http://schemas.microsoft.com/office/drawing/2014/main" id="{F3744146-F24A-B69C-B315-EA78E45514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800" y="11437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Rectangle 149">
                <a:extLst>
                  <a:ext uri="{FF2B5EF4-FFF2-40B4-BE49-F238E27FC236}">
                    <a16:creationId xmlns:a16="http://schemas.microsoft.com/office/drawing/2014/main" id="{995B9E08-CB7D-F618-8BC6-1C221D9768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56" y="11437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47" name="Group 150">
                <a:extLst>
                  <a:ext uri="{FF2B5EF4-FFF2-40B4-BE49-F238E27FC236}">
                    <a16:creationId xmlns:a16="http://schemas.microsoft.com/office/drawing/2014/main" id="{56D3C6E8-68F4-2241-8472-6495EFA0244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26" y="12233"/>
                <a:ext cx="652" cy="300"/>
                <a:chOff x="6630" y="9353"/>
                <a:chExt cx="652" cy="300"/>
              </a:xfrm>
            </p:grpSpPr>
            <p:sp>
              <p:nvSpPr>
                <p:cNvPr id="53" name="Rectangle 151">
                  <a:extLst>
                    <a:ext uri="{FF2B5EF4-FFF2-40B4-BE49-F238E27FC236}">
                      <a16:creationId xmlns:a16="http://schemas.microsoft.com/office/drawing/2014/main" id="{4D0EC93A-BCB7-70E5-0282-8982D885C5A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63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4" name="Rectangle 152">
                  <a:extLst>
                    <a:ext uri="{FF2B5EF4-FFF2-40B4-BE49-F238E27FC236}">
                      <a16:creationId xmlns:a16="http://schemas.microsoft.com/office/drawing/2014/main" id="{19A95BB3-F004-0D93-6968-E9CA6993DEE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807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5" name="Rectangle 153">
                  <a:extLst>
                    <a:ext uri="{FF2B5EF4-FFF2-40B4-BE49-F238E27FC236}">
                      <a16:creationId xmlns:a16="http://schemas.microsoft.com/office/drawing/2014/main" id="{1BB73785-B536-0296-24CA-F00BBF4D61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99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6" name="Rectangle 154">
                  <a:extLst>
                    <a:ext uri="{FF2B5EF4-FFF2-40B4-BE49-F238E27FC236}">
                      <a16:creationId xmlns:a16="http://schemas.microsoft.com/office/drawing/2014/main" id="{8960B061-0626-B8A0-9F70-D614B3FE75F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163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48" name="Group 155">
                <a:extLst>
                  <a:ext uri="{FF2B5EF4-FFF2-40B4-BE49-F238E27FC236}">
                    <a16:creationId xmlns:a16="http://schemas.microsoft.com/office/drawing/2014/main" id="{9E6539B9-DF13-6CF9-7333-706F663779F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23" y="11822"/>
                <a:ext cx="652" cy="300"/>
                <a:chOff x="6630" y="9353"/>
                <a:chExt cx="652" cy="300"/>
              </a:xfrm>
            </p:grpSpPr>
            <p:sp>
              <p:nvSpPr>
                <p:cNvPr id="49" name="Rectangle 156">
                  <a:extLst>
                    <a:ext uri="{FF2B5EF4-FFF2-40B4-BE49-F238E27FC236}">
                      <a16:creationId xmlns:a16="http://schemas.microsoft.com/office/drawing/2014/main" id="{7CBE3CBE-AAD1-5664-AD5F-C7545FB22F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63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" name="Rectangle 157">
                  <a:extLst>
                    <a:ext uri="{FF2B5EF4-FFF2-40B4-BE49-F238E27FC236}">
                      <a16:creationId xmlns:a16="http://schemas.microsoft.com/office/drawing/2014/main" id="{E1F5F83F-D61B-2FA2-AB10-D4C91FA7330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807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1" name="Rectangle 158">
                  <a:extLst>
                    <a:ext uri="{FF2B5EF4-FFF2-40B4-BE49-F238E27FC236}">
                      <a16:creationId xmlns:a16="http://schemas.microsoft.com/office/drawing/2014/main" id="{C6F623A9-92CC-E74E-121E-B967605813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99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2" name="Rectangle 159">
                  <a:extLst>
                    <a:ext uri="{FF2B5EF4-FFF2-40B4-BE49-F238E27FC236}">
                      <a16:creationId xmlns:a16="http://schemas.microsoft.com/office/drawing/2014/main" id="{89F0CA23-4F1C-A469-386F-50ACFBBCFB1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163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23" name="Text Box 160">
              <a:extLst>
                <a:ext uri="{FF2B5EF4-FFF2-40B4-BE49-F238E27FC236}">
                  <a16:creationId xmlns:a16="http://schemas.microsoft.com/office/drawing/2014/main" id="{018D9296-4478-2D1C-11BE-C8A7B2F5BB4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61" y="1080"/>
              <a:ext cx="83" cy="1090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ko-KR" sz="1100" dirty="0">
                  <a:latin typeface="Tahoma" pitchFamily="34" charset="0"/>
                  <a:ea typeface="Batang" pitchFamily="18" charset="-127"/>
                </a:rPr>
                <a:t> </a:t>
              </a:r>
              <a:r>
                <a:rPr lang="en-US" altLang="ko-KR" sz="1100" b="1" dirty="0">
                  <a:latin typeface="Tahoma" pitchFamily="34" charset="0"/>
                  <a:ea typeface="Batang" pitchFamily="18" charset="-127"/>
                </a:rPr>
                <a:t>Radiator</a:t>
              </a:r>
              <a:endParaRPr lang="en-US" altLang="ko-KR" sz="2200" dirty="0">
                <a:ea typeface="Gulim" pitchFamily="34" charset="-127"/>
              </a:endParaRPr>
            </a:p>
          </p:txBody>
        </p:sp>
        <p:sp>
          <p:nvSpPr>
            <p:cNvPr id="24" name="Text Box 161">
              <a:extLst>
                <a:ext uri="{FF2B5EF4-FFF2-40B4-BE49-F238E27FC236}">
                  <a16:creationId xmlns:a16="http://schemas.microsoft.com/office/drawing/2014/main" id="{72D692EB-DC85-5E3D-9B2F-B94322A6F0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84" y="1026"/>
              <a:ext cx="791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ko-KR" sz="1100" b="1" dirty="0">
                  <a:latin typeface="Tahoma" pitchFamily="34" charset="0"/>
                  <a:ea typeface="Batang" pitchFamily="18" charset="-127"/>
                </a:rPr>
                <a:t>Finger  guard</a:t>
              </a:r>
              <a:endParaRPr lang="en-US" altLang="ko-KR" sz="2200" dirty="0">
                <a:ea typeface="Gulim" pitchFamily="34" charset="-127"/>
              </a:endParaRPr>
            </a:p>
          </p:txBody>
        </p:sp>
        <p:sp>
          <p:nvSpPr>
            <p:cNvPr id="25" name="Text Box 162">
              <a:extLst>
                <a:ext uri="{FF2B5EF4-FFF2-40B4-BE49-F238E27FC236}">
                  <a16:creationId xmlns:a16="http://schemas.microsoft.com/office/drawing/2014/main" id="{9802063A-DF14-195B-FC51-F71BFDB79A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54" y="945"/>
              <a:ext cx="591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ko-KR" altLang="en-US" sz="2200">
                <a:ea typeface="Gulim" pitchFamily="34" charset="-127"/>
              </a:endParaRPr>
            </a:p>
          </p:txBody>
        </p:sp>
        <p:sp>
          <p:nvSpPr>
            <p:cNvPr id="26" name="Freeform 163">
              <a:extLst>
                <a:ext uri="{FF2B5EF4-FFF2-40B4-BE49-F238E27FC236}">
                  <a16:creationId xmlns:a16="http://schemas.microsoft.com/office/drawing/2014/main" id="{88C7752D-BD92-D5DB-C4D1-0550406BC3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6" y="1164"/>
              <a:ext cx="292" cy="44"/>
            </a:xfrm>
            <a:custGeom>
              <a:avLst/>
              <a:gdLst>
                <a:gd name="T0" fmla="*/ 0 w 292"/>
                <a:gd name="T1" fmla="*/ 0 h 44"/>
                <a:gd name="T2" fmla="*/ 51 w 292"/>
                <a:gd name="T3" fmla="*/ 10 h 44"/>
                <a:gd name="T4" fmla="*/ 292 w 292"/>
                <a:gd name="T5" fmla="*/ 44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2" h="44">
                  <a:moveTo>
                    <a:pt x="0" y="0"/>
                  </a:moveTo>
                  <a:cubicBezTo>
                    <a:pt x="8" y="3"/>
                    <a:pt x="2" y="3"/>
                    <a:pt x="51" y="10"/>
                  </a:cubicBezTo>
                  <a:cubicBezTo>
                    <a:pt x="100" y="17"/>
                    <a:pt x="242" y="37"/>
                    <a:pt x="292" y="44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164">
              <a:extLst>
                <a:ext uri="{FF2B5EF4-FFF2-40B4-BE49-F238E27FC236}">
                  <a16:creationId xmlns:a16="http://schemas.microsoft.com/office/drawing/2014/main" id="{677EA844-38CB-8893-448A-DB62220924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53" y="977"/>
              <a:ext cx="214" cy="80"/>
            </a:xfrm>
            <a:custGeom>
              <a:avLst/>
              <a:gdLst>
                <a:gd name="T0" fmla="*/ 0 w 1035"/>
                <a:gd name="T1" fmla="*/ 0 h 390"/>
                <a:gd name="T2" fmla="*/ 0 w 1035"/>
                <a:gd name="T3" fmla="*/ 0 h 390"/>
                <a:gd name="T4" fmla="*/ 0 w 1035"/>
                <a:gd name="T5" fmla="*/ 0 h 3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5" h="390">
                  <a:moveTo>
                    <a:pt x="0" y="0"/>
                  </a:moveTo>
                  <a:cubicBezTo>
                    <a:pt x="90" y="20"/>
                    <a:pt x="368" y="55"/>
                    <a:pt x="540" y="120"/>
                  </a:cubicBezTo>
                  <a:cubicBezTo>
                    <a:pt x="712" y="185"/>
                    <a:pt x="932" y="334"/>
                    <a:pt x="1035" y="39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165">
              <a:extLst>
                <a:ext uri="{FF2B5EF4-FFF2-40B4-BE49-F238E27FC236}">
                  <a16:creationId xmlns:a16="http://schemas.microsoft.com/office/drawing/2014/main" id="{000F53D6-7F7C-3EC7-46DD-80FFD4272DB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0" y="912"/>
              <a:ext cx="50" cy="145"/>
            </a:xfrm>
            <a:custGeom>
              <a:avLst/>
              <a:gdLst>
                <a:gd name="T0" fmla="*/ 0 w 240"/>
                <a:gd name="T1" fmla="*/ 0 h 705"/>
                <a:gd name="T2" fmla="*/ 0 w 240"/>
                <a:gd name="T3" fmla="*/ 0 h 705"/>
                <a:gd name="T4" fmla="*/ 0 w 240"/>
                <a:gd name="T5" fmla="*/ 0 h 7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705">
                  <a:moveTo>
                    <a:pt x="0" y="0"/>
                  </a:moveTo>
                  <a:cubicBezTo>
                    <a:pt x="20" y="47"/>
                    <a:pt x="95" y="168"/>
                    <a:pt x="135" y="285"/>
                  </a:cubicBezTo>
                  <a:cubicBezTo>
                    <a:pt x="175" y="402"/>
                    <a:pt x="218" y="618"/>
                    <a:pt x="240" y="705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166">
              <a:extLst>
                <a:ext uri="{FF2B5EF4-FFF2-40B4-BE49-F238E27FC236}">
                  <a16:creationId xmlns:a16="http://schemas.microsoft.com/office/drawing/2014/main" id="{9B4C5ABE-C9C2-A6C8-6FB2-E293C7FA10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32" y="1385"/>
              <a:ext cx="347" cy="36"/>
            </a:xfrm>
            <a:custGeom>
              <a:avLst/>
              <a:gdLst>
                <a:gd name="T0" fmla="*/ 0 w 1684"/>
                <a:gd name="T1" fmla="*/ 0 h 177"/>
                <a:gd name="T2" fmla="*/ 0 w 1684"/>
                <a:gd name="T3" fmla="*/ 0 h 177"/>
                <a:gd name="T4" fmla="*/ 0 w 1684"/>
                <a:gd name="T5" fmla="*/ 0 h 1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4" h="177">
                  <a:moveTo>
                    <a:pt x="0" y="0"/>
                  </a:moveTo>
                  <a:cubicBezTo>
                    <a:pt x="118" y="25"/>
                    <a:pt x="413" y="123"/>
                    <a:pt x="694" y="150"/>
                  </a:cubicBezTo>
                  <a:cubicBezTo>
                    <a:pt x="975" y="177"/>
                    <a:pt x="1478" y="162"/>
                    <a:pt x="1684" y="165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167">
              <a:extLst>
                <a:ext uri="{FF2B5EF4-FFF2-40B4-BE49-F238E27FC236}">
                  <a16:creationId xmlns:a16="http://schemas.microsoft.com/office/drawing/2014/main" id="{A24516E9-491B-6345-C9F3-B36D521D229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28" y="2094"/>
              <a:ext cx="347" cy="84"/>
            </a:xfrm>
            <a:custGeom>
              <a:avLst/>
              <a:gdLst>
                <a:gd name="T0" fmla="*/ 0 w 347"/>
                <a:gd name="T1" fmla="*/ 84 h 84"/>
                <a:gd name="T2" fmla="*/ 126 w 347"/>
                <a:gd name="T3" fmla="*/ 24 h 84"/>
                <a:gd name="T4" fmla="*/ 347 w 347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7" h="84">
                  <a:moveTo>
                    <a:pt x="0" y="84"/>
                  </a:moveTo>
                  <a:cubicBezTo>
                    <a:pt x="21" y="74"/>
                    <a:pt x="68" y="38"/>
                    <a:pt x="126" y="24"/>
                  </a:cubicBezTo>
                  <a:cubicBezTo>
                    <a:pt x="184" y="10"/>
                    <a:pt x="301" y="5"/>
                    <a:pt x="347" y="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168">
              <a:extLst>
                <a:ext uri="{FF2B5EF4-FFF2-40B4-BE49-F238E27FC236}">
                  <a16:creationId xmlns:a16="http://schemas.microsoft.com/office/drawing/2014/main" id="{7B936FD5-5E6E-4A91-ECB6-3E8449738E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00" y="2130"/>
              <a:ext cx="154" cy="115"/>
            </a:xfrm>
            <a:custGeom>
              <a:avLst/>
              <a:gdLst>
                <a:gd name="T0" fmla="*/ 0 w 750"/>
                <a:gd name="T1" fmla="*/ 0 h 555"/>
                <a:gd name="T2" fmla="*/ 0 w 750"/>
                <a:gd name="T3" fmla="*/ 0 h 555"/>
                <a:gd name="T4" fmla="*/ 0 w 750"/>
                <a:gd name="T5" fmla="*/ 0 h 5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0" h="555">
                  <a:moveTo>
                    <a:pt x="0" y="555"/>
                  </a:moveTo>
                  <a:cubicBezTo>
                    <a:pt x="78" y="532"/>
                    <a:pt x="340" y="512"/>
                    <a:pt x="465" y="420"/>
                  </a:cubicBezTo>
                  <a:cubicBezTo>
                    <a:pt x="590" y="328"/>
                    <a:pt x="691" y="88"/>
                    <a:pt x="750" y="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169">
              <a:extLst>
                <a:ext uri="{FF2B5EF4-FFF2-40B4-BE49-F238E27FC236}">
                  <a16:creationId xmlns:a16="http://schemas.microsoft.com/office/drawing/2014/main" id="{9DAD9E87-8A62-5BF1-30B4-57107A93EA3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28" y="2130"/>
              <a:ext cx="32" cy="167"/>
            </a:xfrm>
            <a:custGeom>
              <a:avLst/>
              <a:gdLst>
                <a:gd name="T0" fmla="*/ 0 w 150"/>
                <a:gd name="T1" fmla="*/ 0 h 810"/>
                <a:gd name="T2" fmla="*/ 0 w 150"/>
                <a:gd name="T3" fmla="*/ 0 h 810"/>
                <a:gd name="T4" fmla="*/ 0 w 150"/>
                <a:gd name="T5" fmla="*/ 0 h 8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810">
                  <a:moveTo>
                    <a:pt x="0" y="810"/>
                  </a:moveTo>
                  <a:cubicBezTo>
                    <a:pt x="21" y="753"/>
                    <a:pt x="84" y="600"/>
                    <a:pt x="109" y="465"/>
                  </a:cubicBezTo>
                  <a:cubicBezTo>
                    <a:pt x="134" y="330"/>
                    <a:pt x="141" y="97"/>
                    <a:pt x="150" y="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AutoShape 170">
              <a:extLst>
                <a:ext uri="{FF2B5EF4-FFF2-40B4-BE49-F238E27FC236}">
                  <a16:creationId xmlns:a16="http://schemas.microsoft.com/office/drawing/2014/main" id="{D1C06E84-538A-C936-1F8D-A4521BEDDE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5" y="1296"/>
              <a:ext cx="104" cy="25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69 w 21600"/>
                <a:gd name="T13" fmla="*/ 4503 h 21600"/>
                <a:gd name="T14" fmla="*/ 17031 w 21600"/>
                <a:gd name="T15" fmla="*/ 1709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Freeform 171">
              <a:extLst>
                <a:ext uri="{FF2B5EF4-FFF2-40B4-BE49-F238E27FC236}">
                  <a16:creationId xmlns:a16="http://schemas.microsoft.com/office/drawing/2014/main" id="{E5442F0C-48DE-EB0B-1C76-B7A393EF02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41" y="1863"/>
              <a:ext cx="319" cy="47"/>
            </a:xfrm>
            <a:custGeom>
              <a:avLst/>
              <a:gdLst>
                <a:gd name="T0" fmla="*/ 0 w 1545"/>
                <a:gd name="T1" fmla="*/ 0 h 232"/>
                <a:gd name="T2" fmla="*/ 0 w 1545"/>
                <a:gd name="T3" fmla="*/ 0 h 232"/>
                <a:gd name="T4" fmla="*/ 0 w 1545"/>
                <a:gd name="T5" fmla="*/ 0 h 2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5" h="232">
                  <a:moveTo>
                    <a:pt x="0" y="232"/>
                  </a:moveTo>
                  <a:cubicBezTo>
                    <a:pt x="97" y="199"/>
                    <a:pt x="328" y="74"/>
                    <a:pt x="585" y="37"/>
                  </a:cubicBezTo>
                  <a:cubicBezTo>
                    <a:pt x="842" y="0"/>
                    <a:pt x="1345" y="13"/>
                    <a:pt x="1545" y="7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AutoShape 172">
              <a:extLst>
                <a:ext uri="{FF2B5EF4-FFF2-40B4-BE49-F238E27FC236}">
                  <a16:creationId xmlns:a16="http://schemas.microsoft.com/office/drawing/2014/main" id="{3FCD512A-DBC2-3BE9-6CED-59FF31790E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0800000">
              <a:off x="4416" y="1747"/>
              <a:ext cx="105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26 w 21600"/>
                <a:gd name="T13" fmla="*/ 4486 h 21600"/>
                <a:gd name="T14" fmla="*/ 17074 w 21600"/>
                <a:gd name="T15" fmla="*/ 1711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 Box 173">
              <a:extLst>
                <a:ext uri="{FF2B5EF4-FFF2-40B4-BE49-F238E27FC236}">
                  <a16:creationId xmlns:a16="http://schemas.microsoft.com/office/drawing/2014/main" id="{46FCDCB1-A6F6-BB3B-E7F4-5E4643503E8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0" y="935"/>
              <a:ext cx="41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ko-KR" sz="1100" b="1" dirty="0">
                  <a:latin typeface="Tahoma" pitchFamily="34" charset="0"/>
                  <a:ea typeface="Batang" pitchFamily="18" charset="-127"/>
                </a:rPr>
                <a:t>Shroud</a:t>
              </a:r>
              <a:endParaRPr lang="en-US" altLang="ko-KR" sz="2200" dirty="0">
                <a:ea typeface="Gulim" pitchFamily="34" charset="-127"/>
              </a:endParaRPr>
            </a:p>
          </p:txBody>
        </p:sp>
      </p:grpSp>
      <p:grpSp>
        <p:nvGrpSpPr>
          <p:cNvPr id="91" name="Group 175">
            <a:extLst>
              <a:ext uri="{FF2B5EF4-FFF2-40B4-BE49-F238E27FC236}">
                <a16:creationId xmlns:a16="http://schemas.microsoft.com/office/drawing/2014/main" id="{91A640C1-A3B9-7775-9767-5A3C051381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16578" y="3079876"/>
            <a:ext cx="3433579" cy="3579214"/>
            <a:chOff x="3264" y="2352"/>
            <a:chExt cx="1872" cy="1849"/>
          </a:xfrm>
        </p:grpSpPr>
        <p:pic>
          <p:nvPicPr>
            <p:cNvPr id="92" name="Picture 7" descr="Fan_OR">
              <a:extLst>
                <a:ext uri="{FF2B5EF4-FFF2-40B4-BE49-F238E27FC236}">
                  <a16:creationId xmlns:a16="http://schemas.microsoft.com/office/drawing/2014/main" id="{02DDE5D6-B533-B7CD-EE4A-B5BD3FE78E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8" y="2555"/>
              <a:ext cx="1347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Text Box 8">
              <a:extLst>
                <a:ext uri="{FF2B5EF4-FFF2-40B4-BE49-F238E27FC236}">
                  <a16:creationId xmlns:a16="http://schemas.microsoft.com/office/drawing/2014/main" id="{2D54A5E4-C746-6076-7732-F2E293E08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2352"/>
              <a:ext cx="10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latin typeface="Tahoma" pitchFamily="34" charset="0"/>
                  <a:ea typeface="Gulim" pitchFamily="34" charset="-127"/>
                </a:rPr>
                <a:t>Spider (Hub)</a:t>
              </a:r>
            </a:p>
          </p:txBody>
        </p:sp>
        <p:sp>
          <p:nvSpPr>
            <p:cNvPr id="94" name="Line 9">
              <a:extLst>
                <a:ext uri="{FF2B5EF4-FFF2-40B4-BE49-F238E27FC236}">
                  <a16:creationId xmlns:a16="http://schemas.microsoft.com/office/drawing/2014/main" id="{01B74E0F-E2E5-7F13-A463-47F551891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0" y="2519"/>
              <a:ext cx="380" cy="537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A5C75780-FBEF-B1E7-75DC-D7E99BB03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698"/>
              <a:ext cx="144" cy="263"/>
            </a:xfrm>
            <a:custGeom>
              <a:avLst/>
              <a:gdLst>
                <a:gd name="T0" fmla="*/ 28 w 200"/>
                <a:gd name="T1" fmla="*/ 61 h 352"/>
                <a:gd name="T2" fmla="*/ 17 w 200"/>
                <a:gd name="T3" fmla="*/ 28 h 352"/>
                <a:gd name="T4" fmla="*/ 0 w 200"/>
                <a:gd name="T5" fmla="*/ 0 h 3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352">
                  <a:moveTo>
                    <a:pt x="200" y="352"/>
                  </a:moveTo>
                  <a:cubicBezTo>
                    <a:pt x="185" y="320"/>
                    <a:pt x="153" y="219"/>
                    <a:pt x="120" y="160"/>
                  </a:cubicBezTo>
                  <a:cubicBezTo>
                    <a:pt x="87" y="101"/>
                    <a:pt x="25" y="33"/>
                    <a:pt x="0" y="0"/>
                  </a:cubicBezTo>
                </a:path>
              </a:pathLst>
            </a:custGeom>
            <a:noFill/>
            <a:ln w="31750" cap="flat" cmpd="sng">
              <a:solidFill>
                <a:schemeClr val="bg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Text Box 11">
              <a:extLst>
                <a:ext uri="{FF2B5EF4-FFF2-40B4-BE49-F238E27FC236}">
                  <a16:creationId xmlns:a16="http://schemas.microsoft.com/office/drawing/2014/main" id="{10EB3D2C-6F62-D60B-4331-73D3B041C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" y="2531"/>
              <a:ext cx="58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b="1" i="1" dirty="0">
                  <a:solidFill>
                    <a:schemeClr val="bg1"/>
                  </a:solidFill>
                  <a:latin typeface="Tahoma" pitchFamily="34" charset="0"/>
                  <a:ea typeface="Gulim" pitchFamily="34" charset="-127"/>
                </a:rPr>
                <a:t>Rotation</a:t>
              </a:r>
            </a:p>
          </p:txBody>
        </p:sp>
        <p:sp>
          <p:nvSpPr>
            <p:cNvPr id="97" name="Text Box 12">
              <a:extLst>
                <a:ext uri="{FF2B5EF4-FFF2-40B4-BE49-F238E27FC236}">
                  <a16:creationId xmlns:a16="http://schemas.microsoft.com/office/drawing/2014/main" id="{79B05CB2-F2C8-5785-A127-F3BE062D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44"/>
              <a:ext cx="10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latin typeface="Tahoma" pitchFamily="34" charset="0"/>
                  <a:ea typeface="Gulim" pitchFamily="34" charset="-127"/>
                </a:rPr>
                <a:t>Leading edge</a:t>
              </a:r>
            </a:p>
          </p:txBody>
        </p:sp>
        <p:sp>
          <p:nvSpPr>
            <p:cNvPr id="98" name="Text Box 13">
              <a:extLst>
                <a:ext uri="{FF2B5EF4-FFF2-40B4-BE49-F238E27FC236}">
                  <a16:creationId xmlns:a16="http://schemas.microsoft.com/office/drawing/2014/main" id="{D642DA02-E532-BE17-79B5-061CFBEB3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6" y="3835"/>
              <a:ext cx="76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100" dirty="0">
                  <a:latin typeface="Tahoma" pitchFamily="34" charset="0"/>
                  <a:ea typeface="Gulim" pitchFamily="34" charset="-127"/>
                </a:rPr>
                <a:t>Trailing edge</a:t>
              </a:r>
            </a:p>
          </p:txBody>
        </p:sp>
        <p:sp>
          <p:nvSpPr>
            <p:cNvPr id="99" name="Line 14">
              <a:extLst>
                <a:ext uri="{FF2B5EF4-FFF2-40B4-BE49-F238E27FC236}">
                  <a16:creationId xmlns:a16="http://schemas.microsoft.com/office/drawing/2014/main" id="{DCCF0493-6226-0442-A4FB-2F8CE7A4F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3" y="3612"/>
              <a:ext cx="227" cy="23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Line 15">
              <a:extLst>
                <a:ext uri="{FF2B5EF4-FFF2-40B4-BE49-F238E27FC236}">
                  <a16:creationId xmlns:a16="http://schemas.microsoft.com/office/drawing/2014/main" id="{E20E3971-7582-AD7C-DAD7-1221B567C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3594"/>
              <a:ext cx="276" cy="250"/>
            </a:xfrm>
            <a:prstGeom prst="line">
              <a:avLst/>
            </a:prstGeom>
            <a:noFill/>
            <a:ln w="19050">
              <a:solidFill>
                <a:srgbClr val="1317B9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Line 16">
              <a:extLst>
                <a:ext uri="{FF2B5EF4-FFF2-40B4-BE49-F238E27FC236}">
                  <a16:creationId xmlns:a16="http://schemas.microsoft.com/office/drawing/2014/main" id="{765BEAED-A6B6-610C-2CF7-34AFF1114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3" y="3737"/>
              <a:ext cx="29" cy="264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Text Box 17">
              <a:extLst>
                <a:ext uri="{FF2B5EF4-FFF2-40B4-BE49-F238E27FC236}">
                  <a16:creationId xmlns:a16="http://schemas.microsoft.com/office/drawing/2014/main" id="{73991042-E90B-E4E4-B7DD-4E6D9D546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" y="3988"/>
              <a:ext cx="71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latin typeface="Tahoma" pitchFamily="34" charset="0"/>
                  <a:ea typeface="Gulim" pitchFamily="34" charset="-127"/>
                </a:rPr>
                <a:t>Blade tip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1193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C344-3417-9630-047D-BB6CFF41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52CA-FA4D-55CA-B2D9-FF1895A8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7400-BB5B-B62C-C0F0-E0FF40FF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649156" cy="5036494"/>
          </a:xfrm>
        </p:spPr>
        <p:txBody>
          <a:bodyPr/>
          <a:lstStyle/>
          <a:p>
            <a:r>
              <a:rPr lang="en-US" dirty="0"/>
              <a:t>Removing the upstream obstruction to make the incoming flow more uniform.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F5165-4DA2-7A55-0037-A8230A99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C4BD6-A553-151E-FA8C-49CBE621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2DD0B-DD14-EBDB-26D5-333622714C38}"/>
              </a:ext>
            </a:extLst>
          </p:cNvPr>
          <p:cNvSpPr txBox="1"/>
          <p:nvPr/>
        </p:nvSpPr>
        <p:spPr>
          <a:xfrm>
            <a:off x="7738533" y="5738938"/>
            <a:ext cx="31778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latin typeface="+mn-lt"/>
              </a:rPr>
              <a:t>Kim, Geon-Seok, “Discrete-Frequency and Broadband Noise Radiation from Diesel Engine Cooling Fans,” Ph.D. Thesis in Acoustics, The Pennsylvania State University, December 2007.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F28B0B3-B929-1904-20FA-374F6AA73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47080" y="0"/>
            <a:ext cx="4555767" cy="388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E5A90AB1-AA0C-5832-D175-F414C77E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6" y="2657753"/>
            <a:ext cx="6194601" cy="38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2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8449-3509-AF2F-FE0D-4A834E63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CAE9-15AF-4D04-B87E-8E52B5C3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C685-3B4F-1A30-2910-16176E48D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2822"/>
            <a:ext cx="6649156" cy="5036494"/>
          </a:xfrm>
        </p:spPr>
        <p:txBody>
          <a:bodyPr/>
          <a:lstStyle/>
          <a:p>
            <a:r>
              <a:rPr lang="en-US" dirty="0"/>
              <a:t>Adjust the shape of the blades (skew) to spread out the interactions in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9D9EC-EA82-4FCC-79AF-A2A8318A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BA901-6257-1486-2294-D6667566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9BD3C-4108-49C7-6B98-21A1AAEB9E93}"/>
              </a:ext>
            </a:extLst>
          </p:cNvPr>
          <p:cNvSpPr txBox="1"/>
          <p:nvPr/>
        </p:nvSpPr>
        <p:spPr>
          <a:xfrm>
            <a:off x="8667374" y="3699513"/>
            <a:ext cx="31778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latin typeface="+mn-lt"/>
              </a:rPr>
              <a:t>Kim, Geon-Seok, “Discrete-Frequency and Broadband Noise Radiation from Diesel Engine Cooling Fans,” Ph.D. Thesis in Acoustics, The Pennsylvania State University, December 2007.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A5B660D-7E38-6DD6-CA91-7704F3F4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57118" y="0"/>
            <a:ext cx="3745728" cy="3191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E33B22F-2A30-55A0-5EC2-B817B519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290" y="1793831"/>
            <a:ext cx="5657850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F42F95B-DAFD-4A4E-C37C-0076CD4CE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3" y="1536828"/>
            <a:ext cx="1714500" cy="155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5BFBFFE1-925A-4707-2C6B-3F4A35F89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3" y="3276960"/>
            <a:ext cx="1733204" cy="15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0FA52D9-AB4A-0F7B-D050-983C36D09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88" y="5048026"/>
            <a:ext cx="1720215" cy="156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D3CA6E-F8FA-7963-EF92-534CC1B72CDF}"/>
              </a:ext>
            </a:extLst>
          </p:cNvPr>
          <p:cNvSpPr txBox="1"/>
          <p:nvPr/>
        </p:nvSpPr>
        <p:spPr>
          <a:xfrm>
            <a:off x="3212603" y="2317977"/>
            <a:ext cx="1447800" cy="600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latin typeface="+mn-lt"/>
              </a:rPr>
              <a:t>1xBR Dominated by  Tip/Shroud Opening Interaction</a:t>
            </a:r>
          </a:p>
        </p:txBody>
      </p:sp>
    </p:spTree>
    <p:extLst>
      <p:ext uri="{BB962C8B-B14F-4D97-AF65-F5344CB8AC3E}">
        <p14:creationId xmlns:p14="http://schemas.microsoft.com/office/powerpoint/2010/main" val="1771897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AAE6-875D-CACE-3908-DCD902F5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Self-generated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9CEB5-B679-1504-5417-6595D380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035282" cy="5036494"/>
          </a:xfrm>
        </p:spPr>
        <p:txBody>
          <a:bodyPr/>
          <a:lstStyle/>
          <a:p>
            <a:r>
              <a:rPr lang="en-US" dirty="0"/>
              <a:t>Wings and blades generate large-scale, relatively stable vortex structures.</a:t>
            </a:r>
          </a:p>
          <a:p>
            <a:r>
              <a:rPr lang="en-US" dirty="0"/>
              <a:t>If one blade leaves a vortex behind, the following blade can impact it, leading to blade rate tones.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D3877-841D-30CF-A4E8-3F8EECCC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C9AEE-31DE-3996-5A39-436CB875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1298DF-3323-61C2-303A-99AEE3AB0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2" y="1897793"/>
            <a:ext cx="4910331" cy="39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7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8E84-EDA0-A9CD-B9CE-5B2311F5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DE6A-8ED8-F3F6-418A-D1A16CA9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Self-generated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EC78-652A-DA2E-EE87-041FE396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00695"/>
            <a:ext cx="7968343" cy="5036494"/>
          </a:xfrm>
        </p:spPr>
        <p:txBody>
          <a:bodyPr/>
          <a:lstStyle/>
          <a:p>
            <a:r>
              <a:rPr lang="en-US" dirty="0"/>
              <a:t>Tip vortex</a:t>
            </a:r>
          </a:p>
          <a:p>
            <a:r>
              <a:rPr lang="en-US" dirty="0"/>
              <a:t>https://www.youtube.com/watch?v=AolOz2AkpiE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14B05-7FE7-AD88-B41B-F6003C6B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DBB6A-E000-831E-A10C-8FCA66DE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01445-4289-9557-300D-CF9203F1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36" y="2481942"/>
            <a:ext cx="5582135" cy="33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9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B1C6-CDCB-67EE-732D-240FC92A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propeller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5B938-1960-BC86-0363-C621EAE7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406882" cy="5036494"/>
          </a:xfrm>
        </p:spPr>
        <p:txBody>
          <a:bodyPr/>
          <a:lstStyle/>
          <a:p>
            <a:r>
              <a:rPr lang="en-US" dirty="0"/>
              <a:t>Reducing tip speed makes all mechanisms quieter</a:t>
            </a:r>
          </a:p>
          <a:p>
            <a:pPr lvl="1"/>
            <a:r>
              <a:rPr lang="en-US" dirty="0"/>
              <a:t>Larger fans are usually quieter for the same volumetric flow rate</a:t>
            </a:r>
          </a:p>
          <a:p>
            <a:endParaRPr lang="en-US" dirty="0"/>
          </a:p>
          <a:p>
            <a:r>
              <a:rPr lang="en-US" dirty="0"/>
              <a:t>Clean, wake-free inflow reduces turbulence ingestion and ingested wake noise</a:t>
            </a:r>
          </a:p>
          <a:p>
            <a:pPr lvl="1"/>
            <a:r>
              <a:rPr lang="en-US" dirty="0"/>
              <a:t>Avoid installing duct fans near bends and grilles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1FF28-11DF-10AB-3C69-79D54D1F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745C2-DB30-3FC2-7466-E9B592FA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FCEEF-C045-EDD8-D9C4-F4559E84E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988" y="258522"/>
            <a:ext cx="2935224" cy="33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2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C6E5-7E2F-E6F7-BE2E-AFFEFE081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493E-52B5-9A7C-816C-12A1292C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fans and blowers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6245-E3AC-4577-C6DE-DBACC6327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406882" cy="5036494"/>
          </a:xfrm>
        </p:spPr>
        <p:txBody>
          <a:bodyPr/>
          <a:lstStyle/>
          <a:p>
            <a:r>
              <a:rPr lang="en-US" dirty="0"/>
              <a:t>Tube axial fan: flow is along the axis of rotation, just a propeller in a tube. Dominated by low frequency noise.</a:t>
            </a:r>
          </a:p>
          <a:p>
            <a:r>
              <a:rPr lang="en-US" dirty="0"/>
              <a:t>Vane axial fan: Tube axial, but with downstream guide vanes for higher efficiency. Fan can run slower, but downstream wakes increase mid-high frequency noise.</a:t>
            </a:r>
          </a:p>
          <a:p>
            <a:r>
              <a:rPr lang="en-US" dirty="0"/>
              <a:t>Centrifugal fan: Flow turns 90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° through the fan. Generally quieter than axial fans.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5BA1D-8C1F-BD0F-B036-F33E2A0B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8C33B-B1EB-1ED2-2FFF-01935664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2" descr="#">
            <a:extLst>
              <a:ext uri="{FF2B5EF4-FFF2-40B4-BE49-F238E27FC236}">
                <a16:creationId xmlns:a16="http://schemas.microsoft.com/office/drawing/2014/main" id="{C2D13DDC-15AC-B71E-17A7-C018A985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950" y="-54060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D9EDC0-5237-46D9-409A-EF9FEE3D5528}"/>
              </a:ext>
            </a:extLst>
          </p:cNvPr>
          <p:cNvSpPr txBox="1"/>
          <p:nvPr/>
        </p:nvSpPr>
        <p:spPr>
          <a:xfrm>
            <a:off x="8610600" y="5894685"/>
            <a:ext cx="3183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https://www.greenheck.com/products/air-movement/fans/</a:t>
            </a:r>
          </a:p>
        </p:txBody>
      </p:sp>
      <p:pic>
        <p:nvPicPr>
          <p:cNvPr id="9" name="Picture 4" descr="#">
            <a:extLst>
              <a:ext uri="{FF2B5EF4-FFF2-40B4-BE49-F238E27FC236}">
                <a16:creationId xmlns:a16="http://schemas.microsoft.com/office/drawing/2014/main" id="{7F59531F-B5DC-789E-B09D-97780A0FA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434095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#">
            <a:extLst>
              <a:ext uri="{FF2B5EF4-FFF2-40B4-BE49-F238E27FC236}">
                <a16:creationId xmlns:a16="http://schemas.microsoft.com/office/drawing/2014/main" id="{251369E4-8EDB-5616-0149-C151243CA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241" y="4381500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110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600C7-1AC8-5AE3-58F2-BEBE81B2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D106-6127-7291-61F4-42195CF6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fans and blowers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A22CF-3BA7-8A91-9A3D-BDB2E601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7EC82-7114-7D0D-486F-12ADC334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AE721C-4CA7-650E-A2A0-E16292E10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of blades in centrifugal fans can affect noise generation.</a:t>
            </a:r>
          </a:p>
        </p:txBody>
      </p:sp>
      <p:pic>
        <p:nvPicPr>
          <p:cNvPr id="12" name="Picture 2" descr="Characteristics of Centrifugal Blowers | Turbomachinery blog">
            <a:extLst>
              <a:ext uri="{FF2B5EF4-FFF2-40B4-BE49-F238E27FC236}">
                <a16:creationId xmlns:a16="http://schemas.microsoft.com/office/drawing/2014/main" id="{1CEC13A4-2A55-887C-08E0-EB35F4DA5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08" y="3433287"/>
            <a:ext cx="8502528" cy="234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1FD9E7-E6AC-FE0C-4CC9-F13C38ADDDC9}"/>
              </a:ext>
            </a:extLst>
          </p:cNvPr>
          <p:cNvSpPr txBox="1"/>
          <p:nvPr/>
        </p:nvSpPr>
        <p:spPr>
          <a:xfrm>
            <a:off x="1384529" y="5955685"/>
            <a:ext cx="650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https://blog.softinway.com/understanding-the-characteristics-of-varying-centrifugal-blower-designs/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5AC2AE-F456-4928-DDAB-CA2F3E77B0AD}"/>
              </a:ext>
            </a:extLst>
          </p:cNvPr>
          <p:cNvSpPr/>
          <p:nvPr/>
        </p:nvSpPr>
        <p:spPr>
          <a:xfrm>
            <a:off x="388591" y="2926543"/>
            <a:ext cx="4721087" cy="3279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High-pressure applications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6C345E-3573-AC65-1D83-4C9FC3683EB7}"/>
              </a:ext>
            </a:extLst>
          </p:cNvPr>
          <p:cNvSpPr/>
          <p:nvPr/>
        </p:nvSpPr>
        <p:spPr>
          <a:xfrm>
            <a:off x="3603876" y="1938172"/>
            <a:ext cx="1807833" cy="809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Maximum efficiency, minimum noise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FE342A-1F81-7484-83E4-C1E897D16A75}"/>
              </a:ext>
            </a:extLst>
          </p:cNvPr>
          <p:cNvSpPr/>
          <p:nvPr/>
        </p:nvSpPr>
        <p:spPr>
          <a:xfrm>
            <a:off x="5431588" y="1476078"/>
            <a:ext cx="1616221" cy="179163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volume flow rate, high pressure, loud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539DED-6165-695E-C573-6E111F459266}"/>
              </a:ext>
            </a:extLst>
          </p:cNvPr>
          <p:cNvSpPr/>
          <p:nvPr/>
        </p:nvSpPr>
        <p:spPr>
          <a:xfrm>
            <a:off x="7162715" y="1952705"/>
            <a:ext cx="1616221" cy="10471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high flow rates, quiet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A55C456-EFD1-F251-FEC7-FE4BA3FC5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807" y="2106801"/>
            <a:ext cx="2859397" cy="22013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41E684-076B-5575-DA4E-ADCCF7BBE0ED}"/>
              </a:ext>
            </a:extLst>
          </p:cNvPr>
          <p:cNvSpPr txBox="1"/>
          <p:nvPr/>
        </p:nvSpPr>
        <p:spPr>
          <a:xfrm>
            <a:off x="9494696" y="4375124"/>
            <a:ext cx="2271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By </a:t>
            </a:r>
            <a:r>
              <a:rPr lang="en-US" sz="1200" dirty="0" err="1"/>
              <a:t>EagleX</a:t>
            </a:r>
            <a:r>
              <a:rPr lang="en-US" sz="1200" dirty="0"/>
              <a:t> - Own work, CC BY 3.0, https://commons.wikimedia.org/w/index.php?curid=12753938</a:t>
            </a:r>
          </a:p>
        </p:txBody>
      </p:sp>
    </p:spTree>
    <p:extLst>
      <p:ext uri="{BB962C8B-B14F-4D97-AF65-F5344CB8AC3E}">
        <p14:creationId xmlns:p14="http://schemas.microsoft.com/office/powerpoint/2010/main" val="199181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154E-931B-49A5-1D1D-1D2F2F4C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D19B-27A9-36AB-D409-9057D06BD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512765" cy="5036494"/>
          </a:xfrm>
        </p:spPr>
        <p:txBody>
          <a:bodyPr/>
          <a:lstStyle/>
          <a:p>
            <a:r>
              <a:rPr lang="en-US" dirty="0"/>
              <a:t>Trailing-edge noise is the dominant generation mechanism.</a:t>
            </a:r>
          </a:p>
          <a:p>
            <a:r>
              <a:rPr lang="en-US" dirty="0"/>
              <a:t>Trailing-edge noise can be reduced by</a:t>
            </a:r>
          </a:p>
          <a:p>
            <a:pPr lvl="1"/>
            <a:r>
              <a:rPr lang="en-US" dirty="0"/>
              <a:t>Serrations: reduce coherent length</a:t>
            </a:r>
          </a:p>
          <a:p>
            <a:pPr lvl="1"/>
            <a:r>
              <a:rPr lang="en-US" dirty="0"/>
              <a:t>Airfoil shaping: reduce turbulence formation</a:t>
            </a:r>
          </a:p>
          <a:p>
            <a:pPr lvl="1"/>
            <a:r>
              <a:rPr lang="en-US" dirty="0"/>
              <a:t>Brushes and porous surfaces: reduce abrupt transition at trailing edge (impedance matching)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41901-5C70-953B-30F7-47518284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A659B-6079-05DB-CA41-2FA18C51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162EE-794A-7C5B-AE22-ED9AD9D0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221" y="136525"/>
            <a:ext cx="5182323" cy="121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0577AA-4B97-74E6-A17D-C1DC5FAA2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481" y="1358260"/>
            <a:ext cx="2958199" cy="4141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FC07E-C4A7-739A-2BDF-1ECF5E42A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837" y="2633636"/>
            <a:ext cx="3105433" cy="244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7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7C9B-62B1-43D0-389E-19B0E321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A539AC9-50E0-5781-46CC-34B428F1290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8385" y="2031341"/>
            <a:ext cx="6468378" cy="4105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421DE-0475-79EA-6638-7F98C001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9161D-D582-A3D6-BFB0-7308A3379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5449"/>
            <a:ext cx="6671388" cy="5036494"/>
          </a:xfrm>
        </p:spPr>
        <p:txBody>
          <a:bodyPr/>
          <a:lstStyle/>
          <a:p>
            <a:r>
              <a:rPr lang="en-US" dirty="0"/>
              <a:t>Measuring wind turbine noise can be challenging.</a:t>
            </a:r>
          </a:p>
          <a:p>
            <a:r>
              <a:rPr lang="en-US" dirty="0"/>
              <a:t>Both the source and propagation to the ground depends strongly on atmospheric conditions.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D71DB-CCA2-176A-D870-54894877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63DB7-3BD8-0B2E-A230-8311B1FA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45C8E1-D8B9-71E3-50D7-65E0D0742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447" y="-1361"/>
            <a:ext cx="4383210" cy="1830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69A020-2FC2-A02D-ACC3-28E4BEA3F875}"/>
              </a:ext>
            </a:extLst>
          </p:cNvPr>
          <p:cNvSpPr txBox="1"/>
          <p:nvPr/>
        </p:nvSpPr>
        <p:spPr>
          <a:xfrm>
            <a:off x="7228077" y="2424074"/>
            <a:ext cx="1276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Blade rate tones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42881F-CB5A-84D4-5588-6922D91F1C13}"/>
              </a:ext>
            </a:extLst>
          </p:cNvPr>
          <p:cNvSpPr txBox="1"/>
          <p:nvPr/>
        </p:nvSpPr>
        <p:spPr>
          <a:xfrm>
            <a:off x="10239568" y="4084265"/>
            <a:ext cx="1276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Indoor room mode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F2A8E8-8B20-82BB-BB47-EDBA05C071E5}"/>
              </a:ext>
            </a:extLst>
          </p:cNvPr>
          <p:cNvCxnSpPr/>
          <p:nvPr/>
        </p:nvCxnSpPr>
        <p:spPr>
          <a:xfrm flipH="1">
            <a:off x="10674220" y="4366727"/>
            <a:ext cx="65315" cy="382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F4083143-5F66-45A3-2973-C673DE2D1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323" y="2757840"/>
            <a:ext cx="4029380" cy="37740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73520B-A431-8E1F-CDF0-1473EA722361}"/>
                  </a:ext>
                </a:extLst>
              </p:cNvPr>
              <p:cNvSpPr txBox="1"/>
              <p:nvPr/>
            </p:nvSpPr>
            <p:spPr>
              <a:xfrm>
                <a:off x="819598" y="4084265"/>
                <a:ext cx="2006082" cy="1121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ref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ref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73520B-A431-8E1F-CDF0-1473EA722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98" y="4084265"/>
                <a:ext cx="2006082" cy="11212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FAE3307-5692-2560-47A8-A383F15F2503}"/>
              </a:ext>
            </a:extLst>
          </p:cNvPr>
          <p:cNvSpPr txBox="1"/>
          <p:nvPr/>
        </p:nvSpPr>
        <p:spPr>
          <a:xfrm>
            <a:off x="0" y="6467392"/>
            <a:ext cx="51676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Zajamšek</a:t>
            </a:r>
            <a:r>
              <a:rPr lang="en-US" sz="1100" dirty="0"/>
              <a:t>, B.; Hansen, K.L.; Doolan, C.J.; Hansen, C.H. </a:t>
            </a:r>
            <a:r>
              <a:rPr lang="en-US" sz="1100" dirty="0" err="1"/>
              <a:t>Characterisation</a:t>
            </a:r>
            <a:r>
              <a:rPr lang="en-US" sz="1100" dirty="0"/>
              <a:t> of wind farm infrasound and low frequency noise. J. Sound Vib. 2016, 370, 176–190</a:t>
            </a:r>
          </a:p>
        </p:txBody>
      </p:sp>
    </p:spTree>
    <p:extLst>
      <p:ext uri="{BB962C8B-B14F-4D97-AF65-F5344CB8AC3E}">
        <p14:creationId xmlns:p14="http://schemas.microsoft.com/office/powerpoint/2010/main" val="4075134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E125-C03B-A6B2-3523-2E076E29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</a:t>
            </a:r>
            <a:r>
              <a:rPr lang="en-US" dirty="0"/>
              <a:t>Mobius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D06E-FF60-31FC-3EDE-ADEEA419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authors claim a significant noise reduction.</a:t>
            </a:r>
          </a:p>
          <a:p>
            <a:r>
              <a:rPr lang="en-US" dirty="0"/>
              <a:t>How is this reduction achieved?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A2499-671A-6DBC-4464-5CD2CA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C532D-EB8E-21F3-B0AC-D631BB61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A3AAB-2922-DE84-CE49-6275E87D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9378"/>
            <a:ext cx="8394441" cy="418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47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D0647-CA96-727E-E14A-D1184056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4D70-8E56-16BF-3B86-BDD87C48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</a:t>
            </a:r>
            <a:r>
              <a:rPr lang="en-US" dirty="0"/>
              <a:t>Mobius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6D7D-B832-59B3-D26D-CAB57967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00695"/>
            <a:ext cx="11103429" cy="5036494"/>
          </a:xfrm>
        </p:spPr>
        <p:txBody>
          <a:bodyPr/>
          <a:lstStyle/>
          <a:p>
            <a:r>
              <a:rPr lang="en-US" dirty="0"/>
              <a:t>Blade rate noise: significantly reduced compared to baseline</a:t>
            </a:r>
          </a:p>
          <a:p>
            <a:r>
              <a:rPr lang="en-US" dirty="0"/>
              <a:t>Low-frequency noise: increased (more TI noise)</a:t>
            </a:r>
          </a:p>
          <a:p>
            <a:r>
              <a:rPr lang="en-US" dirty="0"/>
              <a:t>High-frequency broadband: reduced (reduced TE coherent length?)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50207-D623-B5C6-5914-652942FD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2F25B-9A74-83F5-3BAF-B1D924C1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9DEBD-C9C7-0B01-F98D-B0261283A9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00" r="45536" b="13480"/>
          <a:stretch/>
        </p:blipFill>
        <p:spPr>
          <a:xfrm>
            <a:off x="38099" y="2890136"/>
            <a:ext cx="5164911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AEA1C4-D1CA-FAD7-ACA4-C0D50CE0C00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353" t="9200" b="13480"/>
          <a:stretch/>
        </p:blipFill>
        <p:spPr>
          <a:xfrm>
            <a:off x="872347" y="2890136"/>
            <a:ext cx="442355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71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5AD3-CD34-7ED4-F41F-D6EACBBF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C696-63A1-10D6-06AF-459B46C8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</a:t>
            </a:r>
            <a:r>
              <a:rPr lang="en-US" dirty="0"/>
              <a:t>Mobius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B7E32-2566-F2A0-9FCE-16215E1D8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5980922" cy="5036494"/>
          </a:xfrm>
        </p:spPr>
        <p:txBody>
          <a:bodyPr/>
          <a:lstStyle/>
          <a:p>
            <a:r>
              <a:rPr lang="en-US" dirty="0"/>
              <a:t>Baseline straight blades would cause wake noise from interaction with straight struts.</a:t>
            </a:r>
          </a:p>
          <a:p>
            <a:r>
              <a:rPr lang="en-US" dirty="0"/>
              <a:t>It would be more fair to compare curved</a:t>
            </a:r>
            <a:r>
              <a:rPr lang="en-US" i="1" dirty="0"/>
              <a:t> </a:t>
            </a:r>
            <a:r>
              <a:rPr lang="en-US" dirty="0"/>
              <a:t>blades without loops to curved blades with loops.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87E3A-BBC6-BD45-B2FA-950AAE07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FE378-EB0E-2D21-51F8-5624DDCE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61A62-E798-A242-69CE-2C4C139C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154" y="0"/>
            <a:ext cx="5595846" cy="470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81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CDB8D-D832-D33D-A9B6-619B114F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2552-C685-741D-6F56-D5107D73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Mobius</a:t>
            </a:r>
            <a:r>
              <a:rPr lang="en-US" dirty="0"/>
              <a:t> Loop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031E5-EB59-1A7B-9C0F-94CE75C59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5980922" cy="5036494"/>
          </a:xfrm>
        </p:spPr>
        <p:txBody>
          <a:bodyPr/>
          <a:lstStyle/>
          <a:p>
            <a:r>
              <a:rPr lang="en-US" dirty="0"/>
              <a:t>Better experimental design: single propeller with minimal wake interference.</a:t>
            </a:r>
          </a:p>
          <a:p>
            <a:r>
              <a:rPr lang="en-US" dirty="0"/>
              <a:t>Include background and motor noise measurements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30E50-3A03-3711-C5A3-DB68D65F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4BFD6-03AD-DE33-E6D4-5A1F58A2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B23411-0589-1BCF-FC05-939B8703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145" y="-9214"/>
            <a:ext cx="5552855" cy="2219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6E8AE3-B525-37D5-D191-257E0899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596" y="2282402"/>
            <a:ext cx="5471864" cy="33679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3C96AF-E767-2016-81CD-2E6A76D6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8" y="4368882"/>
            <a:ext cx="6090052" cy="144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93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FFA4-F376-145F-C5E5-8B5D821E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77DC-32BB-18A6-94E2-B87931CC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Mobius</a:t>
            </a:r>
            <a:r>
              <a:rPr lang="en-US" dirty="0"/>
              <a:t> Loop propellers revisited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A0240-62EF-C18C-8839-49C29DA3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8A184-1F49-7280-843D-9E35B20B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676C6-043B-4F2D-07AD-2DE2A0B9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145" y="-9214"/>
            <a:ext cx="5552855" cy="2219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9C3B42-3361-2189-D1CA-157ADE6D0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69" y="1104446"/>
            <a:ext cx="6993348" cy="5617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1122C1-57C0-296E-98C8-3B9487AC4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144" y="2965966"/>
            <a:ext cx="5552855" cy="131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24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A69C-BC54-EAB6-A2C3-ACAA6C57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479704-A400-713C-A842-00FA566A6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3115"/>
            <a:ext cx="6900224" cy="38832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9AB0F-8CF8-6C65-9C2B-0ACDB789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Mobius</a:t>
            </a:r>
            <a:r>
              <a:rPr lang="en-US" dirty="0"/>
              <a:t> Loop propellers revisited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1412D-8065-A749-09B7-673B316C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D37A9-30F3-E148-B37C-8A84544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435720-415D-7C44-7AD3-3E7384B2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145" y="-9214"/>
            <a:ext cx="5552855" cy="22198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91B063-C35B-A40C-A4B5-E08E2580C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144" y="2965966"/>
            <a:ext cx="5552855" cy="131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7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34599</TotalTime>
  <Words>1176</Words>
  <Application>Microsoft Office PowerPoint</Application>
  <PresentationFormat>Widescreen</PresentationFormat>
  <Paragraphs>184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Gulim</vt:lpstr>
      <vt:lpstr>Arial</vt:lpstr>
      <vt:lpstr>Atkinson Hyperlegible</vt:lpstr>
      <vt:lpstr>Calibri</vt:lpstr>
      <vt:lpstr>Cambria Math</vt:lpstr>
      <vt:lpstr>Tahoma</vt:lpstr>
      <vt:lpstr>Office Theme</vt:lpstr>
      <vt:lpstr>Photo Editor Photo</vt:lpstr>
      <vt:lpstr>Rotating machinery</vt:lpstr>
      <vt:lpstr>How to make a quiet submarine</vt:lpstr>
      <vt:lpstr>Propeller noise</vt:lpstr>
      <vt:lpstr>Propeller noise sources</vt:lpstr>
      <vt:lpstr>Turbulence ingestion noise</vt:lpstr>
      <vt:lpstr>Turbulence ingestion noise</vt:lpstr>
      <vt:lpstr>Self-generated turbulence noise</vt:lpstr>
      <vt:lpstr>Trailing edge treatments</vt:lpstr>
      <vt:lpstr>Ingested blade-rate noise</vt:lpstr>
      <vt:lpstr>Ingested blade-rate noise</vt:lpstr>
      <vt:lpstr>Ingested blade-rate noise</vt:lpstr>
      <vt:lpstr>Ingested blade-rate noise</vt:lpstr>
      <vt:lpstr>Self-generated blade-rate noise</vt:lpstr>
      <vt:lpstr>Self-generated blade-rate noise</vt:lpstr>
      <vt:lpstr>Reducing propeller noise</vt:lpstr>
      <vt:lpstr>Commercial fans and blowers</vt:lpstr>
      <vt:lpstr>Commercial fans and blowers</vt:lpstr>
      <vt:lpstr>Wind turbine noise</vt:lpstr>
      <vt:lpstr>Wind turbine noise</vt:lpstr>
      <vt:lpstr>Toroidal Mobius propellers revisited</vt:lpstr>
      <vt:lpstr>Toroidal Mobius propellers revisited</vt:lpstr>
      <vt:lpstr>Toroidal Mobius propellers revisited</vt:lpstr>
      <vt:lpstr>Toroidal Mobius Loop propellers revisited</vt:lpstr>
      <vt:lpstr>Toroidal Mobius Loop propellers revisited</vt:lpstr>
      <vt:lpstr>Toroidal Mobius Loop propellers revisited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Tyler Dare</cp:lastModifiedBy>
  <cp:revision>259</cp:revision>
  <dcterms:created xsi:type="dcterms:W3CDTF">2025-01-05T23:36:15Z</dcterms:created>
  <dcterms:modified xsi:type="dcterms:W3CDTF">2025-04-23T02:07:27Z</dcterms:modified>
</cp:coreProperties>
</file>