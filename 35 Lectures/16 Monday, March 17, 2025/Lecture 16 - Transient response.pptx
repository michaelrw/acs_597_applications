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2"/>
  </p:notesMasterIdLst>
  <p:sldIdLst>
    <p:sldId id="423" r:id="rId2"/>
    <p:sldId id="466" r:id="rId3"/>
    <p:sldId id="467" r:id="rId4"/>
    <p:sldId id="468" r:id="rId5"/>
    <p:sldId id="469" r:id="rId6"/>
    <p:sldId id="478" r:id="rId7"/>
    <p:sldId id="470" r:id="rId8"/>
    <p:sldId id="479" r:id="rId9"/>
    <p:sldId id="477" r:id="rId10"/>
    <p:sldId id="480" r:id="rId11"/>
    <p:sldId id="471" r:id="rId12"/>
    <p:sldId id="473" r:id="rId13"/>
    <p:sldId id="482" r:id="rId14"/>
    <p:sldId id="481" r:id="rId15"/>
    <p:sldId id="483" r:id="rId16"/>
    <p:sldId id="474" r:id="rId17"/>
    <p:sldId id="484" r:id="rId18"/>
    <p:sldId id="485" r:id="rId19"/>
    <p:sldId id="486" r:id="rId20"/>
    <p:sldId id="487" r:id="rId21"/>
    <p:sldId id="475" r:id="rId22"/>
    <p:sldId id="488" r:id="rId23"/>
    <p:sldId id="490" r:id="rId24"/>
    <p:sldId id="491" r:id="rId25"/>
    <p:sldId id="492" r:id="rId26"/>
    <p:sldId id="489" r:id="rId27"/>
    <p:sldId id="493" r:id="rId28"/>
    <p:sldId id="494" r:id="rId29"/>
    <p:sldId id="495" r:id="rId30"/>
    <p:sldId id="496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FF"/>
    <a:srgbClr val="FF66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5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17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CE0940-25C8-4CED-96E2-8FA2BF93B3E9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F7B58D-1DE9-43B8-93DE-2A59C20AB6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8365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D0969-3BC9-E425-9F31-771A40B022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7C23E1-8863-BAA6-77AC-3CEB3EB406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A760C6-2EB9-4B12-2C47-77551686D58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2A3BA6-4B22-4D69-91C4-B87C21B5C3D7}" type="datetime1">
              <a:rPr lang="en-US" smtClean="0"/>
              <a:t>3/3/2025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D6CBDD-36A5-FD93-6C9F-EFC2F0627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A8F109-725A-2997-4814-1CB5B5F97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0091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3A10C-6E04-1B5B-960E-AFB5C34E0F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48497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96700D-E6AB-A0FA-E79A-9AAFA1B8D9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00695"/>
            <a:ext cx="10515600" cy="50364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C1C63C-8994-B5A6-A3B7-55184800E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73448B-38C0-346C-AC32-5E6074D48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583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4E203-9058-4ABB-2CB4-3E1D886A9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6CB391-7275-D8A5-E81A-F6C8D1C91A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AB5329-1884-4502-4559-356634FF9E9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346E657-D090-47BC-894B-7F7404E1AFDB}" type="datetime1">
              <a:rPr lang="en-US" smtClean="0"/>
              <a:t>3/3/2025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0E7228-75D0-E9BC-3185-547F55D1F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56EA80-117A-20A9-6DEE-C952767EC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1916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4317E-1C92-A3D1-4CBF-AE02FAC83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44D8E5-774C-BCD5-597A-A433ADE002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49B0AF-191A-A268-1C2E-17460C0EDC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740D6A-251D-CFE4-5C0D-453FA6A0435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3F462FA-5168-4DFC-A8AA-E1636F6F1807}" type="datetime1">
              <a:rPr lang="en-US" smtClean="0"/>
              <a:t>3/3/2025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69169D-B6DA-BC5D-67D9-32B4F9975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1FF9F5-4506-9B3B-7D39-394220E40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7395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23672-099B-E107-E303-AEE190334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71D34A-A411-BD73-29E5-C784FE76DF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A39816-E6EE-F433-3FD9-418E89C137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28D1CA-97EC-153B-4FA4-13F2D5818A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B3CB723-F873-013E-6341-58F1B78FA4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17C9254-92D2-FC28-DE7C-4934D7DE7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928D0C9-320A-4AE1-85D8-ED11977E8C12}" type="datetime1">
              <a:rPr lang="en-US" smtClean="0"/>
              <a:t>3/3/2025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01079D-EB10-38B4-81F9-C6BD6CC76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A7C44A-3715-B891-AF3B-A12B68BF5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2881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BCF8E-FA11-6A49-A295-D979745CFB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9BD36B-ED63-AAD9-76DE-AFDF95D22A6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2456FE-1047-4D97-88F7-9D840A87DE2B}" type="datetime1">
              <a:rPr lang="en-US" smtClean="0"/>
              <a:t>3/3/2025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047E32-AC55-387F-CF0D-2FC28C243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BC97A0-BFFA-065D-FC46-31A49D79F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5259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11CDEA-353B-2409-B4B6-B34F2193377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2B26AF-43C9-4A52-AF06-A2AC06E43B1C}" type="datetime1">
              <a:rPr lang="en-US" smtClean="0"/>
              <a:t>3/3/2025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CC3328-69EC-AD32-5D42-78AFBAE690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8FB655-C58F-EF96-7FFE-957B2D978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1264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F282B-6CF9-A4D0-C084-62B090688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76AE6F-77E3-8C1B-513C-DE9ADA0C95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EC2555-EF3E-E875-FB86-A9BBE40240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49D25C-22A8-5D58-D044-D38241281A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8582E4D-5E9F-4458-938C-864B706F95FF}" type="datetime1">
              <a:rPr lang="en-US" smtClean="0"/>
              <a:t>3/3/2025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F0EBB5-21AA-2559-8D0D-53B747534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2F6D85-76DB-D878-670B-E125F0931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340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150CA-6AD7-5B60-33F5-B85FC4091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2F1B91A-8F74-3B7F-64D3-3384727693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33DECB-4ABE-95E6-B0DF-B031E49C38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E79A3C-2B68-6ADD-6B2F-847A52AA934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725A1BD-EBEB-4A8E-B449-2911DE41084B}" type="datetime1">
              <a:rPr lang="en-US" smtClean="0"/>
              <a:t>3/3/2025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E61F65-BB53-DB77-A17D-78486C75A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AE5C53-CD45-0CA1-D0BD-0B89897F1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7158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BBB12-6CE0-5896-197F-A351D692C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03BFC0-A205-3164-72D7-5BD81882EA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6C45B9-DA11-4A1C-058B-5079E09BB49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B2FFE65-DFA4-43A3-A834-4788946F3021}" type="datetime1">
              <a:rPr lang="en-US" smtClean="0"/>
              <a:t>3/3/2025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B12D7D-48D9-22AF-8770-6A5289E43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37910A-A603-CBBA-AAEC-B4BD95E9C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2726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D70D1E2-74DE-C6EB-A8EC-308657878B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7F9B26-4A69-4D57-C633-72C8B76AAA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535456-C44F-2D28-4BF6-50D0F62C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3AFC2D8-0CF3-496F-8CED-E9AD4C92185B}" type="datetime1">
              <a:rPr lang="en-US" smtClean="0"/>
              <a:t>3/3/2025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F83730-2DDE-C2C7-00A4-43C39B020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8FB452-44EB-602B-86CC-0B63500F7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9939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D9656A-1DCD-3A7C-A104-2014B262C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B152E0-EA6C-780F-BCFB-35F80CF460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BD2FEC-049F-9FA9-C7AA-F217219777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tkinson Hyperlegible" pitchFamily="50" charset="0"/>
              </a:defRPr>
            </a:lvl1pPr>
          </a:lstStyle>
          <a:p>
            <a:r>
              <a:rPr lang="en-US" dirty="0"/>
              <a:t>Waves in ducts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FB8509-368A-F515-ABCA-31C2CA82EF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tkinson Hyperlegible" pitchFamily="50" charset="0"/>
              </a:defRPr>
            </a:lvl1pPr>
          </a:lstStyle>
          <a:p>
            <a:fld id="{B62F1270-CA5A-4BF1-AAF5-16F08E48CB7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5136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tkinson Hyperlegible" pitchFamily="50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tkinson Hyperlegible" pitchFamily="50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tkinson Hyperlegible" pitchFamily="50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tkinson Hyperlegible" pitchFamily="50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tkinson Hyperlegible" pitchFamily="50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tkinson Hyperlegible" pitchFamily="50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hyperlink" Target="https://en.wikipedia.org/wiki/MIL-S-901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e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emf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A59130-290B-706A-1A53-27FD9FF59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5750ACE-E715-96BC-8081-7B355891EA3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 l="1300" r="1300"/>
          <a:stretch/>
        </p:blipFill>
        <p:spPr>
          <a:xfrm>
            <a:off x="-26328" y="0"/>
            <a:ext cx="12244656" cy="688761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6F82076-C88F-F6B7-D48B-5225F663B0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7963"/>
            <a:ext cx="9144000" cy="2387600"/>
          </a:xfrm>
        </p:spPr>
        <p:txBody>
          <a:bodyPr>
            <a:normAutofit/>
          </a:bodyPr>
          <a:lstStyle/>
          <a:p>
            <a:r>
              <a:rPr lang="en-US" sz="4400" dirty="0">
                <a:latin typeface="Atkinson Hyperlegible" pitchFamily="50" charset="0"/>
              </a:rPr>
              <a:t>Vibration isolation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16B5AA-1FF4-EF36-B7F4-9529A49D9C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96735"/>
            <a:ext cx="9144000" cy="463378"/>
          </a:xfrm>
        </p:spPr>
        <p:txBody>
          <a:bodyPr/>
          <a:lstStyle/>
          <a:p>
            <a:r>
              <a:rPr lang="en-US" dirty="0"/>
              <a:t>Tyler Dare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4096D121-1106-7D39-E3C2-74EEE421F5E6}"/>
              </a:ext>
            </a:extLst>
          </p:cNvPr>
          <p:cNvSpPr txBox="1">
            <a:spLocks/>
          </p:cNvSpPr>
          <p:nvPr/>
        </p:nvSpPr>
        <p:spPr>
          <a:xfrm>
            <a:off x="1524000" y="2818692"/>
            <a:ext cx="9144000" cy="46337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Atkinson Hyperlegible" pitchFamily="50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Atkinson Hyperlegible" pitchFamily="50" charset="0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tkinson Hyperlegible" pitchFamily="50" charset="0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Atkinson Hyperlegible" pitchFamily="50" charset="0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Atkinson Hyperlegible" pitchFamily="50" charset="0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Transient response</a:t>
            </a:r>
          </a:p>
        </p:txBody>
      </p:sp>
    </p:spTree>
    <p:extLst>
      <p:ext uri="{BB962C8B-B14F-4D97-AF65-F5344CB8AC3E}">
        <p14:creationId xmlns:p14="http://schemas.microsoft.com/office/powerpoint/2010/main" val="33492045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38862-FE46-379D-1723-E0FC326F13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Transient response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B1AEE5-18C9-962C-63CC-E2CA3EE36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Transient response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F8E98A-6FD5-10C6-F1D0-48DD662E0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2</a:t>
            </a:fld>
            <a:endParaRPr lang="en-US"/>
          </a:p>
        </p:txBody>
      </p:sp>
      <p:pic>
        <p:nvPicPr>
          <p:cNvPr id="7" name="transientToSteadyState">
            <a:hlinkClick r:id="" action="ppaction://media"/>
            <a:extLst>
              <a:ext uri="{FF2B5EF4-FFF2-40B4-BE49-F238E27FC236}">
                <a16:creationId xmlns:a16="http://schemas.microsoft.com/office/drawing/2014/main" id="{627164EF-75E5-D0DF-BBEB-290D1AF51CB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55413" y="1083855"/>
            <a:ext cx="6716712" cy="5037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19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3366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1B034F-5109-C6D9-3F5E-8190944671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2333D-7F5E-64DF-6A75-A2EC00213A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Transient response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4F50B2-4E1D-2CF2-F383-BA5CE011F5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Sinusoidal forcing (done)</a:t>
            </a:r>
          </a:p>
          <a:p>
            <a:r>
              <a:rPr lang="en-US" dirty="0"/>
              <a:t>Free response (done)</a:t>
            </a:r>
          </a:p>
          <a:p>
            <a:r>
              <a:rPr lang="en-US" dirty="0"/>
              <a:t>Arbitrary forced response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2D1537-666A-B296-5E01-C3779F11F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Transient response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7D60AE-2F10-2DCA-79EA-C6A78C17A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3013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73920E-9974-CDA0-15FD-1C9087F3E3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90757-7479-1EA6-4B49-DC9C13A033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Impulse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B473A0E-6491-367A-AB9B-6406BBEC7EB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An impulse is a force acting over a short time span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If the force is applied to mass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, the mass’s velocity changes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A “unit impulse” is a force that acts instantaneously and causes 1 unit of momentum change</a:t>
                </a:r>
                <a:endParaRPr lang="en-US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≠0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endParaRPr lang="en-US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B473A0E-6491-367A-AB9B-6406BBEC7EB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00" r="-5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AE8BEA-954A-C29C-F3AC-27C4E4CEF7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Transient response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453BF7-EA70-95F5-C365-E60E1554E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7632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0DEDF4-C810-275B-2723-D6E15C491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A5846-B83A-B37B-CBAD-D3E0DF87F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Impulse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229B40B-3478-7192-56EC-EA8B502956E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b="0" dirty="0"/>
                  <a:t>How does a </a:t>
                </a:r>
                <a:r>
                  <a:rPr lang="en-US" dirty="0"/>
                  <a:t>SDOF system respond to a unit impulse?</a:t>
                </a:r>
              </a:p>
              <a:p>
                <a:pPr marL="0" indent="0">
                  <a:buNone/>
                </a:pPr>
                <a:endParaRPr lang="en-US" sz="28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800" i="1" smtClean="0">
                        <a:latin typeface="Cambria Math" panose="02040503050406030204" pitchFamily="18" charset="0"/>
                      </a:rPr>
                      <m:t>𝑚</m:t>
                    </m:r>
                    <m:acc>
                      <m:accPr>
                        <m:chr m:val="̈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sz="28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𝐶</m:t>
                    </m:r>
                    <m:acc>
                      <m:accPr>
                        <m:chr m:val="̇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sz="2800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sz="28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800" dirty="0"/>
                  <a:t> </a:t>
                </a:r>
              </a:p>
              <a:p>
                <a:pPr marL="0" indent="0">
                  <a:buNone/>
                </a:pPr>
                <a:endParaRPr lang="en-US" b="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≠0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b="0" dirty="0"/>
                  <a:t> </a:t>
                </a:r>
              </a:p>
              <a:p>
                <a:pPr marL="0" indent="0">
                  <a:buNone/>
                </a:pPr>
                <a:endParaRPr lang="en-US" b="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nary>
                      <m:nary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𝑑𝑡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229B40B-3478-7192-56EC-EA8B502956E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0D8736-A151-655E-A6C3-3C685BE842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Transient response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18A608-8DEB-7950-3F59-1BF5CDB7B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8338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07BBA6-6E2E-0822-66CC-377E1EAA5A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041AD-EA18-A25C-424B-C0F510AB0F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Impulse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70D3E9-0FAB-0E18-C78F-8E5D79208A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0" dirty="0"/>
              <a:t>How does a </a:t>
            </a:r>
            <a:r>
              <a:rPr lang="en-US" dirty="0"/>
              <a:t>SDOF system respond to a unit impulse?</a:t>
            </a:r>
          </a:p>
          <a:p>
            <a:pPr marL="0" indent="0">
              <a:buNone/>
            </a:pPr>
            <a:endParaRPr lang="en-US" sz="2800" i="1" dirty="0">
              <a:latin typeface="Cambria Math" panose="020405030504060302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9150D0-892F-9F8B-9FE0-229413D95F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Transient response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BFEB24-3D47-C24E-3BF8-F2A533436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6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FA1CB09-2ECC-C48A-06BD-ACF9CCDA14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469" y="1415278"/>
            <a:ext cx="6400800" cy="480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86266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6C827C-9D8C-EBF4-5910-97F6BEFBEC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F679F-689C-8E71-EF3A-612C2001C0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Impulse response function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D2209E3-5F0D-5A64-BE1C-FF21AD8FC6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</m:den>
                      </m:f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𝜁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endParaRPr lang="en-US" b="0" dirty="0"/>
              </a:p>
              <a:p>
                <a:r>
                  <a:rPr lang="en-US" b="0" dirty="0"/>
                  <a:t>How can the impulse response give the solution for arbitrary forces?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D2209E3-5F0D-5A64-BE1C-FF21AD8FC6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57B025-470F-20B7-A906-73C719F0B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Transient response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5F93D1-AADE-CFE3-D81B-8AD6F4B8D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2814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274991-E39B-55C8-0A53-4255C37DFF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F014CC4-14F8-3FE2-C01A-5FDE5AA6B8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389" y="1847421"/>
            <a:ext cx="6400800" cy="48006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EF506F6-7DA6-0F04-5723-C6BA8E642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Impulse response function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A983A6A-26F6-FC17-6C6B-FD6EB32ED7E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</m:den>
                      </m:f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𝜁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endParaRPr lang="en-US" b="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A983A6A-26F6-FC17-6C6B-FD6EB32ED7E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E32C31-4950-45BA-46F3-4149BC3EA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Transient response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2A310D-80E3-B834-51E5-05901A485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0543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2AB620-69CC-B630-7F57-B85E7A240A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85BED-7A3C-F08B-8B1D-3D5ABF68E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Impulse response function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135DF7D-CA8F-C496-5778-60C7B3A7154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</m:den>
                      </m:f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𝜁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b="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135DF7D-CA8F-C496-5778-60C7B3A7154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BC4865-66AB-3FDA-9C9D-C54FE37C5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Transient response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A1A2EA-1690-9E0F-4FC6-60AE89A9A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9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AAD30CE-E41A-6803-F0BF-C8E0C988CA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146" y="1555750"/>
            <a:ext cx="6400800" cy="480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85197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281104-F476-AFA4-0801-AA60B23BA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A16CC-4563-5992-5095-A0A995F9A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Impulse response function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F5F9D9-511A-CEFB-7454-E162174A1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Transient response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98C65A-EB6E-EDBD-86D9-8FB40A835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10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9CCA6C0-8A30-B97C-D065-0D3D648D32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385" y="1588787"/>
            <a:ext cx="6400800" cy="48006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DEA087A-95D7-219D-D2A7-1B69C3B6D31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</m:den>
                      </m:f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𝜁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b="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DEA087A-95D7-219D-D2A7-1B69C3B6D31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001050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6479FA-D82D-A240-4A58-7579C466E5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31784-9DA5-8095-6CD4-4F7DEA6A0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Impulse response function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2C05292-7AA3-25D1-2FCF-9B22A2B6962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For a general force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0" dirty="0"/>
                  <a:t>, write it as the sum of many impulses</a:t>
                </a:r>
              </a:p>
              <a:p>
                <a:pPr marL="0" indent="0">
                  <a:buNone/>
                </a:pP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r>
                  <a:rPr lang="en-US" b="0" dirty="0"/>
                  <a:t>Then the response is the sum of the impulse response functions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</m:den>
                      </m:f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𝜁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endParaRPr lang="en-US" b="0" dirty="0"/>
              </a:p>
              <a:p>
                <a:pPr marL="0" indent="0">
                  <a:buNone/>
                </a:pPr>
                <a:endParaRPr lang="en-US" b="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2C05292-7AA3-25D1-2FCF-9B22A2B6962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058" r="-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8A94D5-0C8A-F354-66CA-846CFE24C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Transient response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BF3685-757B-5CD2-B4BB-EF236C797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0395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D316E0-4FB7-C7F6-54EC-A243B8634C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B945C-447F-105C-334D-8421F5E38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Duhamel’s integral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33E14EA-53D4-357D-4D19-70A38D6FF0D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For arbitrary force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b="0" dirty="0"/>
                  <a:t>, the response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0" dirty="0"/>
                  <a:t> is</a:t>
                </a:r>
              </a:p>
              <a:p>
                <a:endParaRPr lang="en-US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</m:den>
                      </m:f>
                      <m:nary>
                        <m:nary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</m:d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𝜁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</m:d>
                            </m:sup>
                          </m:sSup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𝜏</m:t>
                                      </m:r>
                                    </m:e>
                                  </m:d>
                                </m:e>
                              </m:d>
                            </m:e>
                          </m:func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</m:nary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endParaRPr lang="en-US" b="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33E14EA-53D4-357D-4D19-70A38D6FF0D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0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DE252E-1B97-0645-AFBE-45F036AD2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Transient response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986D6C-32A5-299E-77C4-EAF7031DC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29152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789C95-CD68-56DC-B9C3-10230D6A9F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4C859-A095-AB40-9041-6C29416E70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Duhamel’s integral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EA8DB8-D510-06CE-6C7D-1F7183A47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Transient response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3337C3-E75B-CA6D-2AC1-43DF5369B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13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463B3A68-1F01-C34A-33FE-E656CD0CB92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13460309"/>
                  </p:ext>
                </p:extLst>
              </p:nvPr>
            </p:nvGraphicFramePr>
            <p:xfrm>
              <a:off x="844377" y="957433"/>
              <a:ext cx="9296400" cy="467315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098800">
                      <a:extLst>
                        <a:ext uri="{9D8B030D-6E8A-4147-A177-3AD203B41FA5}">
                          <a16:colId xmlns:a16="http://schemas.microsoft.com/office/drawing/2014/main" val="3223219946"/>
                        </a:ext>
                      </a:extLst>
                    </a:gridCol>
                    <a:gridCol w="3098800">
                      <a:extLst>
                        <a:ext uri="{9D8B030D-6E8A-4147-A177-3AD203B41FA5}">
                          <a16:colId xmlns:a16="http://schemas.microsoft.com/office/drawing/2014/main" val="1557021796"/>
                        </a:ext>
                      </a:extLst>
                    </a:gridCol>
                    <a:gridCol w="3098800">
                      <a:extLst>
                        <a:ext uri="{9D8B030D-6E8A-4147-A177-3AD203B41FA5}">
                          <a16:colId xmlns:a16="http://schemas.microsoft.com/office/drawing/2014/main" val="184818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Continuous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Discrete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414471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Time step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𝑑𝑡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Δ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8313133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Time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oMath>
                          </a14:m>
                          <a:r>
                            <a:rPr lang="en-US" dirty="0"/>
                            <a:t>, 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=0, 1, …,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oMath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0910696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Force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𝐹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200371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Displacement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7222138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Impulse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d>
                                <m:dPr>
                                  <m:begChr m:val="{"/>
                                  <m:endChr m:val="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≠0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∞</m:t>
                                        </m:r>
                                      </m:e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=0</m:t>
                                        </m:r>
                                      </m:e>
                                    </m:mr>
                                  </m:m>
                                </m:e>
                              </m:d>
                            </m:oMath>
                          </a14:m>
                          <a:r>
                            <a:rPr lang="en-US" b="0" dirty="0"/>
                            <a:t> </a:t>
                          </a:r>
                        </a:p>
                        <a:p>
                          <a:pPr marL="0" indent="0">
                            <a:buNone/>
                          </a:pPr>
                          <a:endParaRPr lang="en-US" b="0" dirty="0"/>
                        </a:p>
                        <a:p>
                          <a:pPr marL="0" indent="0">
                            <a:buNone/>
                          </a:pPr>
                          <a14:m>
                            <m:oMath xmlns:m="http://schemas.openxmlformats.org/officeDocument/2006/math">
                              <m:nary>
                                <m:nary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∞</m:t>
                                  </m:r>
                                </m:sub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∞</m:t>
                                  </m:r>
                                </m:sup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nary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oMath>
                          </a14:m>
                          <a:r>
                            <a:rPr lang="en-US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begChr m:val="{"/>
                                    <m:endChr m:val="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f>
                                            <m:f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num>
                                            <m:den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>
                                                  <a:latin typeface="Cambria Math" panose="02040503050406030204" pitchFamily="18" charset="0"/>
                                                </a:rPr>
                                                <m:t>Δ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</m:den>
                                          </m:f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</m:e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=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sub>
                                          </m:sSub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0,</m:t>
                                          </m:r>
                                        </m:e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≠0</m:t>
                                          </m:r>
                                        </m:e>
                                      </m:mr>
                                    </m:m>
                                  </m:e>
                                </m:d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76562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Impulse response function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)=</m:t>
                                </m:r>
                                <m:f>
                                  <m:f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𝜔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</m:sub>
                                    </m:sSub>
                                  </m:den>
                                </m:f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𝜔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𝜁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p>
                                </m:sSup>
                                <m:func>
                                  <m:func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b="0" i="0" smtClean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𝜔</m:t>
                                            </m:r>
                                          </m:e>
                                          <m:sub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𝑑</m:t>
                                            </m:r>
                                          </m:sub>
                                        </m:s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</m:d>
                                  </m:e>
                                </m:func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𝜔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</m:sub>
                                    </m:sSub>
                                  </m:den>
                                </m:f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𝜔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𝑜</m:t>
                                        </m:r>
                                      </m:sub>
                                    </m:s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𝜁</m:t>
                                    </m:r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</m:sup>
                                </m:sSup>
                                <m:func>
                                  <m:func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b="0" i="0" smtClean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𝜔</m:t>
                                            </m:r>
                                          </m:e>
                                          <m:sub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𝑑</m:t>
                                            </m:r>
                                          </m:sub>
                                        </m:sSub>
                                        <m:sSub>
                                          <m:sSub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𝑡</m:t>
                                            </m:r>
                                          </m:e>
                                          <m:sub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func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8350463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Displacement response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nary>
                                  <m:nary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p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𝐹</m:t>
                                    </m:r>
                                    <m:d>
                                      <m:d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𝜏</m:t>
                                        </m:r>
                                      </m:e>
                                    </m:d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  <m:d>
                                      <m:d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𝜏</m:t>
                                        </m:r>
                                      </m:e>
                                    </m:d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</m:nary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nary>
                                  <m:naryPr>
                                    <m:chr m:val="∑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=0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𝐹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h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</m:sSub>
                                  </m:e>
                                </m:nary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Δ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oMath>
                            </m:oMathPara>
                          </a14:m>
                          <a:endParaRPr lang="en-US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1589720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463B3A68-1F01-C34A-33FE-E656CD0CB92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13460309"/>
                  </p:ext>
                </p:extLst>
              </p:nvPr>
            </p:nvGraphicFramePr>
            <p:xfrm>
              <a:off x="844377" y="957433"/>
              <a:ext cx="9296400" cy="467315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098800">
                      <a:extLst>
                        <a:ext uri="{9D8B030D-6E8A-4147-A177-3AD203B41FA5}">
                          <a16:colId xmlns:a16="http://schemas.microsoft.com/office/drawing/2014/main" val="3223219946"/>
                        </a:ext>
                      </a:extLst>
                    </a:gridCol>
                    <a:gridCol w="3098800">
                      <a:extLst>
                        <a:ext uri="{9D8B030D-6E8A-4147-A177-3AD203B41FA5}">
                          <a16:colId xmlns:a16="http://schemas.microsoft.com/office/drawing/2014/main" val="1557021796"/>
                        </a:ext>
                      </a:extLst>
                    </a:gridCol>
                    <a:gridCol w="3098800">
                      <a:extLst>
                        <a:ext uri="{9D8B030D-6E8A-4147-A177-3AD203B41FA5}">
                          <a16:colId xmlns:a16="http://schemas.microsoft.com/office/drawing/2014/main" val="184818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Continuous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Discrete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414471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Time step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394" t="-108197" r="-100984" b="-10606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000" t="-108197" r="-786" b="-106065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8313133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Time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394" t="-208197" r="-100984" b="-9606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000" t="-208197" r="-786" b="-96065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0910696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Force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394" t="-313333" r="-100984" b="-87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000" t="-313333" r="-786" b="-87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200371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Displacement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394" t="-406557" r="-100984" b="-7622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000" t="-406557" r="-786" b="-76229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72221389"/>
                      </a:ext>
                    </a:extLst>
                  </a:tr>
                  <a:tr h="1325245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Impulse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394" t="-141743" r="-100984" b="-1133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000" t="-141743" r="-786" b="-11330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656202"/>
                      </a:ext>
                    </a:extLst>
                  </a:tr>
                  <a:tr h="653161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Impulse response function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394" t="-492523" r="-100984" b="-1308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000" t="-492523" r="-786" b="-13084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83504633"/>
                      </a:ext>
                    </a:extLst>
                  </a:tr>
                  <a:tr h="84055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Displacement response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394" t="-459420" r="-100984" b="-14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000" t="-459420" r="-786" b="-144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1589720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5963292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AAB0B2-204F-59A8-A0A8-BB1B4B2C30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7B26B-97B7-4114-81AF-F264CA4A5C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Impulse response function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7A66A8-4C34-C178-0D7E-781ACF78E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Transient response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1DBF28-8DE7-1CE2-F676-7425AE527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14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05E57A0-5B1F-4632-5FED-3A044FEEA0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385" y="1588787"/>
            <a:ext cx="6400800" cy="48006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7F77ED5-3B93-9B2B-F968-441561F102B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</m:den>
                      </m:f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𝜁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b="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7F77ED5-3B93-9B2B-F968-441561F102B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270741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82F64C-529F-033E-700C-D95CA0DBE5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DDA0B-8052-43F6-9A52-3E57E5D52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Duhamel’s integral in MATLAB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6B74B2-8985-0DD1-FE35-BDD98C7838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MATLAB’s </a:t>
            </a:r>
            <a:r>
              <a:rPr lang="en-US" dirty="0">
                <a:latin typeface="Consolas" panose="020B0609020204030204" pitchFamily="49" charset="0"/>
              </a:rPr>
              <a:t>conv</a:t>
            </a:r>
            <a:r>
              <a:rPr lang="en-US" dirty="0"/>
              <a:t> function is very useful, but must be used correctly.</a:t>
            </a:r>
          </a:p>
          <a:p>
            <a:r>
              <a:rPr lang="en-US" dirty="0"/>
              <a:t>x will not be the same length as F. You will need to generate a new time vector.</a:t>
            </a:r>
          </a:p>
          <a:p>
            <a:r>
              <a:rPr lang="en-US" dirty="0"/>
              <a:t>F is assumed to be zero where it is not defined.</a:t>
            </a:r>
          </a:p>
          <a:p>
            <a:pPr marL="0" indent="0">
              <a:buNone/>
            </a:pPr>
            <a:endParaRPr lang="en-US" b="0" dirty="0"/>
          </a:p>
          <a:p>
            <a:pPr marL="0" indent="0">
              <a:buNone/>
            </a:pPr>
            <a:r>
              <a:rPr lang="pt-BR" sz="2400" b="0" i="0" dirty="0">
                <a:effectLst/>
                <a:latin typeface="Consolas" panose="020B0609020204030204" pitchFamily="49" charset="0"/>
              </a:rPr>
              <a:t>x = conv(F,h)*dt;</a:t>
            </a:r>
          </a:p>
          <a:p>
            <a:pPr marL="0" indent="0">
              <a:buNone/>
            </a:pPr>
            <a:r>
              <a:rPr lang="pt-BR" sz="2400" b="0" i="0" dirty="0">
                <a:effectLst/>
                <a:latin typeface="Consolas" panose="020B0609020204030204" pitchFamily="49" charset="0"/>
              </a:rPr>
              <a:t>t_conv = (0:2*N-2)*dt;</a:t>
            </a:r>
          </a:p>
          <a:p>
            <a:pPr marL="0" indent="0">
              <a:buNone/>
            </a:pPr>
            <a:endParaRPr lang="en-US" b="0" dirty="0"/>
          </a:p>
          <a:p>
            <a:pPr marL="0" indent="0">
              <a:buNone/>
            </a:pPr>
            <a:endParaRPr lang="en-US" b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73DF2B-B20C-196A-AB71-F08F82236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Transient response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332433-D2EB-81B8-3D9E-E3683C38B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5321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6459EB-9CE3-874C-CBAB-880179FC71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9C9BB-7C64-325F-02FF-FB59BDDC6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Duhamel’s integral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4F4120-0584-7085-BB67-27BCAFBDFB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b="0" dirty="0"/>
          </a:p>
          <a:p>
            <a:pPr marL="0" indent="0">
              <a:buNone/>
            </a:pPr>
            <a:endParaRPr lang="en-US" b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896AF2-22D3-4009-2DEE-6DB8782708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Transient response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BD39C1-6DB9-C77D-FE8A-41FCD1ADC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16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F8B0188-B0E0-02BE-57D2-8F96CE038C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535" y="720811"/>
            <a:ext cx="6400800" cy="480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9600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CB98-B6E6-CF45-20F0-76518E6113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650A7-B4E7-2821-964A-61BBD9460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Duhamel’s integral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75E838-8F2E-D58F-874F-FE6A56FABB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b="0" dirty="0"/>
          </a:p>
          <a:p>
            <a:pPr marL="0" indent="0">
              <a:buNone/>
            </a:pPr>
            <a:endParaRPr lang="en-US" b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452C11-46B8-9DCD-5F74-6132D57EB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Transient response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55527B-EA5B-689D-6033-9C3485E60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17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8CE3B79-2F72-BE19-9704-62A06D1A83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238" y="1028700"/>
            <a:ext cx="6400800" cy="480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6958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2EAEC2-4B28-B0BB-E014-7C5819F78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Transient response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2126F4-45C3-D41C-42D1-DF6A3BC12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18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344FF61-F5FB-CEBB-8B7D-FA9D698597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8254314" cy="3742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10608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7058F3-3A17-4AF6-62D6-D71A7DAEBC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Arbitrary forced response via Fourier transforms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8F8CF3A-8111-15C1-1AF4-87E349F0049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r>
                  <a:rPr lang="en-US" dirty="0"/>
                  <a:t>We know the response at a single frequency,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</m:acc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</m:oMath>
                  </m:oMathPara>
                </a14:m>
                <a:endParaRPr lang="en-US" b="0" dirty="0"/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acc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̅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</m:acc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</m:num>
                        <m:den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For arbitrary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dirty="0"/>
                  <a:t>, use Fourier transform to write the response as the sum of sinusoids.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</m:acc>
                      <m:d>
                        <m:d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−∞</m:t>
                          </m:r>
                        </m:sub>
                        <m:sup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𝐹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sSup>
                        <m:sSup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𝑑𝑡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Then the total response is the inverse transform of the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nary>
                        <m:nary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−∞</m:t>
                          </m:r>
                        </m:sub>
                        <m:sup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acc>
                            <m:accPr>
                              <m:chr m:val="̅"/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sSup>
                        <m:sSup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en-US" i="1" dirty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𝜔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8F8CF3A-8111-15C1-1AF4-87E349F0049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70" t="-1937" r="-1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6475BC-AF22-84FC-C8FC-B5F5EFE80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Transient response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A20D4E-BFE9-D5E9-4B40-844F95171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4259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F49CD-A339-EE54-32C5-D37C2FC867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16578-C6AF-E8CC-F712-05A7AC74C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Arbitrary forced response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88F642-8478-C9E3-7FAA-3AF6A8175E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Transient response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AC6059-EB32-14AC-35CD-CBA70D813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20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8668E28-9C08-D26D-FC8C-196B8E54CC3E}"/>
                  </a:ext>
                </a:extLst>
              </p:cNvPr>
              <p:cNvSpPr txBox="1"/>
              <p:nvPr/>
            </p:nvSpPr>
            <p:spPr>
              <a:xfrm>
                <a:off x="5371069" y="953187"/>
                <a:ext cx="1383957" cy="461665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8668E28-9C08-D26D-FC8C-196B8E54CC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1069" y="953187"/>
                <a:ext cx="1383957" cy="461665"/>
              </a:xfrm>
              <a:prstGeom prst="rect">
                <a:avLst/>
              </a:prstGeom>
              <a:blipFill>
                <a:blip r:embed="rId2"/>
                <a:stretch>
                  <a:fillRect b="-155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575A4A6F-9C24-5370-164E-D34D51289761}"/>
              </a:ext>
            </a:extLst>
          </p:cNvPr>
          <p:cNvSpPr txBox="1"/>
          <p:nvPr/>
        </p:nvSpPr>
        <p:spPr>
          <a:xfrm>
            <a:off x="3253946" y="1723772"/>
            <a:ext cx="1837038" cy="64633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Write as sum of impulses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0178B42-EB64-8CD6-C425-F8BBB4093CE9}"/>
              </a:ext>
            </a:extLst>
          </p:cNvPr>
          <p:cNvSpPr txBox="1"/>
          <p:nvPr/>
        </p:nvSpPr>
        <p:spPr>
          <a:xfrm>
            <a:off x="7026876" y="1723772"/>
            <a:ext cx="1837038" cy="64633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Write as sum of sinusoids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219D3B4-6209-CE6D-749E-812BF1A89A13}"/>
              </a:ext>
            </a:extLst>
          </p:cNvPr>
          <p:cNvSpPr txBox="1"/>
          <p:nvPr/>
        </p:nvSpPr>
        <p:spPr>
          <a:xfrm>
            <a:off x="3253946" y="2884977"/>
            <a:ext cx="1837038" cy="92333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Compute response to each impulse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A121077-AA90-C059-F21E-4345F4A5B027}"/>
              </a:ext>
            </a:extLst>
          </p:cNvPr>
          <p:cNvSpPr txBox="1"/>
          <p:nvPr/>
        </p:nvSpPr>
        <p:spPr>
          <a:xfrm>
            <a:off x="3253946" y="4159919"/>
            <a:ext cx="1837038" cy="64633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Add responses together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66F7128-AE59-40C5-D26B-964F1BCFAD72}"/>
              </a:ext>
            </a:extLst>
          </p:cNvPr>
          <p:cNvSpPr txBox="1"/>
          <p:nvPr/>
        </p:nvSpPr>
        <p:spPr>
          <a:xfrm>
            <a:off x="7026876" y="2873566"/>
            <a:ext cx="1837038" cy="92333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Compute response to each sinusoid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2C7341F-0201-9BAD-2146-10B67F0EA88F}"/>
              </a:ext>
            </a:extLst>
          </p:cNvPr>
          <p:cNvSpPr txBox="1"/>
          <p:nvPr/>
        </p:nvSpPr>
        <p:spPr>
          <a:xfrm>
            <a:off x="7026876" y="4159919"/>
            <a:ext cx="1837038" cy="64633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Add responses together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3D34C7F-95CC-F674-EE7E-B18531181764}"/>
                  </a:ext>
                </a:extLst>
              </p:cNvPr>
              <p:cNvSpPr txBox="1"/>
              <p:nvPr/>
            </p:nvSpPr>
            <p:spPr>
              <a:xfrm>
                <a:off x="5371069" y="5248353"/>
                <a:ext cx="1383957" cy="461665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3D34C7F-95CC-F674-EE7E-B185311817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1069" y="5248353"/>
                <a:ext cx="1383957" cy="461665"/>
              </a:xfrm>
              <a:prstGeom prst="rect">
                <a:avLst/>
              </a:prstGeom>
              <a:blipFill>
                <a:blip r:embed="rId3"/>
                <a:stretch>
                  <a:fillRect b="-155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95231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1484B4-DE0B-3BC2-585C-0F0E62B2AB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65FF4-79AC-A7D7-E8DD-FF8350677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Shock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DF05BC-3664-C985-D345-435B095B6F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b="0" dirty="0"/>
          </a:p>
          <a:p>
            <a:pPr marL="0" indent="0">
              <a:buNone/>
            </a:pPr>
            <a:endParaRPr lang="en-US" b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93162F-B8F3-C1BD-FFFA-B6846E250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Transient response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DED4FA-4189-D2EB-CE90-001BB368B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21</a:t>
            </a:fld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6ABEB9F-7C1C-2B54-51B1-7659222DDAAD}"/>
              </a:ext>
            </a:extLst>
          </p:cNvPr>
          <p:cNvSpPr txBox="1">
            <a:spLocks/>
          </p:cNvSpPr>
          <p:nvPr/>
        </p:nvSpPr>
        <p:spPr>
          <a:xfrm>
            <a:off x="152400" y="1253095"/>
            <a:ext cx="10515600" cy="50364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tkinson Hyperlegible" pitchFamily="50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tkinson Hyperlegible" pitchFamily="50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tkinson Hyperlegible" pitchFamily="50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tkinson Hyperlegible" pitchFamily="50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tkinson Hyperlegible" pitchFamily="50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Response to a transient event, usually large forces over a short time.</a:t>
            </a:r>
          </a:p>
          <a:p>
            <a:r>
              <a:rPr lang="en-US" dirty="0"/>
              <a:t>Types of shock events:</a:t>
            </a:r>
          </a:p>
          <a:p>
            <a:pPr lvl="1"/>
            <a:r>
              <a:rPr lang="en-US" dirty="0"/>
              <a:t>Impact</a:t>
            </a:r>
          </a:p>
          <a:p>
            <a:pPr lvl="1"/>
            <a:r>
              <a:rPr lang="en-US" dirty="0"/>
              <a:t>Drop</a:t>
            </a:r>
          </a:p>
          <a:p>
            <a:pPr lvl="1"/>
            <a:r>
              <a:rPr lang="en-US" dirty="0"/>
              <a:t>Explosion</a:t>
            </a:r>
          </a:p>
          <a:p>
            <a:pPr lvl="1"/>
            <a:r>
              <a:rPr lang="en-US" dirty="0"/>
              <a:t>Earthquake</a:t>
            </a:r>
          </a:p>
          <a:p>
            <a:r>
              <a:rPr lang="en-US" dirty="0"/>
              <a:t>Common questions:</a:t>
            </a:r>
          </a:p>
          <a:p>
            <a:pPr lvl="1"/>
            <a:r>
              <a:rPr lang="en-US" dirty="0"/>
              <a:t>Will it survive?</a:t>
            </a:r>
          </a:p>
          <a:p>
            <a:pPr lvl="1"/>
            <a:r>
              <a:rPr lang="en-US" dirty="0"/>
              <a:t>How much damage is expected?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2156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8BBAD2-F468-C465-257E-351B51500D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C21F0E-4FD1-ECDE-57A4-267998DE69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Shock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4C932D-80D1-9B5D-6767-4552CD9BD7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b="0" dirty="0"/>
          </a:p>
          <a:p>
            <a:pPr marL="0" indent="0">
              <a:buNone/>
            </a:pPr>
            <a:endParaRPr lang="en-US" b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D2686F-6DF3-5FFB-1772-5FAAE682F0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Transient response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AE0A0B-99B6-2132-BDC7-AB1A0F678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22</a:t>
            </a:fld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6880284-F7E3-3A40-9903-7F67B547E4C9}"/>
              </a:ext>
            </a:extLst>
          </p:cNvPr>
          <p:cNvSpPr txBox="1">
            <a:spLocks/>
          </p:cNvSpPr>
          <p:nvPr/>
        </p:nvSpPr>
        <p:spPr>
          <a:xfrm>
            <a:off x="152400" y="1253095"/>
            <a:ext cx="10515600" cy="50364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tkinson Hyperlegible" pitchFamily="50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tkinson Hyperlegible" pitchFamily="50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tkinson Hyperlegible" pitchFamily="50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tkinson Hyperlegible" pitchFamily="50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tkinson Hyperlegible" pitchFamily="50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Create the shock event and see what happens.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r>
              <a:rPr lang="en-US" dirty="0">
                <a:hlinkClick r:id="rId2"/>
              </a:rPr>
              <a:t>Explosive shock testing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What if we cannot test all possible events?</a:t>
            </a:r>
          </a:p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737DBD8-5618-0527-299D-14E857EDDF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5546" y="1384810"/>
            <a:ext cx="3667897" cy="5473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85213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D1C864-0244-32C8-F7E5-99B6B184D5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A6543D42-16B2-9364-CABD-383F89424C9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If the base has acceleration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0" dirty="0"/>
                  <a:t>, the relative displacement is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𝛿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</m:den>
                      </m:f>
                      <m:nary>
                        <m:nary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</m:d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𝜁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</m:d>
                            </m:sup>
                          </m:sSup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𝜏</m:t>
                                      </m:r>
                                    </m:e>
                                  </m:d>
                                </m:e>
                              </m:d>
                            </m:e>
                          </m:func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</m:nary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b="0" dirty="0"/>
                  <a:t>To analyze a new (untested) shock event:</a:t>
                </a:r>
              </a:p>
              <a:p>
                <a:pPr lvl="1"/>
                <a:r>
                  <a:rPr lang="en-US" dirty="0"/>
                  <a:t>Estimate or measure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0" dirty="0"/>
                  <a:t> 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0" dirty="0"/>
                  <a:t>.</a:t>
                </a:r>
              </a:p>
              <a:p>
                <a:pPr lvl="1"/>
                <a:r>
                  <a:rPr lang="en-US" dirty="0"/>
                  <a:t>Find maximum relative displacement and/or acceleration.</a:t>
                </a:r>
              </a:p>
              <a:p>
                <a:pPr lvl="1"/>
                <a:r>
                  <a:rPr lang="en-US" b="0" dirty="0"/>
                  <a:t>If less than a previously tested event, it will probably survive.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A6543D42-16B2-9364-CABD-383F89424C9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0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3F2A10D1-14F7-4A7B-D264-F45E67534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Shock response spectrum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FA1DCE-D0C9-3592-79A0-2D2F26326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Transient response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071E9C-56CA-787D-F552-7F3F48726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2516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734F08-5EF9-4F28-E7D9-FE0D6F6DE1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BDA63813-5CD6-ECD7-8419-C53B1086D83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𝛿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</m:den>
                      </m:f>
                      <m:nary>
                        <m:nary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</m:d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𝜁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</m:d>
                            </m:sup>
                          </m:sSup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𝜏</m:t>
                                      </m:r>
                                    </m:e>
                                  </m:d>
                                </m:e>
                              </m:d>
                            </m:e>
                          </m:func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</m:nary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BDA63813-5CD6-ECD7-8419-C53B1086D83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839291CA-B593-0277-5FAC-F7E099151A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Shock response spectrum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00DC1B-7045-B494-CF35-0D39F5075D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Transient response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B15C9F-702C-4EA9-0888-026CA98B9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24</a:t>
            </a:fld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6DE118F-4BD5-B540-DF6A-5EC5BDF22C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908" y="2136689"/>
            <a:ext cx="5334000" cy="40005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662B7A7-22F1-626A-6537-77D6B79008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7908" y="2136689"/>
            <a:ext cx="5334000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3277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C4E9CD-F5C7-FCE2-2D61-88C9B32767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4B862DFA-AC3D-9587-45D7-17EE711654A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𝛿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</m:den>
                      </m:f>
                      <m:nary>
                        <m:nary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</m:d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𝜁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</m:d>
                            </m:sup>
                          </m:sSup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𝜏</m:t>
                                      </m:r>
                                    </m:e>
                                  </m:d>
                                </m:e>
                              </m:d>
                            </m:e>
                          </m:func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</m:nary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4B862DFA-AC3D-9587-45D7-17EE711654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D7452E65-BF51-1156-BDE6-CB1D05A2A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Shock response spectrum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16105F-766B-6DA6-B15D-AA392A8B3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Transient response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E0B142-D072-3A82-727A-63984D027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25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44F25E8-178D-8F15-2B7B-34F556A715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90" y="2136689"/>
            <a:ext cx="5334000" cy="40005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D0CE60D-F89D-87F0-BCEE-D82AE3139E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8684" y="2089321"/>
            <a:ext cx="5334000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221446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3A372A-D936-1ADE-2DDC-FCBB3F855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AEF9268-2E12-8447-CDE8-EEF9C2B6F9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you have multiple systems or a system with several different modes, you can pre-calculate the response for many different damping ratios and natural frequencies.</a:t>
            </a:r>
            <a:endParaRPr lang="en-US" b="0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0685AD-A3C5-2100-E9C6-8FEC4E688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Shock response spectrum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E026C6-5B1E-B10B-6673-B86C34435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Transient response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B796BF-EB40-C4AA-9136-E5B738477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26</a:t>
            </a:fld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7464E77-3CD8-7F9B-3C66-5958C2279B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234" y="2388887"/>
            <a:ext cx="5334000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5723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66319A-5DEC-728B-26DA-CD9ACDCC9A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C231FED-61CA-373A-E3E4-9EB4A70913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Calculate the maximum response for each simulation to produce the “shock response spectrum” for that loading condition.</a:t>
            </a:r>
            <a:endParaRPr lang="en-US" b="0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B0DDB1-293B-68AD-2562-72A38F5D6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Shock response spectrum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2A5823-1E79-0DF5-6861-3ED94006D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Transient response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F180BC-B243-AF64-9B41-4A5AC228B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27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037A44D-0C84-BA93-3715-891F8C8A1F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044" y="2246270"/>
            <a:ext cx="5334000" cy="40005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C0F2A39-A00A-7C1A-F9DA-78BDAFD931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2191480"/>
            <a:ext cx="5334000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599675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587DF3-8B8B-469E-BEB8-616EA79837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FC1FD6A-4E50-FCEF-1438-E885851589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Calculate the maximum response for each simulation to produce the “shock response spectrum” for that loading condition.</a:t>
            </a:r>
            <a:endParaRPr lang="en-US" b="0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23999E-F0F3-39C4-3153-35392A694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Shock response spectrum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83282C-E07B-FA9A-ED24-3A93BBA22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Transient response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98A53F-DDE8-A7D5-A902-AE86F8CCD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28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AD8BE0C-6162-9FC9-0C99-1241B0C66F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136689"/>
            <a:ext cx="5334000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014057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51FBD-EA43-DC56-8C32-E16E3922F2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7558DB1-7C66-EC03-2DF5-1B1209739A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Example: Two different mounts are candidates for a machine. For both mounts, the machine survives shock testing under load condition A. Which mount will most likely also survive load condition B?</a:t>
            </a:r>
            <a:endParaRPr lang="en-US" b="0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5F2454-8767-F0B9-4E76-924061733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Shock response spectrum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DF1C33-CDE9-1FCA-C081-6A9DCE4D6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Transient response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A9D7D0-4B8A-08D3-2035-89F3249EC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29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6BCAB85-8A30-9A4E-B40E-E6DBB232112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5195"/>
          <a:stretch/>
        </p:blipFill>
        <p:spPr>
          <a:xfrm>
            <a:off x="1472514" y="4241886"/>
            <a:ext cx="5334000" cy="139236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9E42EB2-449F-2B23-1492-F79351D3D7B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5195"/>
          <a:stretch/>
        </p:blipFill>
        <p:spPr>
          <a:xfrm>
            <a:off x="1472514" y="2703064"/>
            <a:ext cx="5334000" cy="139236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B7F863B-7158-F685-44EE-EF2517A2AC66}"/>
              </a:ext>
            </a:extLst>
          </p:cNvPr>
          <p:cNvSpPr txBox="1"/>
          <p:nvPr/>
        </p:nvSpPr>
        <p:spPr>
          <a:xfrm>
            <a:off x="1138882" y="2849520"/>
            <a:ext cx="5375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EF90B26-4329-FB41-0ECB-3E64A48F558D}"/>
              </a:ext>
            </a:extLst>
          </p:cNvPr>
          <p:cNvSpPr txBox="1"/>
          <p:nvPr/>
        </p:nvSpPr>
        <p:spPr>
          <a:xfrm>
            <a:off x="1138882" y="4493354"/>
            <a:ext cx="5375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777C47C6-595B-43E0-6324-6B38DE5371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2459423"/>
              </p:ext>
            </p:extLst>
          </p:nvPr>
        </p:nvGraphicFramePr>
        <p:xfrm>
          <a:off x="8102600" y="3051005"/>
          <a:ext cx="32512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4158481472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1211412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Natural freq.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Damping ratio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02578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2494295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850DF10C-FA5A-22DF-A303-D3BC62FD8F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9445167"/>
              </p:ext>
            </p:extLst>
          </p:nvPr>
        </p:nvGraphicFramePr>
        <p:xfrm>
          <a:off x="8102600" y="4439835"/>
          <a:ext cx="3251200" cy="11125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4158481472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1211412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Natural freq.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Damping ratio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02578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24942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1199588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5789A0E8-4C41-478C-3CA0-08287C847994}"/>
              </a:ext>
            </a:extLst>
          </p:cNvPr>
          <p:cNvSpPr txBox="1"/>
          <p:nvPr/>
        </p:nvSpPr>
        <p:spPr>
          <a:xfrm>
            <a:off x="8781535" y="2647178"/>
            <a:ext cx="24713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/>
              <a:t>Single-stage mount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8168C86-37E8-D991-8565-0ED62F366033}"/>
              </a:ext>
            </a:extLst>
          </p:cNvPr>
          <p:cNvSpPr txBox="1"/>
          <p:nvPr/>
        </p:nvSpPr>
        <p:spPr>
          <a:xfrm>
            <a:off x="8781534" y="4010016"/>
            <a:ext cx="24713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/>
              <a:t>Two-stage mount</a:t>
            </a:r>
          </a:p>
        </p:txBody>
      </p:sp>
    </p:spTree>
    <p:extLst>
      <p:ext uri="{BB962C8B-B14F-4D97-AF65-F5344CB8AC3E}">
        <p14:creationId xmlns:p14="http://schemas.microsoft.com/office/powerpoint/2010/main" val="163899407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1FA570-D483-E043-FD13-1577E5C4B7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9C240-F0F6-2D97-EFC1-0593F84F0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Shock response spectrum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92019D-D6B7-6F94-A058-0EA1F0C0C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Transient response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267F0B-6816-6ED8-6AD1-3661E21ED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30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DDC72C7-0D6C-4446-7456-DB6833AD65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9800" y="2591467"/>
            <a:ext cx="5334000" cy="40005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70996D3-E580-031E-71D6-6075B8B928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491" y="2591467"/>
            <a:ext cx="5334000" cy="4000500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DE17541-E2E2-98CB-C41A-72E1CFA28C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9721136"/>
              </p:ext>
            </p:extLst>
          </p:nvPr>
        </p:nvGraphicFramePr>
        <p:xfrm>
          <a:off x="8341497" y="355686"/>
          <a:ext cx="32512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4158481472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1211412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Natural freq.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Damping ratio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02578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2494295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A1A66597-817A-7EAD-0E77-C523E5B208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2505223"/>
              </p:ext>
            </p:extLst>
          </p:nvPr>
        </p:nvGraphicFramePr>
        <p:xfrm>
          <a:off x="8356600" y="1478947"/>
          <a:ext cx="3251200" cy="11125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4158481472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1211412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Natural freq.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Damping ratio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02578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24942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1199588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61666CC7-C8D5-6F38-1477-CE9491112614}"/>
              </a:ext>
            </a:extLst>
          </p:cNvPr>
          <p:cNvSpPr txBox="1"/>
          <p:nvPr/>
        </p:nvSpPr>
        <p:spPr>
          <a:xfrm>
            <a:off x="9020432" y="-48141"/>
            <a:ext cx="24713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/>
              <a:t>Single-stage mount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B217D85-2C19-FEB2-0735-0E5BA59A7CA2}"/>
              </a:ext>
            </a:extLst>
          </p:cNvPr>
          <p:cNvSpPr txBox="1"/>
          <p:nvPr/>
        </p:nvSpPr>
        <p:spPr>
          <a:xfrm>
            <a:off x="8998466" y="1132243"/>
            <a:ext cx="24713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/>
              <a:t>Two-stage mount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C34F442-F8B8-80DC-6FC7-38C53CC86F40}"/>
              </a:ext>
            </a:extLst>
          </p:cNvPr>
          <p:cNvSpPr/>
          <p:nvPr/>
        </p:nvSpPr>
        <p:spPr>
          <a:xfrm>
            <a:off x="2421924" y="5365121"/>
            <a:ext cx="197708" cy="20365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5F0BC9B-F8A4-5319-D3EA-04F6B02E4D01}"/>
              </a:ext>
            </a:extLst>
          </p:cNvPr>
          <p:cNvSpPr/>
          <p:nvPr/>
        </p:nvSpPr>
        <p:spPr>
          <a:xfrm>
            <a:off x="7850659" y="5405642"/>
            <a:ext cx="197708" cy="20365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8B20808-4F29-2933-59C7-7FC5714DF7D2}"/>
              </a:ext>
            </a:extLst>
          </p:cNvPr>
          <p:cNvSpPr/>
          <p:nvPr/>
        </p:nvSpPr>
        <p:spPr>
          <a:xfrm>
            <a:off x="1970216" y="5273150"/>
            <a:ext cx="197708" cy="203657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AAAED95-BB3D-86A1-C635-4FCBFB4EF9AF}"/>
              </a:ext>
            </a:extLst>
          </p:cNvPr>
          <p:cNvSpPr/>
          <p:nvPr/>
        </p:nvSpPr>
        <p:spPr>
          <a:xfrm>
            <a:off x="2873632" y="5305433"/>
            <a:ext cx="197708" cy="203657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A11C77CB-5202-B175-46F6-97BF77AB6A31}"/>
              </a:ext>
            </a:extLst>
          </p:cNvPr>
          <p:cNvSpPr/>
          <p:nvPr/>
        </p:nvSpPr>
        <p:spPr>
          <a:xfrm>
            <a:off x="7398951" y="5596433"/>
            <a:ext cx="197708" cy="203657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6A69DE2-D72E-BBE3-E8D8-8EDE927639E4}"/>
              </a:ext>
            </a:extLst>
          </p:cNvPr>
          <p:cNvSpPr/>
          <p:nvPr/>
        </p:nvSpPr>
        <p:spPr>
          <a:xfrm>
            <a:off x="8257746" y="5614579"/>
            <a:ext cx="197708" cy="203657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0889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21592</TotalTime>
  <Words>915</Words>
  <Application>Microsoft Office PowerPoint</Application>
  <PresentationFormat>Widescreen</PresentationFormat>
  <Paragraphs>227</Paragraphs>
  <Slides>30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6" baseType="lpstr">
      <vt:lpstr>Arial</vt:lpstr>
      <vt:lpstr>Atkinson Hyperlegible</vt:lpstr>
      <vt:lpstr>Calibri</vt:lpstr>
      <vt:lpstr>Cambria Math</vt:lpstr>
      <vt:lpstr>Consolas</vt:lpstr>
      <vt:lpstr>Office Theme</vt:lpstr>
      <vt:lpstr>Vibration isolation</vt:lpstr>
      <vt:lpstr>Transient response</vt:lpstr>
      <vt:lpstr>Transient response</vt:lpstr>
      <vt:lpstr>Impulse</vt:lpstr>
      <vt:lpstr>Impulse</vt:lpstr>
      <vt:lpstr>Impulse</vt:lpstr>
      <vt:lpstr>Impulse response function</vt:lpstr>
      <vt:lpstr>Impulse response function</vt:lpstr>
      <vt:lpstr>Impulse response function</vt:lpstr>
      <vt:lpstr>Impulse response function</vt:lpstr>
      <vt:lpstr>Impulse response function</vt:lpstr>
      <vt:lpstr>Duhamel’s integral</vt:lpstr>
      <vt:lpstr>Duhamel’s integral</vt:lpstr>
      <vt:lpstr>Impulse response function</vt:lpstr>
      <vt:lpstr>Duhamel’s integral in MATLAB</vt:lpstr>
      <vt:lpstr>Duhamel’s integral</vt:lpstr>
      <vt:lpstr>Duhamel’s integral</vt:lpstr>
      <vt:lpstr>PowerPoint Presentation</vt:lpstr>
      <vt:lpstr>Arbitrary forced response via Fourier transforms</vt:lpstr>
      <vt:lpstr>Arbitrary forced response</vt:lpstr>
      <vt:lpstr>Shock</vt:lpstr>
      <vt:lpstr>Shock testing</vt:lpstr>
      <vt:lpstr>Shock response spectrum</vt:lpstr>
      <vt:lpstr>Shock response spectrum</vt:lpstr>
      <vt:lpstr>Shock response spectrum</vt:lpstr>
      <vt:lpstr>Shock response spectrum</vt:lpstr>
      <vt:lpstr>Shock response spectrum</vt:lpstr>
      <vt:lpstr>Shock response spectrum</vt:lpstr>
      <vt:lpstr>Shock response spectrum</vt:lpstr>
      <vt:lpstr>Shock response spectrum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Tyler Dare</dc:creator>
  <cp:lastModifiedBy>Tyler Dare</cp:lastModifiedBy>
  <cp:revision>142</cp:revision>
  <dcterms:created xsi:type="dcterms:W3CDTF">2025-01-05T23:36:15Z</dcterms:created>
  <dcterms:modified xsi:type="dcterms:W3CDTF">2025-03-08T19:14:01Z</dcterms:modified>
</cp:coreProperties>
</file>